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Lst>
  <p:notesMasterIdLst>
    <p:notesMasterId r:id="rId8"/>
  </p:notesMasterIdLst>
  <p:sldIdLst>
    <p:sldId id="256" r:id="rId7"/>
    <p:sldId id="257" r:id="rId9"/>
    <p:sldId id="258" r:id="rId10"/>
    <p:sldId id="259" r:id="rId11"/>
    <p:sldId id="260" r:id="rId12"/>
    <p:sldId id="261" r:id="rId13"/>
    <p:sldId id="283" r:id="rId14"/>
    <p:sldId id="284" r:id="rId15"/>
    <p:sldId id="285" r:id="rId16"/>
    <p:sldId id="286" r:id="rId17"/>
    <p:sldId id="287" r:id="rId18"/>
    <p:sldId id="262" r:id="rId19"/>
    <p:sldId id="263" r:id="rId20"/>
    <p:sldId id="264" r:id="rId21"/>
    <p:sldId id="265" r:id="rId22"/>
    <p:sldId id="266" r:id="rId23"/>
    <p:sldId id="267" r:id="rId24"/>
    <p:sldId id="268" r:id="rId25"/>
    <p:sldId id="269" r:id="rId26"/>
    <p:sldId id="270" r:id="rId27"/>
    <p:sldId id="271" r:id="rId28"/>
    <p:sldId id="272" r:id="rId29"/>
    <p:sldId id="277" r:id="rId30"/>
    <p:sldId id="278" r:id="rId31"/>
    <p:sldId id="282" r:id="rId32"/>
    <p:sldId id="279" r:id="rId33"/>
    <p:sldId id="280" r:id="rId3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2"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2F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52"/>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将深入探讨一款在网络安全领域至关重要的工具——Nessus。本次分享将从Nessus的核心功能讲起，逐步深入到其高级应用和最佳实践，希望能帮助大家全面掌握这款强大的漏洞扫描工具，为我们的网络安全保驾护航。</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六个部分。首先，我们将一起“初识Nessus”，了解它的定义和行业地位。接着，会详细讲解它的“核心功能”。然后，我们将“深度解析扫描策略”，这是精准扫描的关键。之后，我们会学习如何“分析扫描结果”。第五部分将揭示Nessus的“架构与工作原理”。最后，我们将探讨“高级应用与实践”，帮助大家将Nessus的价值最大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现在，让我们进入第一部分：初识Nessus。在这一章，我们将回答三个基本问题：Nessus到底是什么？它在行业中处于什么地位？以及它能为我们的业务带来哪些核心价值？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Nessus的定义。它不仅仅是一个简单的扫描工具，而是一个强大的安全评估平台，通过其核心的插件系统，对网络中的各种资产进行深度安全检查。在行业中，Nessus的地位是毋庸置疑的，它是事实上的行业标准，被全球数百万安全专业人士使用。而它的核心价值，就是帮助我们主动发现并管理风险，在攻击发生前就将漏洞修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为什么在众多工具中，Nessus能脱颖而出呢？主要有四大优势。首先，它是市场的绝对领导者，拥有最广泛的用户基础。其次，它拥有业界最强大的插件库，这意味着它能检测到最新、最全的漏洞。第三，其技术成熟度非常高，经过近三十年的迭代，扫描的准确性和效率都非常出色。最后，它的覆盖范围全面，部署方式灵活，能够适应各种复杂的IT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具体来说，Nessus的核心价值体现在四个方面。第一，它能帮助我们主动发现和管理风险，将风险可视化并进行优先级排序。第二，它极大地简化了合规性审计工作，内置的策略和报告模板能节省大量人力。第三，它能作为安全基线核查工具，帮助我们加固系统配置。最后，它不仅仅是一个工具，更是一个知识库，能有效提升团队的安全技能和应急响应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知其然，更要知其所以然。在第五部分，我们将深入Nessus的内部，了解它的架构和工作原理。这有助于我们更高效地使用它，并在出现问题时进行排查。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ssus采用的是经典的客户端/服务器架构。简单来说，扫描引擎（Server）负责繁重的扫描工作，而用户界面（Client）负责发送指令和展示结果。这种分离的架构带来了很多好处，比如可以在一台高性能服务器上运行扫描引擎，而安全管理员可以在任何地方通过浏览器访问它。同时，两者之间的通信是加密的，保证了数据安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一次完整的扫描是如何进行的呢？它分为四个阶段。第一阶段是目标发现，找出网络中哪些主机是活的，开放了哪些端口。第二阶段是服务识别，确定这些开放端口上运行的是什么服务和版本。第三阶段是漏洞检测，根据识别出的服务，调用相应的插件进行漏洞验证。最后，第四阶段是结果生成，将所有发现的漏洞整理成报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ssus强大能力的根源在于它的插件系统。每个插件就像一个专门的检测专家，负责检测一种特定的漏洞。插件内部包含了检测逻辑，比如通过发送特定的数据包并分析回应来判断是否存在漏洞。当插件发现匹配的漏洞特征时，就会触发告警，并将详细信息上报给扫描引擎。正是这成千上万的插件，构成了Nessus强大的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ssus强大能力的根源在于它的插件系统。每个插件就像一个专门的检测专家，负责检测一种特定的漏洞。插件内部包含了检测逻辑，比如通过发送特定的数据包并分析回应来判断是否存在漏洞。当插件发现匹配的漏洞特征时，就会触发告警，并将详细信息上报给扫描引擎。正是这成千上万的插件，构成了Nessus强大的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了解了Nessus的基本情况后，我们进入第二部分，深入了解它的核心功能。Nessus的强大功能主要围绕三大支柱展开：策略管理、扫描任务和资产管理。掌握这三大模块，是熟练运用Nessus的基础。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三大支柱分别是策略管理、扫描任务和资产管理。策略管理就像是扫描的“导航图”，决定了我们要去哪里、看什么。扫描任务则是执行扫描的“引擎”，负责把导航图付诸行动。而资产管理，就是我们定义扫描“靶场”的地方，帮助我们管理成千上万的扫描目标。这三者紧密配合，构成了Nessus高效工作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先来看策略管理。一个扫描策略主要由三部分构成：插件选择、扫描设置和认证选项。插件选择决定了我们要检测哪些类型的漏洞。扫描设置则控制扫描的范围和速度。而认证选项，如提供SSH或SMB凭证，能让Nessus进行更深入的本地检查。所有这些配置都可以在直观的图形界面中轻松完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扫描任务。创建一个扫描任务非常简单，遵循五个步骤。首先，在“Scans”模块进入任务创建界面。然后，配置你想要扫描的目标资产。第三步，选择一个合适的扫描策略。第四步，设置任务的执行时间，可以立即启动，也可以定时执行。最后，在任务运行过程中，你可以实时监控扫描进度和初步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拥有大量资产的企业来说，资产管理模块至关重要。它帮助我们系统化地管理扫描目标。我们可以将资产进行分组，比如按部门或重要性划分。也可以通过CSV文件批量导入资产，大大提高效率。在扫描时，我们可以直接选择一个资产组进行扫描，实现精准打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掌握了核心功能后，我们进入第三部分，深度解析扫描策略。选择合适的扫描策略是决定扫描效果的关键。Nessus提供了灵活的策略体系，既有开箱即用的预设策略，也支持高度定制的自定义策略。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Nessus内置了数十种预设策略，这些都是行业最佳实践的结晶。例如，“基本网络扫描”适合进行初步的网络巡检。“全面漏洞扫描”则更深入，适合对核心资产进行评估。而像“恶意软件扫描”或“PCI DSS审计”这类策略，则针对特定场景进行了优化，可以直接使用。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预设策略无法满足我们的特定需求时，就需要创建自定义策略。通常的做法是从一个类似的预设策略克隆一份，然后根据需要进行修改。我们可以精确地选择需要启用的插件，调整端口范围，配置认证信息等。配置完成后，将其保存为新策略，就可以在未来反复使用，实现高效、精准的扫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扫描完成后，我们得到的是海量的数据。如何从这些数据中提炼出有价值的信息？这就是第四部分要讲的内容：扫描结果分析。我们将学习如何解读报告，并利用筛选功能聚焦关键风险。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份典型的Nessus报告包含四个核心部分。首先是风险等级，它告诉我们漏洞的严重性。其次是CVE和插件ID，这是漏洞的“身份证”，方便我们查询更多信息。第三是漏洞描述，详细解释了漏洞是什么以及它的危害。最重要的是第四部分——修复建议，它直接告诉我们应该如何修复这个漏洞。</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面对成千上万的漏洞，我们需要高效的筛选工具。Nessus提供了强大的筛选功能。我们可以按风险等级筛选，只关注高危漏洞。也可以按插件名称或主机进行筛选，快速定位特定问题。此外，将结果切换为表格视图，能让我们更清晰地整理和分析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掌握了基础操作和原理后，我们来看看如何通过高级应用，将Nessus的价值最大化。在第六部分，我们将探讨一些最佳实践，以及如何通过持续监控和API集成，迈向专业的漏洞管理。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让扫描更高效、结果更准确，我们需要遵循一些最佳实践。首先，合理规划扫描时间，避免影响业务。其次，根据不同场景选择合适的策略，不要一概而论。第三，善用资产分组功能，实现精细化管理。最后，也是最重要的一点，一定要定期更新插件库，确保你的Nessus拥有最新的漏洞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要让扫描更高效、结果更准确，我们需要遵循一些最佳实践。首先，合理规划扫描时间，避免影响业务。其次，根据不同场景选择合适的策略，不要一概而论。第三，善用资产分组功能，实现精细化管理。最后，也是最重要的一点，一定要定期更新插件库，确保你的Nessus拥有最新的漏洞检测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代安全防御要求的是持续监控，而不是一次性评估。通过配置持续扫描任务，我们可以实现对网络安全状况的常态化管理。这不仅能帮助我们及时发现新接入的设备和新出现的漏洞，还能有效验证我们的修复工作是否到位，形成一个完整的漏洞管理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我的分享到此结束。希望通过今天的介绍，大家对Nessus有了更全面和深入的理解。Nessus是一个功能强大的工具，但真正的价值在于如何将它有效地融入到我们的安全体系中。谢谢大家！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2" Type="http://schemas.openxmlformats.org/officeDocument/2006/relationships/notesSlide" Target="../notesSlides/notesSlide2.xml"/><Relationship Id="rId21" Type="http://schemas.openxmlformats.org/officeDocument/2006/relationships/slideLayout" Target="../slideLayouts/slideLayout12.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22.xml"/><Relationship Id="rId21" Type="http://schemas.openxmlformats.org/officeDocument/2006/relationships/notesSlide" Target="../notesSlides/notesSlide3.xml"/><Relationship Id="rId20" Type="http://schemas.openxmlformats.org/officeDocument/2006/relationships/slideLayout" Target="../slideLayouts/slideLayout12.xml"/><Relationship Id="rId2" Type="http://schemas.openxmlformats.org/officeDocument/2006/relationships/tags" Target="../tags/tag21.xml"/><Relationship Id="rId19" Type="http://schemas.openxmlformats.org/officeDocument/2006/relationships/tags" Target="../tags/tag32.xml"/><Relationship Id="rId18" Type="http://schemas.openxmlformats.org/officeDocument/2006/relationships/tags" Target="../tags/tag31.xml"/><Relationship Id="rId17" Type="http://schemas.openxmlformats.org/officeDocument/2006/relationships/image" Target="../media/image8.svg"/><Relationship Id="rId16" Type="http://schemas.openxmlformats.org/officeDocument/2006/relationships/image" Target="../media/image7.png"/><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image" Target="../media/image6.svg"/><Relationship Id="rId10" Type="http://schemas.openxmlformats.org/officeDocument/2006/relationships/image" Target="../media/image5.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tags" Target="../tags/tag3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7" Type="http://schemas.openxmlformats.org/officeDocument/2006/relationships/notesSlide" Target="../notesSlides/notesSlide6.xml"/><Relationship Id="rId16" Type="http://schemas.openxmlformats.org/officeDocument/2006/relationships/slideLayout" Target="../slideLayouts/slideLayout12.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tags" Target="../tags/tag4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3" Type="http://schemas.openxmlformats.org/officeDocument/2006/relationships/notesSlide" Target="../notesSlides/notesSlide8.xml"/><Relationship Id="rId12" Type="http://schemas.openxmlformats.org/officeDocument/2006/relationships/slideLayout" Target="../slideLayouts/slideLayout14.xml"/><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tags" Target="../tags/tag60.xml"/></Relationships>
</file>

<file path=ppt/slides/_rels/slide9.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7" Type="http://schemas.openxmlformats.org/officeDocument/2006/relationships/notesSlide" Target="../notesSlides/notesSlide9.xml"/><Relationship Id="rId16" Type="http://schemas.openxmlformats.org/officeDocument/2006/relationships/slideLayout" Target="../slideLayouts/slideLayout14.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tags" Target="../tags/tag71.xml"/></Relationships>
</file>

<file path=ppt/slides/_rels/slide10.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5" Type="http://schemas.openxmlformats.org/officeDocument/2006/relationships/notesSlide" Target="../notesSlides/notesSlide10.xml"/><Relationship Id="rId14" Type="http://schemas.openxmlformats.org/officeDocument/2006/relationships/slideLayout" Target="../slideLayouts/slideLayout14.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11.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0" Type="http://schemas.openxmlformats.org/officeDocument/2006/relationships/notesSlide" Target="../notesSlides/notesSlide11.xml"/><Relationship Id="rId2" Type="http://schemas.openxmlformats.org/officeDocument/2006/relationships/tags" Target="../tags/tag100.xml"/><Relationship Id="rId19" Type="http://schemas.openxmlformats.org/officeDocument/2006/relationships/slideLayout" Target="../slideLayouts/slideLayout15.xml"/><Relationship Id="rId18" Type="http://schemas.openxmlformats.org/officeDocument/2006/relationships/tags" Target="../tags/tag116.xml"/><Relationship Id="rId17" Type="http://schemas.openxmlformats.org/officeDocument/2006/relationships/tags" Target="../tags/tag115.xml"/><Relationship Id="rId16" Type="http://schemas.openxmlformats.org/officeDocument/2006/relationships/tags" Target="../tags/tag114.xml"/><Relationship Id="rId15" Type="http://schemas.openxmlformats.org/officeDocument/2006/relationships/tags" Target="../tags/tag113.xml"/><Relationship Id="rId14" Type="http://schemas.openxmlformats.org/officeDocument/2006/relationships/tags" Target="../tags/tag112.xml"/><Relationship Id="rId13" Type="http://schemas.openxmlformats.org/officeDocument/2006/relationships/tags" Target="../tags/tag111.xml"/><Relationship Id="rId12" Type="http://schemas.openxmlformats.org/officeDocument/2006/relationships/tags" Target="../tags/tag110.xml"/><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tags" Target="../tags/tag99.xml"/></Relationships>
</file>

<file path=ppt/slides/_rels/slide12.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image" Target="../media/image10.svg"/><Relationship Id="rId4" Type="http://schemas.openxmlformats.org/officeDocument/2006/relationships/image" Target="../media/image9.png"/><Relationship Id="rId3" Type="http://schemas.openxmlformats.org/officeDocument/2006/relationships/tags" Target="../tags/tag118.xml"/><Relationship Id="rId21" Type="http://schemas.openxmlformats.org/officeDocument/2006/relationships/notesSlide" Target="../notesSlides/notesSlide12.xml"/><Relationship Id="rId20" Type="http://schemas.openxmlformats.org/officeDocument/2006/relationships/slideLayout" Target="../slideLayouts/slideLayout12.xml"/><Relationship Id="rId2" Type="http://schemas.openxmlformats.org/officeDocument/2006/relationships/tags" Target="../tags/tag117.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image" Target="../media/image14.svg"/><Relationship Id="rId16" Type="http://schemas.openxmlformats.org/officeDocument/2006/relationships/image" Target="../media/image13.png"/><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5" Type="http://schemas.openxmlformats.org/officeDocument/2006/relationships/notesSlide" Target="../notesSlides/notesSlide14.xml"/><Relationship Id="rId14" Type="http://schemas.openxmlformats.org/officeDocument/2006/relationships/slideLayout" Target="../slideLayouts/slideLayout12.xml"/><Relationship Id="rId13" Type="http://schemas.openxmlformats.org/officeDocument/2006/relationships/tags" Target="../tags/tag141.xml"/><Relationship Id="rId12" Type="http://schemas.openxmlformats.org/officeDocument/2006/relationships/tags" Target="../tags/tag140.xml"/><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tags" Target="../tags/tag1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4" Type="http://schemas.openxmlformats.org/officeDocument/2006/relationships/notesSlide" Target="../notesSlides/notesSlide16.xml"/><Relationship Id="rId13" Type="http://schemas.openxmlformats.org/officeDocument/2006/relationships/slideLayout" Target="../slideLayouts/slideLayout12.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tags" Target="../tags/tag14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2" Type="http://schemas.openxmlformats.org/officeDocument/2006/relationships/notesSlide" Target="../notesSlides/notesSlide18.xml"/><Relationship Id="rId11" Type="http://schemas.openxmlformats.org/officeDocument/2006/relationships/slideLayout" Target="../slideLayouts/slideLayout12.xml"/><Relationship Id="rId10" Type="http://schemas.openxmlformats.org/officeDocument/2006/relationships/tags" Target="../tags/tag163.xml"/><Relationship Id="rId1" Type="http://schemas.openxmlformats.org/officeDocument/2006/relationships/tags" Target="../tags/tag154.xml"/></Relationships>
</file>

<file path=ppt/slides/_rels/slide19.xml.rels><?xml version="1.0" encoding="UTF-8" standalone="yes"?>
<Relationships xmlns="http://schemas.openxmlformats.org/package/2006/relationships"><Relationship Id="rId9" Type="http://schemas.openxmlformats.org/officeDocument/2006/relationships/tags" Target="../tags/tag172.xml"/><Relationship Id="rId8" Type="http://schemas.openxmlformats.org/officeDocument/2006/relationships/tags" Target="../tags/tag171.xml"/><Relationship Id="rId7" Type="http://schemas.openxmlformats.org/officeDocument/2006/relationships/tags" Target="../tags/tag170.xml"/><Relationship Id="rId6" Type="http://schemas.openxmlformats.org/officeDocument/2006/relationships/tags" Target="../tags/tag169.xml"/><Relationship Id="rId5" Type="http://schemas.openxmlformats.org/officeDocument/2006/relationships/tags" Target="../tags/tag168.xml"/><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tags" Target="../tags/tag165.xml"/><Relationship Id="rId15" Type="http://schemas.openxmlformats.org/officeDocument/2006/relationships/notesSlide" Target="../notesSlides/notesSlide19.xml"/><Relationship Id="rId14" Type="http://schemas.openxmlformats.org/officeDocument/2006/relationships/slideLayout" Target="../slideLayouts/slideLayout12.xml"/><Relationship Id="rId13" Type="http://schemas.openxmlformats.org/officeDocument/2006/relationships/tags" Target="../tags/tag176.xml"/><Relationship Id="rId12" Type="http://schemas.openxmlformats.org/officeDocument/2006/relationships/tags" Target="../tags/tag175.xml"/><Relationship Id="rId11" Type="http://schemas.openxmlformats.org/officeDocument/2006/relationships/tags" Target="../tags/tag174.xml"/><Relationship Id="rId10" Type="http://schemas.openxmlformats.org/officeDocument/2006/relationships/tags" Target="../tags/tag173.xml"/><Relationship Id="rId1" Type="http://schemas.openxmlformats.org/officeDocument/2006/relationships/tags" Target="../tags/tag164.xml"/></Relationships>
</file>

<file path=ppt/slides/_rels/slide20.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tags" Target="../tags/tag181.xml"/><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tags" Target="../tags/tag178.xml"/><Relationship Id="rId2" Type="http://schemas.openxmlformats.org/officeDocument/2006/relationships/tags" Target="../tags/tag177.xml"/><Relationship Id="rId15" Type="http://schemas.openxmlformats.org/officeDocument/2006/relationships/notesSlide" Target="../notesSlides/notesSlide20.xml"/><Relationship Id="rId14" Type="http://schemas.openxmlformats.org/officeDocument/2006/relationships/slideLayout" Target="../slideLayouts/slideLayout12.xml"/><Relationship Id="rId13" Type="http://schemas.openxmlformats.org/officeDocument/2006/relationships/tags" Target="../tags/tag184.xml"/><Relationship Id="rId12" Type="http://schemas.openxmlformats.org/officeDocument/2006/relationships/tags" Target="../tags/tag183.xml"/><Relationship Id="rId11" Type="http://schemas.openxmlformats.org/officeDocument/2006/relationships/image" Target="../media/image18.svg"/><Relationship Id="rId10" Type="http://schemas.openxmlformats.org/officeDocument/2006/relationships/image" Target="../media/image17.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9" Type="http://schemas.openxmlformats.org/officeDocument/2006/relationships/tags" Target="../tags/tag193.xml"/><Relationship Id="rId8" Type="http://schemas.openxmlformats.org/officeDocument/2006/relationships/tags" Target="../tags/tag192.xml"/><Relationship Id="rId7" Type="http://schemas.openxmlformats.org/officeDocument/2006/relationships/tags" Target="../tags/tag191.xml"/><Relationship Id="rId6" Type="http://schemas.openxmlformats.org/officeDocument/2006/relationships/tags" Target="../tags/tag190.xml"/><Relationship Id="rId5" Type="http://schemas.openxmlformats.org/officeDocument/2006/relationships/tags" Target="../tags/tag189.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8" Type="http://schemas.openxmlformats.org/officeDocument/2006/relationships/notesSlide" Target="../notesSlides/notesSlide21.xml"/><Relationship Id="rId17" Type="http://schemas.openxmlformats.org/officeDocument/2006/relationships/slideLayout" Target="../slideLayouts/slideLayout12.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tags" Target="../tags/tag196.xml"/><Relationship Id="rId11" Type="http://schemas.openxmlformats.org/officeDocument/2006/relationships/tags" Target="../tags/tag195.xml"/><Relationship Id="rId10" Type="http://schemas.openxmlformats.org/officeDocument/2006/relationships/tags" Target="../tags/tag194.xml"/><Relationship Id="rId1" Type="http://schemas.openxmlformats.org/officeDocument/2006/relationships/tags" Target="../tags/tag185.xml"/></Relationships>
</file>

<file path=ppt/slides/_rels/slide22.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2" Type="http://schemas.openxmlformats.org/officeDocument/2006/relationships/notesSlide" Target="../notesSlides/notesSlide22.xml"/><Relationship Id="rId21" Type="http://schemas.openxmlformats.org/officeDocument/2006/relationships/slideLayout" Target="../slideLayouts/slideLayout12.xml"/><Relationship Id="rId20" Type="http://schemas.openxmlformats.org/officeDocument/2006/relationships/tags" Target="../tags/tag220.xml"/><Relationship Id="rId2" Type="http://schemas.openxmlformats.org/officeDocument/2006/relationships/tags" Target="../tags/tag202.xml"/><Relationship Id="rId19" Type="http://schemas.openxmlformats.org/officeDocument/2006/relationships/tags" Target="../tags/tag219.xml"/><Relationship Id="rId18" Type="http://schemas.openxmlformats.org/officeDocument/2006/relationships/tags" Target="../tags/tag218.xml"/><Relationship Id="rId17" Type="http://schemas.openxmlformats.org/officeDocument/2006/relationships/tags" Target="../tags/tag217.xml"/><Relationship Id="rId16" Type="http://schemas.openxmlformats.org/officeDocument/2006/relationships/tags" Target="../tags/tag216.xml"/><Relationship Id="rId15" Type="http://schemas.openxmlformats.org/officeDocument/2006/relationships/tags" Target="../tags/tag215.xml"/><Relationship Id="rId14" Type="http://schemas.openxmlformats.org/officeDocument/2006/relationships/tags" Target="../tags/tag214.xml"/><Relationship Id="rId13" Type="http://schemas.openxmlformats.org/officeDocument/2006/relationships/tags" Target="../tags/tag213.xml"/><Relationship Id="rId12" Type="http://schemas.openxmlformats.org/officeDocument/2006/relationships/tags" Target="../tags/tag212.xml"/><Relationship Id="rId11" Type="http://schemas.openxmlformats.org/officeDocument/2006/relationships/tags" Target="../tags/tag211.xml"/><Relationship Id="rId10" Type="http://schemas.openxmlformats.org/officeDocument/2006/relationships/tags" Target="../tags/tag210.xml"/><Relationship Id="rId1" Type="http://schemas.openxmlformats.org/officeDocument/2006/relationships/tags" Target="../tags/tag20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9" Type="http://schemas.openxmlformats.org/officeDocument/2006/relationships/tags" Target="../tags/tag229.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tags" Target="../tags/tag224.xml"/><Relationship Id="rId3" Type="http://schemas.openxmlformats.org/officeDocument/2006/relationships/tags" Target="../tags/tag223.xml"/><Relationship Id="rId2" Type="http://schemas.openxmlformats.org/officeDocument/2006/relationships/tags" Target="../tags/tag222.xml"/><Relationship Id="rId14" Type="http://schemas.openxmlformats.org/officeDocument/2006/relationships/notesSlide" Target="../notesSlides/notesSlide25.xml"/><Relationship Id="rId13" Type="http://schemas.openxmlformats.org/officeDocument/2006/relationships/slideLayout" Target="../slideLayouts/slideLayout13.xml"/><Relationship Id="rId12" Type="http://schemas.openxmlformats.org/officeDocument/2006/relationships/tags" Target="../tags/tag232.xml"/><Relationship Id="rId11" Type="http://schemas.openxmlformats.org/officeDocument/2006/relationships/tags" Target="../tags/tag231.xml"/><Relationship Id="rId10" Type="http://schemas.openxmlformats.org/officeDocument/2006/relationships/tags" Target="../tags/tag230.xml"/><Relationship Id="rId1" Type="http://schemas.openxmlformats.org/officeDocument/2006/relationships/tags" Target="../tags/tag22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22000">
              <a:srgbClr val="0A3E67">
                <a:alpha val="100000"/>
              </a:srgbClr>
            </a:gs>
            <a:gs pos="100000">
              <a:srgbClr val="2693EA">
                <a:alpha val="100000"/>
              </a:srgbClr>
            </a:gs>
          </a:gsLst>
          <a:lin ang="13500000"/>
        </a:gradFill>
        <a:effectLst/>
      </p:bgPr>
    </p:bg>
    <p:spTree>
      <p:nvGrpSpPr>
        <p:cNvPr id="1" name=""/>
        <p:cNvGrpSpPr/>
        <p:nvPr/>
      </p:nvGrpSpPr>
      <p:grpSpPr>
        <a:xfrm>
          <a:off x="0" y="0"/>
          <a:ext cx="0" cy="0"/>
          <a:chOff x="0" y="0"/>
          <a:chExt cx="0" cy="0"/>
        </a:xfrm>
      </p:grpSpPr>
      <p:sp>
        <p:nvSpPr>
          <p:cNvPr id="2" name="Freeform 2"/>
          <p:cNvSpPr/>
          <p:nvPr/>
        </p:nvSpPr>
        <p:spPr>
          <a:xfrm>
            <a:off x="0" y="0"/>
            <a:ext cx="4206516" cy="4296961"/>
          </a:xfrm>
          <a:custGeom>
            <a:avLst/>
            <a:gdLst/>
            <a:ahLst/>
            <a:cxnLst/>
            <a:rect l="l" t="t" r="r" b="b"/>
            <a:pathLst>
              <a:path w="4206516" h="4296961">
                <a:moveTo>
                  <a:pt x="0" y="4296961"/>
                </a:moveTo>
                <a:lnTo>
                  <a:pt x="0" y="0"/>
                </a:lnTo>
                <a:lnTo>
                  <a:pt x="4206516" y="0"/>
                </a:lnTo>
                <a:lnTo>
                  <a:pt x="0" y="4296961"/>
                </a:lnTo>
                <a:close/>
              </a:path>
            </a:pathLst>
          </a:custGeom>
          <a:gradFill rotWithShape="0">
            <a:gsLst>
              <a:gs pos="0">
                <a:srgbClr val="0A3E67">
                  <a:alpha val="100000"/>
                </a:srgbClr>
              </a:gs>
              <a:gs pos="31000">
                <a:srgbClr val="2693EA">
                  <a:alpha val="100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533400" y="0"/>
            <a:ext cx="9742308" cy="6857999"/>
          </a:xfrm>
          <a:custGeom>
            <a:avLst/>
            <a:gdLst/>
            <a:ahLst/>
            <a:cxnLst/>
            <a:rect l="l" t="t" r="r" b="b"/>
            <a:pathLst>
              <a:path w="9742308" h="6857999">
                <a:moveTo>
                  <a:pt x="3053131" y="6857999"/>
                </a:moveTo>
                <a:lnTo>
                  <a:pt x="0" y="6857999"/>
                </a:lnTo>
                <a:lnTo>
                  <a:pt x="0" y="4300186"/>
                </a:lnTo>
                <a:lnTo>
                  <a:pt x="4209404" y="0"/>
                </a:lnTo>
                <a:lnTo>
                  <a:pt x="9742308" y="0"/>
                </a:lnTo>
                <a:lnTo>
                  <a:pt x="3053131" y="6857999"/>
                </a:lnTo>
                <a:close/>
              </a:path>
            </a:pathLst>
          </a:custGeom>
          <a:gradFill rotWithShape="0">
            <a:gsLst>
              <a:gs pos="0">
                <a:srgbClr val="6EB7F1">
                  <a:alpha val="100000"/>
                </a:srgbClr>
              </a:gs>
              <a:gs pos="100000">
                <a:srgbClr val="6EB7F1">
                  <a:alpha val="0"/>
                </a:srgbClr>
              </a:gs>
            </a:gsLst>
            <a:lin ang="13500000"/>
          </a:gra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2" b="22"/>
          <a:stretch>
            <a:fillRect/>
          </a:stretch>
        </p:blipFill>
        <p:spPr>
          <a:xfrm>
            <a:off x="0" y="0"/>
            <a:ext cx="9740900" cy="6858000"/>
          </a:xfrm>
          <a:prstGeom prst="rect">
            <a:avLst/>
          </a:prstGeom>
          <a:noFill/>
          <a:ln w="25400" cap="flat" cmpd="sng">
            <a:noFill/>
            <a:prstDash val="solid"/>
            <a:round/>
          </a:ln>
        </p:spPr>
      </p:pic>
      <p:sp>
        <p:nvSpPr>
          <p:cNvPr id="5" name="Freeform 5"/>
          <p:cNvSpPr/>
          <p:nvPr/>
        </p:nvSpPr>
        <p:spPr>
          <a:xfrm>
            <a:off x="5207000" y="0"/>
            <a:ext cx="4539692" cy="3743852"/>
          </a:xfrm>
          <a:custGeom>
            <a:avLst/>
            <a:gdLst/>
            <a:ahLst/>
            <a:cxnLst/>
            <a:rect l="l" t="t" r="r" b="b"/>
            <a:pathLst>
              <a:path w="4539692" h="3743852">
                <a:moveTo>
                  <a:pt x="4539692" y="0"/>
                </a:moveTo>
                <a:lnTo>
                  <a:pt x="2760665" y="0"/>
                </a:lnTo>
                <a:lnTo>
                  <a:pt x="888740" y="1916828"/>
                </a:lnTo>
                <a:lnTo>
                  <a:pt x="888740" y="1916828"/>
                </a:lnTo>
                <a:lnTo>
                  <a:pt x="0" y="2830340"/>
                </a:lnTo>
                <a:lnTo>
                  <a:pt x="885642" y="3743852"/>
                </a:lnTo>
                <a:lnTo>
                  <a:pt x="4539692" y="0"/>
                </a:lnTo>
                <a:close/>
              </a:path>
            </a:pathLst>
          </a:custGeom>
          <a:gradFill rotWithShape="0">
            <a:gsLst>
              <a:gs pos="0">
                <a:srgbClr val="2693EA">
                  <a:alpha val="10000"/>
                </a:srgbClr>
              </a:gs>
              <a:gs pos="100000">
                <a:srgbClr val="0A3E67">
                  <a:alpha val="100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451100" y="3048"/>
            <a:ext cx="3641663" cy="2830340"/>
          </a:xfrm>
          <a:custGeom>
            <a:avLst/>
            <a:gdLst/>
            <a:ahLst/>
            <a:cxnLst/>
            <a:rect l="l" t="t" r="r" b="b"/>
            <a:pathLst>
              <a:path w="3641663" h="2830340">
                <a:moveTo>
                  <a:pt x="1779026" y="0"/>
                </a:moveTo>
                <a:lnTo>
                  <a:pt x="0" y="0"/>
                </a:lnTo>
                <a:lnTo>
                  <a:pt x="2752924" y="2830340"/>
                </a:lnTo>
                <a:lnTo>
                  <a:pt x="2752924" y="2830340"/>
                </a:lnTo>
                <a:lnTo>
                  <a:pt x="2749827" y="2830340"/>
                </a:lnTo>
                <a:lnTo>
                  <a:pt x="3641663" y="1916828"/>
                </a:lnTo>
                <a:lnTo>
                  <a:pt x="1779026" y="0"/>
                </a:lnTo>
                <a:close/>
              </a:path>
            </a:pathLst>
          </a:custGeom>
          <a:gradFill rotWithShape="0">
            <a:gsLst>
              <a:gs pos="0">
                <a:srgbClr val="2693EA">
                  <a:alpha val="0"/>
                </a:srgbClr>
              </a:gs>
              <a:gs pos="100000">
                <a:srgbClr val="0A3E67">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25400"/>
            <a:ext cx="9706244" cy="6832611"/>
          </a:xfrm>
          <a:custGeom>
            <a:avLst/>
            <a:gdLst/>
            <a:ahLst/>
            <a:cxnLst/>
            <a:rect l="l" t="t" r="r" b="b"/>
            <a:pathLst>
              <a:path w="9706244" h="6832611">
                <a:moveTo>
                  <a:pt x="3041829" y="6832611"/>
                </a:moveTo>
                <a:lnTo>
                  <a:pt x="0" y="6832611"/>
                </a:lnTo>
                <a:lnTo>
                  <a:pt x="0" y="4284266"/>
                </a:lnTo>
                <a:lnTo>
                  <a:pt x="4193821" y="0"/>
                </a:lnTo>
                <a:lnTo>
                  <a:pt x="9706244" y="0"/>
                </a:lnTo>
                <a:lnTo>
                  <a:pt x="3041829" y="683261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0" y="0"/>
            <a:ext cx="4206516" cy="4296961"/>
          </a:xfrm>
          <a:custGeom>
            <a:avLst/>
            <a:gdLst/>
            <a:ahLst/>
            <a:cxnLst/>
            <a:rect l="l" t="t" r="r" b="b"/>
            <a:pathLst>
              <a:path w="4206516" h="4296961">
                <a:moveTo>
                  <a:pt x="0" y="4296961"/>
                </a:moveTo>
                <a:lnTo>
                  <a:pt x="0" y="0"/>
                </a:lnTo>
                <a:lnTo>
                  <a:pt x="4206516" y="0"/>
                </a:lnTo>
                <a:lnTo>
                  <a:pt x="0" y="429696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6776700" y="1092200"/>
            <a:ext cx="4654550" cy="3838575"/>
          </a:xfrm>
          <a:custGeom>
            <a:avLst/>
            <a:gdLst/>
            <a:ahLst/>
            <a:cxnLst/>
            <a:rect l="l" t="t" r="r" b="b"/>
            <a:pathLst>
              <a:path w="4654550" h="3838575">
                <a:moveTo>
                  <a:pt x="4654550" y="0"/>
                </a:moveTo>
                <a:lnTo>
                  <a:pt x="2830512" y="0"/>
                </a:lnTo>
                <a:lnTo>
                  <a:pt x="911225" y="1965325"/>
                </a:lnTo>
                <a:lnTo>
                  <a:pt x="911225" y="1965325"/>
                </a:lnTo>
                <a:lnTo>
                  <a:pt x="0" y="2901950"/>
                </a:lnTo>
                <a:lnTo>
                  <a:pt x="908050" y="3838575"/>
                </a:lnTo>
                <a:lnTo>
                  <a:pt x="4654550" y="0"/>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5511800" y="1719580"/>
            <a:ext cx="6464300" cy="16383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4900" b="1" i="0" u="none" strike="noStrike">
                <a:solidFill>
                  <a:srgbClr val="FFFFFF"/>
                </a:solidFill>
                <a:latin typeface="Arial" panose="020B0604020202020204"/>
                <a:ea typeface="Arial" panose="020B0604020202020204"/>
                <a:cs typeface="Arial" panose="020B0604020202020204"/>
                <a:sym typeface="Arial" panose="020B0604020202020204"/>
              </a:rPr>
              <a:t>Nessus漏洞扫描工具</a:t>
            </a:r>
            <a:endParaRPr lang="en-US" sz="1100"/>
          </a:p>
        </p:txBody>
      </p:sp>
      <p:sp>
        <p:nvSpPr>
          <p:cNvPr id="11" name="AutoShape 11"/>
          <p:cNvSpPr/>
          <p:nvPr/>
        </p:nvSpPr>
        <p:spPr>
          <a:xfrm>
            <a:off x="6057900" y="2667000"/>
            <a:ext cx="5918200" cy="7620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endParaRPr lang="en-US" sz="1100"/>
          </a:p>
        </p:txBody>
      </p:sp>
      <p:sp>
        <p:nvSpPr>
          <p:cNvPr id="12" name="AutoShape 12"/>
          <p:cNvSpPr/>
          <p:nvPr/>
        </p:nvSpPr>
        <p:spPr>
          <a:xfrm>
            <a:off x="7099300" y="3937000"/>
            <a:ext cx="4737100" cy="10160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8000"/>
              </a:lnSpc>
              <a:defRPr/>
            </a:pPr>
            <a:r>
              <a:rPr lang="en-US" sz="2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汇报人：李韩、张欣悦</a:t>
            </a:r>
            <a:endParaRPr lang="en-US" sz="1100"/>
          </a:p>
        </p:txBody>
      </p:sp>
      <p:sp>
        <p:nvSpPr>
          <p:cNvPr id="13" name="AutoShape 13"/>
          <p:cNvSpPr/>
          <p:nvPr/>
        </p:nvSpPr>
        <p:spPr>
          <a:xfrm>
            <a:off x="6642100" y="5207000"/>
            <a:ext cx="5003800" cy="1016000"/>
          </a:xfrm>
          <a:prstGeom prst="rect">
            <a:avLst/>
          </a:prstGeom>
          <a:noFill/>
          <a:ln w="12700" cap="flat" cmpd="sng">
            <a:noFill/>
            <a:prstDash val="solid"/>
            <a:round/>
          </a:ln>
        </p:spPr>
        <p:txBody>
          <a:bodyPr vert="horz" wrap="square" lIns="88900" tIns="50800" rIns="88900" bIns="50800" rtlCol="0" anchor="ctr" anchorCtr="0"/>
          <a:lstStyle/>
          <a:p>
            <a:pPr indent="0" algn="r">
              <a:lnSpc>
                <a:spcPct val="108000"/>
              </a:lnSpc>
              <a:defRPr/>
            </a:pPr>
            <a:r>
              <a:rPr lang="en-US" sz="22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2026.5.19</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custDataLst>
              <p:tags r:id="rId1"/>
            </p:custDataLst>
          </p:nvPr>
        </p:nvSpPr>
        <p:spPr>
          <a:xfrm>
            <a:off x="0" y="3403600"/>
            <a:ext cx="12192000" cy="1079500"/>
          </a:xfrm>
          <a:prstGeom prst="roundRect">
            <a:avLst>
              <a:gd name="adj" fmla="val 0"/>
            </a:avLst>
          </a:prstGeom>
          <a:solidFill>
            <a:srgbClr val="0A3E67">
              <a:alpha val="10200"/>
            </a:srgbClr>
          </a:solidFill>
          <a:ln w="25400" cap="flat" cmpd="sng">
            <a:noFill/>
            <a:prstDash val="solid"/>
            <a:round/>
          </a:ln>
        </p:spPr>
        <p:txBody>
          <a:bodyPr vert="horz" wrap="square" lIns="63500" tIns="63500" rIns="63500" bIns="63500" rtlCol="0" anchor="ctr"/>
          <a:lstStyle/>
          <a:p>
            <a:pPr algn="ctr">
              <a:defRPr/>
            </a:pPr>
          </a:p>
        </p:txBody>
      </p:sp>
      <p:cxnSp>
        <p:nvCxnSpPr>
          <p:cNvPr id="3" name="Connector 3"/>
          <p:cNvCxnSpPr/>
          <p:nvPr>
            <p:custDataLst>
              <p:tags r:id="rId2"/>
            </p:custDataLst>
          </p:nvPr>
        </p:nvCxnSpPr>
        <p:spPr>
          <a:xfrm>
            <a:off x="660400" y="3949700"/>
            <a:ext cx="10858507" cy="12700"/>
          </a:xfrm>
          <a:prstGeom prst="straightConnector1">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4" name="AutoShape 4"/>
          <p:cNvSpPr/>
          <p:nvPr>
            <p:custDataLst>
              <p:tags r:id="rId3"/>
            </p:custDataLst>
          </p:nvPr>
        </p:nvSpPr>
        <p:spPr>
          <a:xfrm>
            <a:off x="1409700" y="3644900"/>
            <a:ext cx="584200" cy="584200"/>
          </a:xfrm>
          <a:prstGeom prst="rect">
            <a:avLst/>
          </a:prstGeom>
          <a:gradFill rotWithShape="0">
            <a:gsLst>
              <a:gs pos="0">
                <a:srgbClr val="2693EA">
                  <a:alpha val="100000"/>
                </a:srgbClr>
              </a:gs>
              <a:gs pos="75000">
                <a:srgbClr val="0A3E67">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5" name="AutoShape 5"/>
          <p:cNvSpPr/>
          <p:nvPr>
            <p:custDataLst>
              <p:tags r:id="rId4"/>
            </p:custDataLst>
          </p:nvPr>
        </p:nvSpPr>
        <p:spPr>
          <a:xfrm>
            <a:off x="673100" y="4702810"/>
            <a:ext cx="2108200" cy="711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初识Nessus</a:t>
            </a:r>
            <a:endPar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 name="Connector 6"/>
          <p:cNvCxnSpPr/>
          <p:nvPr>
            <p:custDataLst>
              <p:tags r:id="rId5"/>
            </p:custDataLst>
          </p:nvPr>
        </p:nvCxnSpPr>
        <p:spPr>
          <a:xfrm rot="5170965">
            <a:off x="1530248" y="4426056"/>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7" name="AutoShape 7"/>
          <p:cNvSpPr/>
          <p:nvPr>
            <p:custDataLst>
              <p:tags r:id="rId6"/>
            </p:custDataLst>
          </p:nvPr>
        </p:nvSpPr>
        <p:spPr>
          <a:xfrm>
            <a:off x="3086100" y="3644900"/>
            <a:ext cx="584200" cy="584200"/>
          </a:xfrm>
          <a:prstGeom prst="rect">
            <a:avLst/>
          </a:prstGeom>
          <a:gradFill rotWithShape="0">
            <a:gsLst>
              <a:gs pos="0">
                <a:srgbClr val="74BEEC">
                  <a:alpha val="100000"/>
                </a:srgbClr>
              </a:gs>
              <a:gs pos="75000">
                <a:srgbClr val="1E91D9">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8" name="AutoShape 8"/>
          <p:cNvSpPr/>
          <p:nvPr>
            <p:custDataLst>
              <p:tags r:id="rId7"/>
            </p:custDataLst>
          </p:nvPr>
        </p:nvSpPr>
        <p:spPr>
          <a:xfrm>
            <a:off x="1502410" y="2459990"/>
            <a:ext cx="3552190" cy="7112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 架构与工作原理</a:t>
            </a:r>
            <a:endPar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9" name="Connector 9"/>
          <p:cNvCxnSpPr/>
          <p:nvPr>
            <p:custDataLst>
              <p:tags r:id="rId8"/>
            </p:custDataLst>
          </p:nvPr>
        </p:nvCxnSpPr>
        <p:spPr>
          <a:xfrm rot="-5399936">
            <a:off x="3193948" y="3447944"/>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10" name="AutoShape 10"/>
          <p:cNvSpPr/>
          <p:nvPr/>
        </p:nvSpPr>
        <p:spPr>
          <a:xfrm>
            <a:off x="673100" y="1130300"/>
            <a:ext cx="10858500" cy="10033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4762500" y="3644900"/>
            <a:ext cx="584200" cy="584200"/>
          </a:xfrm>
          <a:prstGeom prst="rect">
            <a:avLst/>
          </a:prstGeom>
          <a:gradFill rotWithShape="0">
            <a:gsLst>
              <a:gs pos="0">
                <a:srgbClr val="2693EA">
                  <a:alpha val="100000"/>
                </a:srgbClr>
              </a:gs>
              <a:gs pos="75000">
                <a:srgbClr val="0A3E67">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2" name="AutoShape 12"/>
          <p:cNvSpPr/>
          <p:nvPr>
            <p:custDataLst>
              <p:tags r:id="rId10"/>
            </p:custDataLst>
          </p:nvPr>
        </p:nvSpPr>
        <p:spPr>
          <a:xfrm>
            <a:off x="3737610" y="4715510"/>
            <a:ext cx="2633980" cy="711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核心功能</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详解</a:t>
            </a:r>
            <a:endPar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3" name="Connector 13"/>
          <p:cNvCxnSpPr/>
          <p:nvPr>
            <p:custDataLst>
              <p:tags r:id="rId11"/>
            </p:custDataLst>
          </p:nvPr>
        </p:nvCxnSpPr>
        <p:spPr>
          <a:xfrm rot="5170965">
            <a:off x="4844948" y="4426056"/>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14" name="AutoShape 14"/>
          <p:cNvSpPr/>
          <p:nvPr>
            <p:custDataLst>
              <p:tags r:id="rId12"/>
            </p:custDataLst>
          </p:nvPr>
        </p:nvSpPr>
        <p:spPr>
          <a:xfrm>
            <a:off x="6438900" y="3644900"/>
            <a:ext cx="584200" cy="584200"/>
          </a:xfrm>
          <a:prstGeom prst="rect">
            <a:avLst/>
          </a:prstGeom>
          <a:gradFill rotWithShape="0">
            <a:gsLst>
              <a:gs pos="0">
                <a:srgbClr val="74BEEC">
                  <a:alpha val="100000"/>
                </a:srgbClr>
              </a:gs>
              <a:gs pos="75000">
                <a:srgbClr val="1E91D9">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15" name="AutoShape 15"/>
          <p:cNvSpPr/>
          <p:nvPr>
            <p:custDataLst>
              <p:tags r:id="rId13"/>
            </p:custDataLst>
          </p:nvPr>
        </p:nvSpPr>
        <p:spPr>
          <a:xfrm>
            <a:off x="5442585" y="2451100"/>
            <a:ext cx="2672715" cy="711200"/>
          </a:xfrm>
          <a:prstGeom prst="rect">
            <a:avLst/>
          </a:prstGeom>
          <a:noFill/>
          <a:ln w="12700" cap="flat" cmpd="sng">
            <a:noFill/>
            <a:prstDash val="solid"/>
            <a:round/>
          </a:ln>
        </p:spPr>
        <p:txBody>
          <a:bodyPr vert="horz" wrap="square" lIns="88900" tIns="50800" rIns="88900" bIns="50800" rtlCol="0" anchor="b" anchorCtr="0"/>
          <a:lstStyle/>
          <a:p>
            <a:pPr indent="0" algn="ctr">
              <a:lnSpc>
                <a:spcPct val="100000"/>
              </a:lnSpc>
              <a:defRPr/>
            </a:pPr>
            <a:r>
              <a:rPr lang="en-US" sz="2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扫描策略深度解析</a:t>
            </a:r>
            <a:endPar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6" name="Connector 16"/>
          <p:cNvCxnSpPr/>
          <p:nvPr>
            <p:custDataLst>
              <p:tags r:id="rId14"/>
            </p:custDataLst>
          </p:nvPr>
        </p:nvCxnSpPr>
        <p:spPr>
          <a:xfrm rot="-5399936">
            <a:off x="6546748" y="3447944"/>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17" name="AutoShape 17"/>
          <p:cNvSpPr/>
          <p:nvPr>
            <p:custDataLst>
              <p:tags r:id="rId15"/>
            </p:custDataLst>
          </p:nvPr>
        </p:nvSpPr>
        <p:spPr>
          <a:xfrm>
            <a:off x="8115300" y="3644900"/>
            <a:ext cx="584200" cy="584200"/>
          </a:xfrm>
          <a:prstGeom prst="rect">
            <a:avLst/>
          </a:prstGeom>
          <a:gradFill rotWithShape="0">
            <a:gsLst>
              <a:gs pos="0">
                <a:srgbClr val="2693EA">
                  <a:alpha val="100000"/>
                </a:srgbClr>
              </a:gs>
              <a:gs pos="75000">
                <a:srgbClr val="0A3E67">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05</a:t>
            </a:r>
            <a:endParaRPr lang="en-US" sz="1100"/>
          </a:p>
        </p:txBody>
      </p:sp>
      <p:sp>
        <p:nvSpPr>
          <p:cNvPr id="18" name="AutoShape 18"/>
          <p:cNvSpPr/>
          <p:nvPr>
            <p:custDataLst>
              <p:tags r:id="rId16"/>
            </p:custDataLst>
          </p:nvPr>
        </p:nvSpPr>
        <p:spPr>
          <a:xfrm>
            <a:off x="7023100" y="4711700"/>
            <a:ext cx="2825115" cy="711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扫描结果</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a:t>
            </a:r>
            <a:endPar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9" name="Connector 19"/>
          <p:cNvCxnSpPr/>
          <p:nvPr>
            <p:custDataLst>
              <p:tags r:id="rId17"/>
            </p:custDataLst>
          </p:nvPr>
        </p:nvCxnSpPr>
        <p:spPr>
          <a:xfrm rot="5170965">
            <a:off x="8223148" y="4426056"/>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20" name="AutoShape 20"/>
          <p:cNvSpPr/>
          <p:nvPr>
            <p:custDataLst>
              <p:tags r:id="rId18"/>
            </p:custDataLst>
          </p:nvPr>
        </p:nvSpPr>
        <p:spPr>
          <a:xfrm>
            <a:off x="9791700" y="3644900"/>
            <a:ext cx="584200" cy="584200"/>
          </a:xfrm>
          <a:prstGeom prst="rect">
            <a:avLst/>
          </a:prstGeom>
          <a:gradFill rotWithShape="0">
            <a:gsLst>
              <a:gs pos="0">
                <a:srgbClr val="74BEEC">
                  <a:alpha val="100000"/>
                </a:srgbClr>
              </a:gs>
              <a:gs pos="75000">
                <a:srgbClr val="1E91D9">
                  <a:alpha val="100000"/>
                </a:srgbClr>
              </a:gs>
            </a:gsLst>
            <a:lin ang="2700000"/>
          </a:gradFill>
          <a:ln w="12700" cap="flat" cmpd="sng">
            <a:solidFill>
              <a:srgbClr val="2F2F2F">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06</a:t>
            </a:r>
            <a:endParaRPr lang="en-US" sz="1100"/>
          </a:p>
        </p:txBody>
      </p:sp>
      <p:sp>
        <p:nvSpPr>
          <p:cNvPr id="21" name="AutoShape 21"/>
          <p:cNvSpPr/>
          <p:nvPr>
            <p:custDataLst>
              <p:tags r:id="rId19"/>
            </p:custDataLst>
          </p:nvPr>
        </p:nvSpPr>
        <p:spPr>
          <a:xfrm>
            <a:off x="8940800" y="2413000"/>
            <a:ext cx="2286000" cy="711200"/>
          </a:xfrm>
          <a:prstGeom prst="rect">
            <a:avLst/>
          </a:prstGeom>
          <a:noFill/>
          <a:ln w="12700" cap="flat" cmpd="sng">
            <a:noFill/>
            <a:prstDash val="solid"/>
            <a:round/>
          </a:ln>
        </p:spPr>
        <p:txBody>
          <a:bodyPr vert="horz" wrap="square" lIns="88900" tIns="50800" rIns="88900" bIns="50800" rtlCol="0" anchor="b"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应用与实践</a:t>
            </a:r>
            <a:endPar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2" name="Connector 22"/>
          <p:cNvCxnSpPr/>
          <p:nvPr>
            <p:custDataLst>
              <p:tags r:id="rId20"/>
            </p:custDataLst>
          </p:nvPr>
        </p:nvCxnSpPr>
        <p:spPr>
          <a:xfrm rot="-5399936">
            <a:off x="9899548" y="3447944"/>
            <a:ext cx="381212" cy="12700"/>
          </a:xfrm>
          <a:prstGeom prst="line">
            <a:avLst/>
          </a:prstGeom>
          <a:solidFill>
            <a:srgbClr val="DEE0E3">
              <a:alpha val="100000"/>
            </a:srgbClr>
          </a:solidFill>
          <a:ln w="12700" cap="sq" cmpd="sng">
            <a:gradFill rotWithShape="0">
              <a:gsLst>
                <a:gs pos="0">
                  <a:srgbClr val="0A3E67">
                    <a:alpha val="0"/>
                  </a:srgbClr>
                </a:gs>
                <a:gs pos="100000">
                  <a:srgbClr val="0A3E67">
                    <a:alpha val="100000"/>
                  </a:srgbClr>
                </a:gs>
              </a:gsLst>
              <a:lin ang="0"/>
            </a:gradFill>
            <a:prstDash val="solid"/>
            <a:miter lim="10000000"/>
            <a:headEnd type="none" w="med" len="med"/>
            <a:tailEnd type="triangle" w="med" len="med"/>
          </a:ln>
        </p:spPr>
      </p:cxnSp>
      <p:sp>
        <p:nvSpPr>
          <p:cNvPr id="23" name="AutoShape 23"/>
          <p:cNvSpPr/>
          <p:nvPr/>
        </p:nvSpPr>
        <p:spPr>
          <a:xfrm>
            <a:off x="5156200" y="228600"/>
            <a:ext cx="1536700" cy="901700"/>
          </a:xfrm>
          <a:prstGeom prst="rect">
            <a:avLst/>
          </a:prstGeom>
          <a:noFill/>
          <a:ln w="12700" cap="flat" cmpd="sng">
            <a:noFill/>
            <a:prstDash val="solid"/>
            <a:round/>
          </a:ln>
        </p:spPr>
        <p:txBody>
          <a:bodyPr vert="horz" wrap="square" lIns="88900" tIns="50800" rIns="88900" bIns="50800" rtlCol="0" anchor="b" anchorCtr="0"/>
          <a:lstStyle/>
          <a:p>
            <a:pPr indent="0" algn="ctr">
              <a:lnSpc>
                <a:spcPct val="100000"/>
              </a:lnSpc>
              <a:defRPr/>
            </a:pPr>
            <a:r>
              <a:rPr lang="en-US" sz="4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 录</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508000" y="1210945"/>
            <a:ext cx="11176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 初识 Nessus</a:t>
            </a:r>
            <a:endParaRPr lang="en-US" sz="1100"/>
          </a:p>
        </p:txBody>
      </p:sp>
      <p:sp>
        <p:nvSpPr>
          <p:cNvPr id="5" name="AutoShape 5"/>
          <p:cNvSpPr/>
          <p:nvPr>
            <p:custDataLst>
              <p:tags r:id="rId2"/>
            </p:custDataLst>
          </p:nvPr>
        </p:nvSpPr>
        <p:spPr>
          <a:xfrm>
            <a:off x="762000" y="3571875"/>
            <a:ext cx="3302000" cy="221615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95500" y="3825875"/>
            <a:ext cx="635000" cy="635000"/>
          </a:xfrm>
          <a:prstGeom prst="rect">
            <a:avLst/>
          </a:prstGeom>
        </p:spPr>
      </p:pic>
      <p:sp>
        <p:nvSpPr>
          <p:cNvPr id="7" name="AutoShape 7"/>
          <p:cNvSpPr/>
          <p:nvPr>
            <p:custDataLst>
              <p:tags r:id="rId6"/>
            </p:custDataLst>
          </p:nvPr>
        </p:nvSpPr>
        <p:spPr>
          <a:xfrm>
            <a:off x="889000" y="4714875"/>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是什么？</a:t>
            </a:r>
            <a:endParaRPr lang="en-US" sz="1100"/>
          </a:p>
        </p:txBody>
      </p:sp>
      <p:sp>
        <p:nvSpPr>
          <p:cNvPr id="8" name="AutoShape 8"/>
          <p:cNvSpPr/>
          <p:nvPr>
            <p:custDataLst>
              <p:tags r:id="rId7"/>
            </p:custDataLst>
          </p:nvPr>
        </p:nvSpPr>
        <p:spPr>
          <a:xfrm>
            <a:off x="1016000" y="4572000"/>
            <a:ext cx="2794000" cy="1270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endParaRPr lang="en-US" sz="1100"/>
          </a:p>
        </p:txBody>
      </p:sp>
      <p:sp>
        <p:nvSpPr>
          <p:cNvPr id="9" name="AutoShape 9"/>
          <p:cNvSpPr/>
          <p:nvPr>
            <p:custDataLst>
              <p:tags r:id="rId8"/>
            </p:custDataLst>
          </p:nvPr>
        </p:nvSpPr>
        <p:spPr>
          <a:xfrm>
            <a:off x="4445000" y="3571875"/>
            <a:ext cx="3302000" cy="221615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78500" y="3825875"/>
            <a:ext cx="635000" cy="635000"/>
          </a:xfrm>
          <a:prstGeom prst="rect">
            <a:avLst/>
          </a:prstGeom>
        </p:spPr>
      </p:pic>
      <p:sp>
        <p:nvSpPr>
          <p:cNvPr id="11" name="AutoShape 11"/>
          <p:cNvSpPr/>
          <p:nvPr>
            <p:custDataLst>
              <p:tags r:id="rId12"/>
            </p:custDataLst>
          </p:nvPr>
        </p:nvSpPr>
        <p:spPr>
          <a:xfrm>
            <a:off x="4572000" y="4714875"/>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行业地位如何？</a:t>
            </a:r>
            <a:endParaRPr lang="en-US" sz="1100"/>
          </a:p>
        </p:txBody>
      </p:sp>
      <p:sp>
        <p:nvSpPr>
          <p:cNvPr id="12" name="AutoShape 12"/>
          <p:cNvSpPr/>
          <p:nvPr>
            <p:custDataLst>
              <p:tags r:id="rId13"/>
            </p:custDataLst>
          </p:nvPr>
        </p:nvSpPr>
        <p:spPr>
          <a:xfrm>
            <a:off x="4699000" y="4572000"/>
            <a:ext cx="2794000" cy="1270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endParaRPr lang="en-US" sz="1100"/>
          </a:p>
        </p:txBody>
      </p:sp>
      <p:sp>
        <p:nvSpPr>
          <p:cNvPr id="13" name="AutoShape 13"/>
          <p:cNvSpPr/>
          <p:nvPr>
            <p:custDataLst>
              <p:tags r:id="rId14"/>
            </p:custDataLst>
          </p:nvPr>
        </p:nvSpPr>
        <p:spPr>
          <a:xfrm>
            <a:off x="8128000" y="3571875"/>
            <a:ext cx="3302000" cy="2216150"/>
          </a:xfrm>
          <a:prstGeom prst="roundRect">
            <a:avLst>
              <a:gd name="adj" fmla="val 4615"/>
            </a:avLst>
          </a:prstGeom>
          <a:solidFill>
            <a:srgbClr val="FFFFFF">
              <a:alpha val="95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4" name="Picture 14"/>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461500" y="3825875"/>
            <a:ext cx="635000" cy="635000"/>
          </a:xfrm>
          <a:prstGeom prst="rect">
            <a:avLst/>
          </a:prstGeom>
        </p:spPr>
      </p:pic>
      <p:sp>
        <p:nvSpPr>
          <p:cNvPr id="15" name="AutoShape 15"/>
          <p:cNvSpPr/>
          <p:nvPr>
            <p:custDataLst>
              <p:tags r:id="rId18"/>
            </p:custDataLst>
          </p:nvPr>
        </p:nvSpPr>
        <p:spPr>
          <a:xfrm>
            <a:off x="8255000" y="4714875"/>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2000" b="1" i="0" u="none" strike="noStrike">
                <a:solidFill>
                  <a:srgbClr val="0F172A"/>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价值是什么？</a:t>
            </a:r>
            <a:endParaRPr lang="en-US" sz="1100"/>
          </a:p>
        </p:txBody>
      </p:sp>
      <p:sp>
        <p:nvSpPr>
          <p:cNvPr id="16" name="AutoShape 16"/>
          <p:cNvSpPr/>
          <p:nvPr>
            <p:custDataLst>
              <p:tags r:id="rId19"/>
            </p:custDataLst>
          </p:nvPr>
        </p:nvSpPr>
        <p:spPr>
          <a:xfrm>
            <a:off x="8382000" y="4572000"/>
            <a:ext cx="2794000" cy="1270000"/>
          </a:xfrm>
          <a:prstGeom prst="rect">
            <a:avLst/>
          </a:prstGeom>
          <a:noFill/>
          <a:ln w="12700" cap="flat" cmpd="sng">
            <a:noFill/>
            <a:prstDash val="solid"/>
            <a:round/>
          </a:ln>
        </p:spPr>
        <p:txBody>
          <a:bodyPr vert="horz" wrap="square" lIns="0" tIns="0" rIns="0" bIns="0" rtlCol="0" anchor="t" anchorCtr="0"/>
          <a:lstStyle/>
          <a:p>
            <a:pPr indent="0" algn="ctr">
              <a:lnSpc>
                <a:spcPct val="117000"/>
              </a:lnSpc>
              <a:defRPr/>
            </a:pP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custDataLst>
              <p:tags r:id="rId1"/>
            </p:custDataLst>
          </p:nvPr>
        </p:nvSpPr>
        <p:spPr>
          <a:xfrm>
            <a:off x="4279900" y="1879600"/>
            <a:ext cx="3568700" cy="42545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
        <p:nvSpPr>
          <p:cNvPr id="3" name="AutoShape 3"/>
          <p:cNvSpPr/>
          <p:nvPr/>
        </p:nvSpPr>
        <p:spPr>
          <a:xfrm rot="10800000" flipV="1">
            <a:off x="660400" y="1130300"/>
            <a:ext cx="10858500" cy="546100"/>
          </a:xfrm>
          <a:prstGeom prst="rect">
            <a:avLst/>
          </a:prstGeom>
          <a:solidFill>
            <a:srgbClr val="082F4D">
              <a:alpha val="94900"/>
            </a:srgbClr>
          </a:solidFill>
          <a:ln w="12700" cap="flat" cmpd="sng">
            <a:noFill/>
            <a:prstDash val="solid"/>
            <a:round/>
          </a:ln>
        </p:spPr>
        <p:txBody>
          <a:bodyPr vert="horz" wrap="square" lIns="88900" tIns="50800" rIns="88900" bIns="50800" rtlCol="0" anchor="ctr" anchorCtr="0"/>
          <a:lstStyle/>
          <a:p>
            <a:pPr indent="0" algn="l">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Nessus的定义、地位与价值</a:t>
            </a:r>
            <a:endParaRPr lang="en-US" sz="1100"/>
          </a:p>
        </p:txBody>
      </p:sp>
      <p:sp>
        <p:nvSpPr>
          <p:cNvPr id="4" name="AutoShape 4"/>
          <p:cNvSpPr/>
          <p:nvPr>
            <p:custDataLst>
              <p:tags r:id="rId2"/>
            </p:custDataLst>
          </p:nvPr>
        </p:nvSpPr>
        <p:spPr>
          <a:xfrm>
            <a:off x="901700" y="2082800"/>
            <a:ext cx="381000" cy="381000"/>
          </a:xfrm>
          <a:prstGeom prst="rect">
            <a:avLst/>
          </a:prstGeom>
          <a:noFill/>
          <a:ln w="12700" cap="flat" cmpd="sng">
            <a:solidFill>
              <a:srgbClr val="0A3E67">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5" name="AutoShape 5"/>
          <p:cNvSpPr/>
          <p:nvPr>
            <p:custDataLst>
              <p:tags r:id="rId3"/>
            </p:custDataLst>
          </p:nvPr>
        </p:nvSpPr>
        <p:spPr>
          <a:xfrm>
            <a:off x="800100" y="2552700"/>
            <a:ext cx="3416300" cy="1143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定义</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AutoShape 6"/>
          <p:cNvSpPr/>
          <p:nvPr>
            <p:custDataLst>
              <p:tags r:id="rId4"/>
            </p:custDataLst>
          </p:nvPr>
        </p:nvSpPr>
        <p:spPr>
          <a:xfrm>
            <a:off x="800100" y="3695700"/>
            <a:ext cx="3416300" cy="24384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Nessus是一款基于客户端/服务器（C/S）架构的漏洞扫描器，通过执行数以万计的安全检查（称为“插件”）来识别目标网络、系统和应用程序中存在的安全弱点、配置错误和潜在的攻击向量。</a:t>
            </a:r>
            <a:endParaRPr lang="en-US" sz="1100"/>
          </a:p>
        </p:txBody>
      </p:sp>
      <p:sp>
        <p:nvSpPr>
          <p:cNvPr id="7" name="AutoShape 7"/>
          <p:cNvSpPr/>
          <p:nvPr>
            <p:custDataLst>
              <p:tags r:id="rId5"/>
            </p:custDataLst>
          </p:nvPr>
        </p:nvSpPr>
        <p:spPr>
          <a:xfrm>
            <a:off x="4495800" y="2082800"/>
            <a:ext cx="381000" cy="381000"/>
          </a:xfrm>
          <a:prstGeom prst="rect">
            <a:avLst/>
          </a:prstGeom>
          <a:noFill/>
          <a:ln w="12700" cap="flat" cmpd="sng">
            <a:solidFill>
              <a:srgbClr val="0A3E67">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8" name="AutoShape 8"/>
          <p:cNvSpPr/>
          <p:nvPr>
            <p:custDataLst>
              <p:tags r:id="rId6"/>
            </p:custDataLst>
          </p:nvPr>
        </p:nvSpPr>
        <p:spPr>
          <a:xfrm>
            <a:off x="4381500" y="2552700"/>
            <a:ext cx="3416300" cy="1143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地位</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AutoShape 9"/>
          <p:cNvSpPr/>
          <p:nvPr>
            <p:custDataLst>
              <p:tags r:id="rId7"/>
            </p:custDataLst>
          </p:nvPr>
        </p:nvSpPr>
        <p:spPr>
          <a:xfrm>
            <a:off x="4381500" y="3695700"/>
            <a:ext cx="3416300" cy="24384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Nessus是全球漏洞扫描领域的标杆级主流工具，由Tenable公司研发，凭借庞大且更新迅速的漏洞插件库、极低误报率与全面的资产检测能力，成为企业安全巡检、等保测评、渗透测试常用核心软件。</a:t>
            </a:r>
            <a:endParaRPr lang="en-US" sz="1100"/>
          </a:p>
        </p:txBody>
      </p:sp>
      <p:sp>
        <p:nvSpPr>
          <p:cNvPr id="10" name="AutoShape 10"/>
          <p:cNvSpPr/>
          <p:nvPr>
            <p:custDataLst>
              <p:tags r:id="rId8"/>
            </p:custDataLst>
          </p:nvPr>
        </p:nvSpPr>
        <p:spPr>
          <a:xfrm>
            <a:off x="8089900" y="2082800"/>
            <a:ext cx="381000" cy="381000"/>
          </a:xfrm>
          <a:prstGeom prst="rect">
            <a:avLst/>
          </a:prstGeom>
          <a:noFill/>
          <a:ln w="12700" cap="flat" cmpd="sng">
            <a:solidFill>
              <a:srgbClr val="0A3E67">
                <a:alpha val="100000"/>
              </a:srgbClr>
            </a:solidFill>
            <a:prstDash val="solid"/>
            <a:miter lim="10000000"/>
          </a:ln>
        </p:spPr>
        <p:txBody>
          <a:bodyPr vert="horz" wrap="none" lIns="88900" tIns="50800" rIns="88900" bIns="508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1" name="AutoShape 11"/>
          <p:cNvSpPr/>
          <p:nvPr>
            <p:custDataLst>
              <p:tags r:id="rId9"/>
            </p:custDataLst>
          </p:nvPr>
        </p:nvSpPr>
        <p:spPr>
          <a:xfrm>
            <a:off x="7975600" y="2552700"/>
            <a:ext cx="3416300" cy="1143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价值</a:t>
            </a:r>
            <a:endPar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custDataLst>
              <p:tags r:id="rId10"/>
            </p:custDataLst>
          </p:nvPr>
        </p:nvSpPr>
        <p:spPr>
          <a:xfrm>
            <a:off x="7975600" y="3695700"/>
            <a:ext cx="3416300" cy="24384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它能够自动化地发现操作系统、网络设备和应用程序中的安全漏洞和配置错误，帮助用户在黑客利用漏洞前完成修复，是主动风险管理的基石。</a:t>
            </a:r>
            <a:endParaRPr lang="en-US" sz="1100"/>
          </a:p>
        </p:txBody>
      </p:sp>
      <p:sp>
        <p:nvSpPr>
          <p:cNvPr id="13" name="AutoShape 13"/>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1.1 Nessus是什么？</a:t>
            </a:r>
            <a:endParaRPr lang="en-US" sz="1100"/>
          </a:p>
        </p:txBody>
      </p:sp>
      <p:sp>
        <p:nvSpPr>
          <p:cNvPr id="14" name="AutoShape 14"/>
          <p:cNvSpPr/>
          <p:nvPr>
            <p:custDataLst>
              <p:tags r:id="rId11"/>
            </p:custDataLst>
          </p:nvPr>
        </p:nvSpPr>
        <p:spPr>
          <a:xfrm>
            <a:off x="673100" y="1879600"/>
            <a:ext cx="3606800" cy="42545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7861300" y="1879600"/>
            <a:ext cx="3670300" cy="42545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4838700" y="1892300"/>
            <a:ext cx="2501900" cy="50800"/>
          </a:xfrm>
          <a:prstGeom prst="roundRect">
            <a:avLst>
              <a:gd name="adj" fmla="val 0"/>
            </a:avLst>
          </a:prstGeom>
          <a:gradFill rotWithShape="0">
            <a:gsLst>
              <a:gs pos="15000">
                <a:srgbClr val="0A3E67">
                  <a:alpha val="73000"/>
                </a:srgbClr>
              </a:gs>
              <a:gs pos="100000">
                <a:srgbClr val="1E91D9">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60400" y="1130300"/>
            <a:ext cx="10858500" cy="6604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Nessus区别于其他工具的独特优势</a:t>
            </a:r>
            <a:endParaRPr lang="en-US" sz="1100"/>
          </a:p>
        </p:txBody>
      </p:sp>
      <p:sp>
        <p:nvSpPr>
          <p:cNvPr id="4" name="Freeform 4"/>
          <p:cNvSpPr/>
          <p:nvPr/>
        </p:nvSpPr>
        <p:spPr>
          <a:xfrm>
            <a:off x="635000" y="2133600"/>
            <a:ext cx="2597915" cy="2347869"/>
          </a:xfrm>
          <a:custGeom>
            <a:avLst/>
            <a:gdLst/>
            <a:ahLst/>
            <a:cxnLst/>
            <a:rect l="l" t="t" r="r" b="b"/>
            <a:pathLst>
              <a:path w="2597915" h="2347869">
                <a:moveTo>
                  <a:pt x="115362" y="19017"/>
                </a:moveTo>
                <a:lnTo>
                  <a:pt x="24199" y="88189"/>
                </a:lnTo>
                <a:lnTo>
                  <a:pt x="24199" y="185524"/>
                </a:lnTo>
                <a:lnTo>
                  <a:pt x="24291" y="185524"/>
                </a:lnTo>
                <a:lnTo>
                  <a:pt x="24291" y="2156466"/>
                </a:lnTo>
                <a:lnTo>
                  <a:pt x="24199" y="2156466"/>
                </a:lnTo>
                <a:lnTo>
                  <a:pt x="24199" y="2257139"/>
                </a:lnTo>
                <a:lnTo>
                  <a:pt x="112221" y="2328780"/>
                </a:lnTo>
                <a:lnTo>
                  <a:pt x="224166" y="2328780"/>
                </a:lnTo>
                <a:lnTo>
                  <a:pt x="231094" y="2328780"/>
                </a:lnTo>
                <a:lnTo>
                  <a:pt x="2390742" y="2328780"/>
                </a:lnTo>
                <a:lnTo>
                  <a:pt x="2394251" y="2328780"/>
                </a:lnTo>
                <a:lnTo>
                  <a:pt x="2485692" y="2328780"/>
                </a:lnTo>
                <a:lnTo>
                  <a:pt x="2573622" y="2257139"/>
                </a:lnTo>
                <a:lnTo>
                  <a:pt x="2573622" y="2175265"/>
                </a:lnTo>
                <a:lnTo>
                  <a:pt x="2573622" y="2160821"/>
                </a:lnTo>
                <a:lnTo>
                  <a:pt x="2573622" y="317047"/>
                </a:lnTo>
                <a:lnTo>
                  <a:pt x="2573622" y="317047"/>
                </a:lnTo>
                <a:lnTo>
                  <a:pt x="2573622" y="232197"/>
                </a:lnTo>
                <a:lnTo>
                  <a:pt x="2482459" y="163096"/>
                </a:lnTo>
                <a:lnTo>
                  <a:pt x="2389264" y="163096"/>
                </a:lnTo>
                <a:lnTo>
                  <a:pt x="2383814" y="163096"/>
                </a:lnTo>
                <a:lnTo>
                  <a:pt x="1536193" y="163096"/>
                </a:lnTo>
                <a:lnTo>
                  <a:pt x="1376865" y="19017"/>
                </a:lnTo>
                <a:close/>
                <a:moveTo>
                  <a:pt x="111575" y="0"/>
                </a:moveTo>
                <a:lnTo>
                  <a:pt x="1396262" y="0"/>
                </a:lnTo>
                <a:lnTo>
                  <a:pt x="1556144" y="144007"/>
                </a:lnTo>
                <a:lnTo>
                  <a:pt x="2383814" y="144007"/>
                </a:lnTo>
                <a:lnTo>
                  <a:pt x="2389264" y="144007"/>
                </a:lnTo>
                <a:lnTo>
                  <a:pt x="2486339" y="144007"/>
                </a:lnTo>
                <a:lnTo>
                  <a:pt x="2597915" y="228567"/>
                </a:lnTo>
                <a:lnTo>
                  <a:pt x="2597915" y="234809"/>
                </a:lnTo>
                <a:lnTo>
                  <a:pt x="2597915" y="247366"/>
                </a:lnTo>
                <a:lnTo>
                  <a:pt x="2597915" y="325684"/>
                </a:lnTo>
                <a:lnTo>
                  <a:pt x="2597913" y="325684"/>
                </a:lnTo>
                <a:lnTo>
                  <a:pt x="2597913" y="2160821"/>
                </a:lnTo>
                <a:lnTo>
                  <a:pt x="2597913" y="2175265"/>
                </a:lnTo>
                <a:lnTo>
                  <a:pt x="2597913" y="2260115"/>
                </a:lnTo>
                <a:lnTo>
                  <a:pt x="2490310" y="2347797"/>
                </a:lnTo>
                <a:lnTo>
                  <a:pt x="2482366" y="2347797"/>
                </a:lnTo>
                <a:lnTo>
                  <a:pt x="2466388" y="2347797"/>
                </a:lnTo>
                <a:lnTo>
                  <a:pt x="2394251" y="2347797"/>
                </a:lnTo>
                <a:lnTo>
                  <a:pt x="2394251" y="2347869"/>
                </a:lnTo>
                <a:lnTo>
                  <a:pt x="224166" y="2347869"/>
                </a:lnTo>
                <a:lnTo>
                  <a:pt x="224166" y="2347797"/>
                </a:lnTo>
                <a:lnTo>
                  <a:pt x="131434" y="2347797"/>
                </a:lnTo>
                <a:lnTo>
                  <a:pt x="115547" y="2347797"/>
                </a:lnTo>
                <a:lnTo>
                  <a:pt x="107603" y="2347797"/>
                </a:lnTo>
                <a:lnTo>
                  <a:pt x="0" y="2260116"/>
                </a:lnTo>
                <a:lnTo>
                  <a:pt x="0" y="2156466"/>
                </a:lnTo>
                <a:lnTo>
                  <a:pt x="0" y="2142021"/>
                </a:lnTo>
                <a:lnTo>
                  <a:pt x="0" y="200405"/>
                </a:lnTo>
                <a:lnTo>
                  <a:pt x="0" y="185524"/>
                </a:lnTo>
                <a:lnTo>
                  <a:pt x="0" y="103287"/>
                </a:lnTo>
                <a:lnTo>
                  <a:pt x="0" y="90802"/>
                </a:lnTo>
                <a:lnTo>
                  <a:pt x="0" y="84560"/>
                </a:lnTo>
                <a:close/>
              </a:path>
            </a:pathLst>
          </a:custGeom>
          <a:gradFill rotWithShape="0">
            <a:gsLst>
              <a:gs pos="0">
                <a:srgbClr val="0A3E67">
                  <a:alpha val="100000"/>
                </a:srgbClr>
              </a:gs>
              <a:gs pos="100000">
                <a:srgbClr val="1E91D9">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698500" y="2184400"/>
            <a:ext cx="863693" cy="95157"/>
          </a:xfrm>
          <a:custGeom>
            <a:avLst/>
            <a:gdLst/>
            <a:ahLst/>
            <a:cxnLst/>
            <a:rect l="l" t="t" r="r" b="b"/>
            <a:pathLst>
              <a:path w="863693" h="95157">
                <a:moveTo>
                  <a:pt x="141040" y="0"/>
                </a:moveTo>
                <a:lnTo>
                  <a:pt x="143995" y="0"/>
                </a:lnTo>
                <a:lnTo>
                  <a:pt x="151477" y="0"/>
                </a:lnTo>
                <a:lnTo>
                  <a:pt x="863693" y="0"/>
                </a:lnTo>
                <a:lnTo>
                  <a:pt x="863693" y="10380"/>
                </a:lnTo>
                <a:lnTo>
                  <a:pt x="147320" y="10380"/>
                </a:lnTo>
                <a:lnTo>
                  <a:pt x="90886" y="53204"/>
                </a:lnTo>
                <a:lnTo>
                  <a:pt x="90886" y="37743"/>
                </a:lnTo>
                <a:close/>
                <a:moveTo>
                  <a:pt x="74352" y="0"/>
                </a:moveTo>
                <a:lnTo>
                  <a:pt x="125522" y="0"/>
                </a:lnTo>
                <a:lnTo>
                  <a:pt x="0" y="95157"/>
                </a:lnTo>
                <a:lnTo>
                  <a:pt x="0" y="54945"/>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133600" y="2184400"/>
            <a:ext cx="750178" cy="76357"/>
          </a:xfrm>
          <a:custGeom>
            <a:avLst/>
            <a:gdLst/>
            <a:ahLst/>
            <a:cxnLst/>
            <a:rect l="l" t="t" r="r" b="b"/>
            <a:pathLst>
              <a:path w="750178" h="76357">
                <a:moveTo>
                  <a:pt x="614496" y="0"/>
                </a:moveTo>
                <a:lnTo>
                  <a:pt x="663078" y="0"/>
                </a:lnTo>
                <a:lnTo>
                  <a:pt x="750178" y="76357"/>
                </a:lnTo>
                <a:lnTo>
                  <a:pt x="701595" y="76357"/>
                </a:lnTo>
                <a:close/>
                <a:moveTo>
                  <a:pt x="527027" y="0"/>
                </a:moveTo>
                <a:lnTo>
                  <a:pt x="575611" y="0"/>
                </a:lnTo>
                <a:lnTo>
                  <a:pt x="662802" y="76357"/>
                </a:lnTo>
                <a:lnTo>
                  <a:pt x="614218" y="76357"/>
                </a:lnTo>
                <a:close/>
                <a:moveTo>
                  <a:pt x="439651" y="0"/>
                </a:moveTo>
                <a:lnTo>
                  <a:pt x="488235" y="0"/>
                </a:lnTo>
                <a:lnTo>
                  <a:pt x="575426" y="76357"/>
                </a:lnTo>
                <a:lnTo>
                  <a:pt x="526750" y="76357"/>
                </a:lnTo>
                <a:close/>
                <a:moveTo>
                  <a:pt x="352275" y="0"/>
                </a:moveTo>
                <a:lnTo>
                  <a:pt x="400859" y="0"/>
                </a:lnTo>
                <a:lnTo>
                  <a:pt x="487957" y="76357"/>
                </a:lnTo>
                <a:lnTo>
                  <a:pt x="439374" y="76357"/>
                </a:lnTo>
                <a:close/>
                <a:moveTo>
                  <a:pt x="264899" y="0"/>
                </a:moveTo>
                <a:lnTo>
                  <a:pt x="313482" y="0"/>
                </a:lnTo>
                <a:lnTo>
                  <a:pt x="400581" y="76357"/>
                </a:lnTo>
                <a:lnTo>
                  <a:pt x="351998" y="76357"/>
                </a:lnTo>
                <a:close/>
                <a:moveTo>
                  <a:pt x="0" y="0"/>
                </a:moveTo>
                <a:lnTo>
                  <a:pt x="224536" y="0"/>
                </a:lnTo>
                <a:lnTo>
                  <a:pt x="311635" y="76357"/>
                </a:lnTo>
                <a:lnTo>
                  <a:pt x="87099" y="76357"/>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35000" y="2120900"/>
            <a:ext cx="619761" cy="242794"/>
          </a:xfrm>
          <a:custGeom>
            <a:avLst/>
            <a:gdLst/>
            <a:ahLst/>
            <a:cxnLst/>
            <a:rect l="l" t="t" r="r" b="b"/>
            <a:pathLst>
              <a:path w="619761" h="242794">
                <a:moveTo>
                  <a:pt x="619761" y="28453"/>
                </a:moveTo>
                <a:lnTo>
                  <a:pt x="619761" y="0"/>
                </a:lnTo>
                <a:lnTo>
                  <a:pt x="115547" y="0"/>
                </a:lnTo>
                <a:lnTo>
                  <a:pt x="0" y="87681"/>
                </a:lnTo>
                <a:lnTo>
                  <a:pt x="0" y="93924"/>
                </a:lnTo>
                <a:lnTo>
                  <a:pt x="0" y="106481"/>
                </a:lnTo>
                <a:lnTo>
                  <a:pt x="0" y="242794"/>
                </a:lnTo>
                <a:lnTo>
                  <a:pt x="36206" y="242794"/>
                </a:lnTo>
                <a:lnTo>
                  <a:pt x="36206" y="94432"/>
                </a:lnTo>
                <a:lnTo>
                  <a:pt x="123398" y="28453"/>
                </a:lnTo>
                <a:close/>
              </a:path>
            </a:pathLst>
          </a:custGeom>
          <a:gradFill rotWithShape="0">
            <a:gsLst>
              <a:gs pos="0">
                <a:srgbClr val="2693EA">
                  <a:alpha val="100000"/>
                </a:srgbClr>
              </a:gs>
              <a:gs pos="47000">
                <a:srgbClr val="1E91D9">
                  <a:alpha val="100000"/>
                </a:srgbClr>
              </a:gs>
              <a:gs pos="100000">
                <a:srgbClr val="1E91D9">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2984500" y="2273300"/>
            <a:ext cx="253630" cy="147127"/>
          </a:xfrm>
          <a:custGeom>
            <a:avLst/>
            <a:gdLst/>
            <a:ahLst/>
            <a:cxnLst/>
            <a:rect l="l" t="t" r="r" b="b"/>
            <a:pathLst>
              <a:path w="253630" h="147127">
                <a:moveTo>
                  <a:pt x="0" y="28453"/>
                </a:moveTo>
                <a:lnTo>
                  <a:pt x="0" y="0"/>
                </a:lnTo>
                <a:lnTo>
                  <a:pt x="138083" y="0"/>
                </a:lnTo>
                <a:lnTo>
                  <a:pt x="253630" y="87681"/>
                </a:lnTo>
                <a:lnTo>
                  <a:pt x="253630" y="93923"/>
                </a:lnTo>
                <a:lnTo>
                  <a:pt x="253630" y="106408"/>
                </a:lnTo>
                <a:lnTo>
                  <a:pt x="253630" y="147127"/>
                </a:lnTo>
                <a:lnTo>
                  <a:pt x="217424" y="147127"/>
                </a:lnTo>
                <a:lnTo>
                  <a:pt x="217424" y="94431"/>
                </a:lnTo>
                <a:lnTo>
                  <a:pt x="130233" y="28453"/>
                </a:lnTo>
                <a:close/>
              </a:path>
            </a:pathLst>
          </a:custGeom>
          <a:gradFill rotWithShape="0">
            <a:gsLst>
              <a:gs pos="0">
                <a:srgbClr val="74BEEC">
                  <a:alpha val="100000"/>
                </a:srgbClr>
              </a:gs>
              <a:gs pos="45000">
                <a:srgbClr val="1E91D9">
                  <a:alpha val="100000"/>
                </a:srgbClr>
              </a:gs>
              <a:gs pos="100000">
                <a:srgbClr val="0A3E67">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647700" y="2133600"/>
            <a:ext cx="2583875" cy="3284096"/>
          </a:xfrm>
          <a:custGeom>
            <a:avLst/>
            <a:gdLst/>
            <a:ahLst/>
            <a:cxnLst/>
            <a:rect l="l" t="t" r="r" b="b"/>
            <a:pathLst>
              <a:path w="2583875" h="3284096">
                <a:moveTo>
                  <a:pt x="110744" y="0"/>
                </a:moveTo>
                <a:lnTo>
                  <a:pt x="1378160" y="0"/>
                </a:lnTo>
                <a:lnTo>
                  <a:pt x="1544230" y="149885"/>
                </a:lnTo>
                <a:lnTo>
                  <a:pt x="2473225" y="149885"/>
                </a:lnTo>
                <a:lnTo>
                  <a:pt x="2583875" y="227260"/>
                </a:lnTo>
                <a:lnTo>
                  <a:pt x="2583875" y="1175461"/>
                </a:lnTo>
                <a:lnTo>
                  <a:pt x="2583875" y="2258520"/>
                </a:lnTo>
                <a:lnTo>
                  <a:pt x="2583875" y="3206721"/>
                </a:lnTo>
                <a:lnTo>
                  <a:pt x="2485508" y="3284096"/>
                </a:lnTo>
                <a:lnTo>
                  <a:pt x="104557" y="3284096"/>
                </a:lnTo>
                <a:lnTo>
                  <a:pt x="0" y="3201857"/>
                </a:lnTo>
                <a:lnTo>
                  <a:pt x="0" y="2253656"/>
                </a:lnTo>
                <a:lnTo>
                  <a:pt x="0" y="1025576"/>
                </a:lnTo>
                <a:lnTo>
                  <a:pt x="0" y="77375"/>
                </a:lnTo>
                <a:close/>
              </a:path>
            </a:pathLst>
          </a:custGeom>
          <a:gradFill rotWithShape="0">
            <a:gsLst>
              <a:gs pos="0">
                <a:srgbClr val="0A3E67">
                  <a:alpha val="30000"/>
                </a:srgbClr>
              </a:gs>
              <a:gs pos="88000">
                <a:srgbClr val="0A3E67">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447800" y="2438400"/>
            <a:ext cx="977900" cy="825500"/>
          </a:xfrm>
          <a:prstGeom prst="rect">
            <a:avLst/>
          </a:prstGeom>
          <a:noFill/>
          <a:ln w="12700" cap="flat" cmpd="sng">
            <a:noFill/>
            <a:prstDash val="solid"/>
            <a:round/>
          </a:ln>
        </p:spPr>
        <p:txBody>
          <a:bodyPr vert="horz" wrap="none" lIns="88900" tIns="50800" rIns="88900" bIns="50800" rtlCol="0" anchor="b" anchorCtr="0"/>
          <a:lstStyle/>
          <a:p>
            <a:pPr indent="0" algn="ctr">
              <a:lnSpc>
                <a:spcPct val="108000"/>
              </a:lnSpc>
              <a:defRPr/>
            </a:pPr>
            <a:r>
              <a:rPr lang="en-US" sz="4600" b="1" i="1"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11" name="AutoShape 11"/>
          <p:cNvSpPr/>
          <p:nvPr/>
        </p:nvSpPr>
        <p:spPr>
          <a:xfrm>
            <a:off x="711200" y="3390900"/>
            <a:ext cx="2451100" cy="774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市场领导者</a:t>
            </a:r>
            <a:endParaRPr lang="en-US" sz="1100"/>
          </a:p>
        </p:txBody>
      </p:sp>
      <p:sp>
        <p:nvSpPr>
          <p:cNvPr id="12" name="AutoShape 12"/>
          <p:cNvSpPr/>
          <p:nvPr/>
        </p:nvSpPr>
        <p:spPr>
          <a:xfrm>
            <a:off x="711200" y="4279900"/>
            <a:ext cx="24511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根据IDC、Gartner等报告，Nessus长期占据漏洞扫描市场领先份额，全球超40,000家组织信赖使用。</a:t>
            </a:r>
            <a:endParaRPr lang="en-US" sz="1100"/>
          </a:p>
        </p:txBody>
      </p:sp>
      <p:sp>
        <p:nvSpPr>
          <p:cNvPr id="13" name="Freeform 13"/>
          <p:cNvSpPr/>
          <p:nvPr/>
        </p:nvSpPr>
        <p:spPr>
          <a:xfrm>
            <a:off x="3403600" y="2603500"/>
            <a:ext cx="2597915" cy="2347869"/>
          </a:xfrm>
          <a:custGeom>
            <a:avLst/>
            <a:gdLst/>
            <a:ahLst/>
            <a:cxnLst/>
            <a:rect l="l" t="t" r="r" b="b"/>
            <a:pathLst>
              <a:path w="2597915" h="2347869">
                <a:moveTo>
                  <a:pt x="115362" y="19017"/>
                </a:moveTo>
                <a:lnTo>
                  <a:pt x="24199" y="88189"/>
                </a:lnTo>
                <a:lnTo>
                  <a:pt x="24199" y="185524"/>
                </a:lnTo>
                <a:lnTo>
                  <a:pt x="24291" y="185524"/>
                </a:lnTo>
                <a:lnTo>
                  <a:pt x="24291" y="2156466"/>
                </a:lnTo>
                <a:lnTo>
                  <a:pt x="24199" y="2156466"/>
                </a:lnTo>
                <a:lnTo>
                  <a:pt x="24199" y="2257139"/>
                </a:lnTo>
                <a:lnTo>
                  <a:pt x="112221" y="2328780"/>
                </a:lnTo>
                <a:lnTo>
                  <a:pt x="224166" y="2328780"/>
                </a:lnTo>
                <a:lnTo>
                  <a:pt x="231094" y="2328780"/>
                </a:lnTo>
                <a:lnTo>
                  <a:pt x="2390742" y="2328780"/>
                </a:lnTo>
                <a:lnTo>
                  <a:pt x="2394251" y="2328780"/>
                </a:lnTo>
                <a:lnTo>
                  <a:pt x="2485692" y="2328780"/>
                </a:lnTo>
                <a:lnTo>
                  <a:pt x="2573622" y="2257139"/>
                </a:lnTo>
                <a:lnTo>
                  <a:pt x="2573622" y="2175265"/>
                </a:lnTo>
                <a:lnTo>
                  <a:pt x="2573622" y="2160821"/>
                </a:lnTo>
                <a:lnTo>
                  <a:pt x="2573622" y="317047"/>
                </a:lnTo>
                <a:lnTo>
                  <a:pt x="2573622" y="317047"/>
                </a:lnTo>
                <a:lnTo>
                  <a:pt x="2573622" y="232197"/>
                </a:lnTo>
                <a:lnTo>
                  <a:pt x="2482459" y="163096"/>
                </a:lnTo>
                <a:lnTo>
                  <a:pt x="2389264" y="163096"/>
                </a:lnTo>
                <a:lnTo>
                  <a:pt x="2383814" y="163096"/>
                </a:lnTo>
                <a:lnTo>
                  <a:pt x="1536193" y="163096"/>
                </a:lnTo>
                <a:lnTo>
                  <a:pt x="1376865" y="19017"/>
                </a:lnTo>
                <a:close/>
                <a:moveTo>
                  <a:pt x="111575" y="0"/>
                </a:moveTo>
                <a:lnTo>
                  <a:pt x="1396262" y="0"/>
                </a:lnTo>
                <a:lnTo>
                  <a:pt x="1556144" y="144007"/>
                </a:lnTo>
                <a:lnTo>
                  <a:pt x="2383814" y="144007"/>
                </a:lnTo>
                <a:lnTo>
                  <a:pt x="2389264" y="144007"/>
                </a:lnTo>
                <a:lnTo>
                  <a:pt x="2486339" y="144007"/>
                </a:lnTo>
                <a:lnTo>
                  <a:pt x="2597915" y="228567"/>
                </a:lnTo>
                <a:lnTo>
                  <a:pt x="2597915" y="234809"/>
                </a:lnTo>
                <a:lnTo>
                  <a:pt x="2597915" y="247366"/>
                </a:lnTo>
                <a:lnTo>
                  <a:pt x="2597915" y="325684"/>
                </a:lnTo>
                <a:lnTo>
                  <a:pt x="2597913" y="325684"/>
                </a:lnTo>
                <a:lnTo>
                  <a:pt x="2597913" y="2160821"/>
                </a:lnTo>
                <a:lnTo>
                  <a:pt x="2597913" y="2175265"/>
                </a:lnTo>
                <a:lnTo>
                  <a:pt x="2597913" y="2260115"/>
                </a:lnTo>
                <a:lnTo>
                  <a:pt x="2490310" y="2347797"/>
                </a:lnTo>
                <a:lnTo>
                  <a:pt x="2482366" y="2347797"/>
                </a:lnTo>
                <a:lnTo>
                  <a:pt x="2466388" y="2347797"/>
                </a:lnTo>
                <a:lnTo>
                  <a:pt x="2394251" y="2347797"/>
                </a:lnTo>
                <a:lnTo>
                  <a:pt x="2394251" y="2347869"/>
                </a:lnTo>
                <a:lnTo>
                  <a:pt x="224166" y="2347869"/>
                </a:lnTo>
                <a:lnTo>
                  <a:pt x="224166" y="2347797"/>
                </a:lnTo>
                <a:lnTo>
                  <a:pt x="131434" y="2347797"/>
                </a:lnTo>
                <a:lnTo>
                  <a:pt x="115547" y="2347797"/>
                </a:lnTo>
                <a:lnTo>
                  <a:pt x="107603" y="2347797"/>
                </a:lnTo>
                <a:lnTo>
                  <a:pt x="0" y="2260116"/>
                </a:lnTo>
                <a:lnTo>
                  <a:pt x="0" y="2156466"/>
                </a:lnTo>
                <a:lnTo>
                  <a:pt x="0" y="2142021"/>
                </a:lnTo>
                <a:lnTo>
                  <a:pt x="0" y="200405"/>
                </a:lnTo>
                <a:lnTo>
                  <a:pt x="0" y="185524"/>
                </a:lnTo>
                <a:lnTo>
                  <a:pt x="0" y="103287"/>
                </a:lnTo>
                <a:lnTo>
                  <a:pt x="0" y="90802"/>
                </a:lnTo>
                <a:lnTo>
                  <a:pt x="0" y="84560"/>
                </a:lnTo>
                <a:close/>
              </a:path>
            </a:pathLst>
          </a:custGeom>
          <a:gradFill rotWithShape="0">
            <a:gsLst>
              <a:gs pos="0">
                <a:srgbClr val="0A3E67">
                  <a:alpha val="100000"/>
                </a:srgbClr>
              </a:gs>
              <a:gs pos="100000">
                <a:srgbClr val="1E91D9">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3467100" y="2654300"/>
            <a:ext cx="863693" cy="95157"/>
          </a:xfrm>
          <a:custGeom>
            <a:avLst/>
            <a:gdLst/>
            <a:ahLst/>
            <a:cxnLst/>
            <a:rect l="l" t="t" r="r" b="b"/>
            <a:pathLst>
              <a:path w="863693" h="95157">
                <a:moveTo>
                  <a:pt x="141040" y="0"/>
                </a:moveTo>
                <a:lnTo>
                  <a:pt x="143995" y="0"/>
                </a:lnTo>
                <a:lnTo>
                  <a:pt x="151477" y="0"/>
                </a:lnTo>
                <a:lnTo>
                  <a:pt x="863693" y="0"/>
                </a:lnTo>
                <a:lnTo>
                  <a:pt x="863693" y="10380"/>
                </a:lnTo>
                <a:lnTo>
                  <a:pt x="147320" y="10380"/>
                </a:lnTo>
                <a:lnTo>
                  <a:pt x="90886" y="53204"/>
                </a:lnTo>
                <a:lnTo>
                  <a:pt x="90886" y="37743"/>
                </a:lnTo>
                <a:close/>
                <a:moveTo>
                  <a:pt x="74352" y="0"/>
                </a:moveTo>
                <a:lnTo>
                  <a:pt x="125522" y="0"/>
                </a:lnTo>
                <a:lnTo>
                  <a:pt x="0" y="95157"/>
                </a:lnTo>
                <a:lnTo>
                  <a:pt x="0" y="54945"/>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4902200" y="2641600"/>
            <a:ext cx="750178" cy="76357"/>
          </a:xfrm>
          <a:custGeom>
            <a:avLst/>
            <a:gdLst/>
            <a:ahLst/>
            <a:cxnLst/>
            <a:rect l="l" t="t" r="r" b="b"/>
            <a:pathLst>
              <a:path w="750178" h="76357">
                <a:moveTo>
                  <a:pt x="614496" y="0"/>
                </a:moveTo>
                <a:lnTo>
                  <a:pt x="663078" y="0"/>
                </a:lnTo>
                <a:lnTo>
                  <a:pt x="750178" y="76357"/>
                </a:lnTo>
                <a:lnTo>
                  <a:pt x="701595" y="76357"/>
                </a:lnTo>
                <a:close/>
                <a:moveTo>
                  <a:pt x="527027" y="0"/>
                </a:moveTo>
                <a:lnTo>
                  <a:pt x="575611" y="0"/>
                </a:lnTo>
                <a:lnTo>
                  <a:pt x="662802" y="76357"/>
                </a:lnTo>
                <a:lnTo>
                  <a:pt x="614218" y="76357"/>
                </a:lnTo>
                <a:close/>
                <a:moveTo>
                  <a:pt x="439651" y="0"/>
                </a:moveTo>
                <a:lnTo>
                  <a:pt x="488235" y="0"/>
                </a:lnTo>
                <a:lnTo>
                  <a:pt x="575426" y="76357"/>
                </a:lnTo>
                <a:lnTo>
                  <a:pt x="526750" y="76357"/>
                </a:lnTo>
                <a:close/>
                <a:moveTo>
                  <a:pt x="352275" y="0"/>
                </a:moveTo>
                <a:lnTo>
                  <a:pt x="400859" y="0"/>
                </a:lnTo>
                <a:lnTo>
                  <a:pt x="487957" y="76357"/>
                </a:lnTo>
                <a:lnTo>
                  <a:pt x="439374" y="76357"/>
                </a:lnTo>
                <a:close/>
                <a:moveTo>
                  <a:pt x="264899" y="0"/>
                </a:moveTo>
                <a:lnTo>
                  <a:pt x="313482" y="0"/>
                </a:lnTo>
                <a:lnTo>
                  <a:pt x="400581" y="76357"/>
                </a:lnTo>
                <a:lnTo>
                  <a:pt x="351998" y="76357"/>
                </a:lnTo>
                <a:close/>
                <a:moveTo>
                  <a:pt x="0" y="0"/>
                </a:moveTo>
                <a:lnTo>
                  <a:pt x="224536" y="0"/>
                </a:lnTo>
                <a:lnTo>
                  <a:pt x="311635" y="76357"/>
                </a:lnTo>
                <a:lnTo>
                  <a:pt x="87099" y="76357"/>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3403600" y="2590800"/>
            <a:ext cx="619761" cy="242794"/>
          </a:xfrm>
          <a:custGeom>
            <a:avLst/>
            <a:gdLst/>
            <a:ahLst/>
            <a:cxnLst/>
            <a:rect l="l" t="t" r="r" b="b"/>
            <a:pathLst>
              <a:path w="619761" h="242794">
                <a:moveTo>
                  <a:pt x="619761" y="28453"/>
                </a:moveTo>
                <a:lnTo>
                  <a:pt x="619761" y="0"/>
                </a:lnTo>
                <a:lnTo>
                  <a:pt x="115547" y="0"/>
                </a:lnTo>
                <a:lnTo>
                  <a:pt x="0" y="87681"/>
                </a:lnTo>
                <a:lnTo>
                  <a:pt x="0" y="93924"/>
                </a:lnTo>
                <a:lnTo>
                  <a:pt x="0" y="106481"/>
                </a:lnTo>
                <a:lnTo>
                  <a:pt x="0" y="242794"/>
                </a:lnTo>
                <a:lnTo>
                  <a:pt x="36206" y="242794"/>
                </a:lnTo>
                <a:lnTo>
                  <a:pt x="36206" y="94432"/>
                </a:lnTo>
                <a:lnTo>
                  <a:pt x="123398" y="28453"/>
                </a:lnTo>
                <a:close/>
              </a:path>
            </a:pathLst>
          </a:custGeom>
          <a:gradFill rotWithShape="0">
            <a:gsLst>
              <a:gs pos="0">
                <a:srgbClr val="2693EA">
                  <a:alpha val="100000"/>
                </a:srgbClr>
              </a:gs>
              <a:gs pos="47000">
                <a:srgbClr val="1E91D9">
                  <a:alpha val="100000"/>
                </a:srgbClr>
              </a:gs>
              <a:gs pos="100000">
                <a:srgbClr val="1E91D9">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5753100" y="2743200"/>
            <a:ext cx="253630" cy="147127"/>
          </a:xfrm>
          <a:custGeom>
            <a:avLst/>
            <a:gdLst/>
            <a:ahLst/>
            <a:cxnLst/>
            <a:rect l="l" t="t" r="r" b="b"/>
            <a:pathLst>
              <a:path w="253630" h="147127">
                <a:moveTo>
                  <a:pt x="0" y="28453"/>
                </a:moveTo>
                <a:lnTo>
                  <a:pt x="0" y="0"/>
                </a:lnTo>
                <a:lnTo>
                  <a:pt x="138083" y="0"/>
                </a:lnTo>
                <a:lnTo>
                  <a:pt x="253630" y="87681"/>
                </a:lnTo>
                <a:lnTo>
                  <a:pt x="253630" y="93923"/>
                </a:lnTo>
                <a:lnTo>
                  <a:pt x="253630" y="106408"/>
                </a:lnTo>
                <a:lnTo>
                  <a:pt x="253630" y="147127"/>
                </a:lnTo>
                <a:lnTo>
                  <a:pt x="217424" y="147127"/>
                </a:lnTo>
                <a:lnTo>
                  <a:pt x="217424" y="94431"/>
                </a:lnTo>
                <a:lnTo>
                  <a:pt x="130233" y="28453"/>
                </a:lnTo>
                <a:close/>
              </a:path>
            </a:pathLst>
          </a:custGeom>
          <a:gradFill rotWithShape="0">
            <a:gsLst>
              <a:gs pos="0">
                <a:srgbClr val="74BEEC">
                  <a:alpha val="100000"/>
                </a:srgbClr>
              </a:gs>
              <a:gs pos="45000">
                <a:srgbClr val="1E91D9">
                  <a:alpha val="100000"/>
                </a:srgbClr>
              </a:gs>
              <a:gs pos="100000">
                <a:srgbClr val="0A3E67">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3416300" y="2603500"/>
            <a:ext cx="2583875" cy="3284096"/>
          </a:xfrm>
          <a:custGeom>
            <a:avLst/>
            <a:gdLst/>
            <a:ahLst/>
            <a:cxnLst/>
            <a:rect l="l" t="t" r="r" b="b"/>
            <a:pathLst>
              <a:path w="2583875" h="3284096">
                <a:moveTo>
                  <a:pt x="110744" y="0"/>
                </a:moveTo>
                <a:lnTo>
                  <a:pt x="1378160" y="0"/>
                </a:lnTo>
                <a:lnTo>
                  <a:pt x="1544230" y="149885"/>
                </a:lnTo>
                <a:lnTo>
                  <a:pt x="2473225" y="149885"/>
                </a:lnTo>
                <a:lnTo>
                  <a:pt x="2583875" y="227260"/>
                </a:lnTo>
                <a:lnTo>
                  <a:pt x="2583875" y="1175461"/>
                </a:lnTo>
                <a:lnTo>
                  <a:pt x="2583875" y="2258520"/>
                </a:lnTo>
                <a:lnTo>
                  <a:pt x="2583875" y="3206721"/>
                </a:lnTo>
                <a:lnTo>
                  <a:pt x="2485508" y="3284096"/>
                </a:lnTo>
                <a:lnTo>
                  <a:pt x="104557" y="3284096"/>
                </a:lnTo>
                <a:lnTo>
                  <a:pt x="0" y="3201857"/>
                </a:lnTo>
                <a:lnTo>
                  <a:pt x="0" y="2253656"/>
                </a:lnTo>
                <a:lnTo>
                  <a:pt x="0" y="1025576"/>
                </a:lnTo>
                <a:lnTo>
                  <a:pt x="0" y="77375"/>
                </a:lnTo>
                <a:close/>
              </a:path>
            </a:pathLst>
          </a:custGeom>
          <a:gradFill rotWithShape="0">
            <a:gsLst>
              <a:gs pos="0">
                <a:srgbClr val="0A3E67">
                  <a:alpha val="30000"/>
                </a:srgbClr>
              </a:gs>
              <a:gs pos="88000">
                <a:srgbClr val="0A3E67">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216400" y="2908300"/>
            <a:ext cx="977900" cy="825500"/>
          </a:xfrm>
          <a:prstGeom prst="rect">
            <a:avLst/>
          </a:prstGeom>
          <a:noFill/>
          <a:ln w="12700" cap="flat" cmpd="sng">
            <a:noFill/>
            <a:prstDash val="solid"/>
            <a:round/>
          </a:ln>
        </p:spPr>
        <p:txBody>
          <a:bodyPr vert="horz" wrap="none" lIns="88900" tIns="50800" rIns="88900" bIns="50800" rtlCol="0" anchor="b" anchorCtr="0"/>
          <a:lstStyle/>
          <a:p>
            <a:pPr indent="0" algn="ctr">
              <a:lnSpc>
                <a:spcPct val="108000"/>
              </a:lnSpc>
              <a:defRPr/>
            </a:pPr>
            <a:r>
              <a:rPr lang="en-US" sz="4600" b="1" i="1"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20" name="AutoShape 20"/>
          <p:cNvSpPr/>
          <p:nvPr/>
        </p:nvSpPr>
        <p:spPr>
          <a:xfrm>
            <a:off x="3479800" y="3797300"/>
            <a:ext cx="2451100" cy="774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强大插件库</a:t>
            </a:r>
            <a:endParaRPr lang="en-US" sz="1100"/>
          </a:p>
        </p:txBody>
      </p:sp>
      <p:sp>
        <p:nvSpPr>
          <p:cNvPr id="21" name="AutoShape 21"/>
          <p:cNvSpPr/>
          <p:nvPr/>
        </p:nvSpPr>
        <p:spPr>
          <a:xfrm>
            <a:off x="3479800" y="4699000"/>
            <a:ext cx="24511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拥有业界最庞大和更新最频繁的插件库，数量超过120,000个，能快速响应新漏洞。</a:t>
            </a:r>
            <a:endParaRPr lang="en-US" sz="1100"/>
          </a:p>
        </p:txBody>
      </p:sp>
      <p:sp>
        <p:nvSpPr>
          <p:cNvPr id="22" name="Freeform 22"/>
          <p:cNvSpPr/>
          <p:nvPr/>
        </p:nvSpPr>
        <p:spPr>
          <a:xfrm rot="10800000" flipV="1">
            <a:off x="6172200" y="2603500"/>
            <a:ext cx="2597915" cy="2347869"/>
          </a:xfrm>
          <a:custGeom>
            <a:avLst/>
            <a:gdLst/>
            <a:ahLst/>
            <a:cxnLst/>
            <a:rect l="l" t="t" r="r" b="b"/>
            <a:pathLst>
              <a:path w="2597915" h="2347869">
                <a:moveTo>
                  <a:pt x="115362" y="19017"/>
                </a:moveTo>
                <a:lnTo>
                  <a:pt x="24199" y="88189"/>
                </a:lnTo>
                <a:lnTo>
                  <a:pt x="24199" y="185524"/>
                </a:lnTo>
                <a:lnTo>
                  <a:pt x="24291" y="185524"/>
                </a:lnTo>
                <a:lnTo>
                  <a:pt x="24291" y="2156466"/>
                </a:lnTo>
                <a:lnTo>
                  <a:pt x="24199" y="2156466"/>
                </a:lnTo>
                <a:lnTo>
                  <a:pt x="24199" y="2257139"/>
                </a:lnTo>
                <a:lnTo>
                  <a:pt x="112221" y="2328780"/>
                </a:lnTo>
                <a:lnTo>
                  <a:pt x="224166" y="2328780"/>
                </a:lnTo>
                <a:lnTo>
                  <a:pt x="231094" y="2328780"/>
                </a:lnTo>
                <a:lnTo>
                  <a:pt x="2390742" y="2328780"/>
                </a:lnTo>
                <a:lnTo>
                  <a:pt x="2394251" y="2328780"/>
                </a:lnTo>
                <a:lnTo>
                  <a:pt x="2485692" y="2328780"/>
                </a:lnTo>
                <a:lnTo>
                  <a:pt x="2573622" y="2257139"/>
                </a:lnTo>
                <a:lnTo>
                  <a:pt x="2573622" y="2175265"/>
                </a:lnTo>
                <a:lnTo>
                  <a:pt x="2573622" y="2160821"/>
                </a:lnTo>
                <a:lnTo>
                  <a:pt x="2573622" y="317047"/>
                </a:lnTo>
                <a:lnTo>
                  <a:pt x="2573622" y="317047"/>
                </a:lnTo>
                <a:lnTo>
                  <a:pt x="2573622" y="232197"/>
                </a:lnTo>
                <a:lnTo>
                  <a:pt x="2482459" y="163096"/>
                </a:lnTo>
                <a:lnTo>
                  <a:pt x="2389264" y="163096"/>
                </a:lnTo>
                <a:lnTo>
                  <a:pt x="2383814" y="163096"/>
                </a:lnTo>
                <a:lnTo>
                  <a:pt x="1536193" y="163096"/>
                </a:lnTo>
                <a:lnTo>
                  <a:pt x="1376865" y="19017"/>
                </a:lnTo>
                <a:close/>
                <a:moveTo>
                  <a:pt x="111575" y="0"/>
                </a:moveTo>
                <a:lnTo>
                  <a:pt x="1396262" y="0"/>
                </a:lnTo>
                <a:lnTo>
                  <a:pt x="1556144" y="144007"/>
                </a:lnTo>
                <a:lnTo>
                  <a:pt x="2383814" y="144007"/>
                </a:lnTo>
                <a:lnTo>
                  <a:pt x="2389264" y="144007"/>
                </a:lnTo>
                <a:lnTo>
                  <a:pt x="2486339" y="144007"/>
                </a:lnTo>
                <a:lnTo>
                  <a:pt x="2597915" y="228567"/>
                </a:lnTo>
                <a:lnTo>
                  <a:pt x="2597915" y="234809"/>
                </a:lnTo>
                <a:lnTo>
                  <a:pt x="2597915" y="247366"/>
                </a:lnTo>
                <a:lnTo>
                  <a:pt x="2597915" y="325684"/>
                </a:lnTo>
                <a:lnTo>
                  <a:pt x="2597913" y="325684"/>
                </a:lnTo>
                <a:lnTo>
                  <a:pt x="2597913" y="2160821"/>
                </a:lnTo>
                <a:lnTo>
                  <a:pt x="2597913" y="2175265"/>
                </a:lnTo>
                <a:lnTo>
                  <a:pt x="2597913" y="2260115"/>
                </a:lnTo>
                <a:lnTo>
                  <a:pt x="2490310" y="2347797"/>
                </a:lnTo>
                <a:lnTo>
                  <a:pt x="2482366" y="2347797"/>
                </a:lnTo>
                <a:lnTo>
                  <a:pt x="2466388" y="2347797"/>
                </a:lnTo>
                <a:lnTo>
                  <a:pt x="2394251" y="2347797"/>
                </a:lnTo>
                <a:lnTo>
                  <a:pt x="2394251" y="2347869"/>
                </a:lnTo>
                <a:lnTo>
                  <a:pt x="224166" y="2347869"/>
                </a:lnTo>
                <a:lnTo>
                  <a:pt x="224166" y="2347797"/>
                </a:lnTo>
                <a:lnTo>
                  <a:pt x="131434" y="2347797"/>
                </a:lnTo>
                <a:lnTo>
                  <a:pt x="115547" y="2347797"/>
                </a:lnTo>
                <a:lnTo>
                  <a:pt x="107603" y="2347797"/>
                </a:lnTo>
                <a:lnTo>
                  <a:pt x="0" y="2260116"/>
                </a:lnTo>
                <a:lnTo>
                  <a:pt x="0" y="2156466"/>
                </a:lnTo>
                <a:lnTo>
                  <a:pt x="0" y="2142021"/>
                </a:lnTo>
                <a:lnTo>
                  <a:pt x="0" y="200405"/>
                </a:lnTo>
                <a:lnTo>
                  <a:pt x="0" y="185524"/>
                </a:lnTo>
                <a:lnTo>
                  <a:pt x="0" y="103287"/>
                </a:lnTo>
                <a:lnTo>
                  <a:pt x="0" y="90802"/>
                </a:lnTo>
                <a:lnTo>
                  <a:pt x="0" y="84560"/>
                </a:lnTo>
                <a:close/>
              </a:path>
            </a:pathLst>
          </a:custGeom>
          <a:gradFill rotWithShape="0">
            <a:gsLst>
              <a:gs pos="0">
                <a:srgbClr val="0A3E67">
                  <a:alpha val="100000"/>
                </a:srgbClr>
              </a:gs>
              <a:gs pos="100000">
                <a:srgbClr val="1E91D9">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rot="10800000" flipV="1">
            <a:off x="7848600" y="2654300"/>
            <a:ext cx="863693" cy="95157"/>
          </a:xfrm>
          <a:custGeom>
            <a:avLst/>
            <a:gdLst/>
            <a:ahLst/>
            <a:cxnLst/>
            <a:rect l="l" t="t" r="r" b="b"/>
            <a:pathLst>
              <a:path w="863693" h="95157">
                <a:moveTo>
                  <a:pt x="141040" y="0"/>
                </a:moveTo>
                <a:lnTo>
                  <a:pt x="143995" y="0"/>
                </a:lnTo>
                <a:lnTo>
                  <a:pt x="151477" y="0"/>
                </a:lnTo>
                <a:lnTo>
                  <a:pt x="863693" y="0"/>
                </a:lnTo>
                <a:lnTo>
                  <a:pt x="863693" y="10380"/>
                </a:lnTo>
                <a:lnTo>
                  <a:pt x="147320" y="10380"/>
                </a:lnTo>
                <a:lnTo>
                  <a:pt x="90886" y="53204"/>
                </a:lnTo>
                <a:lnTo>
                  <a:pt x="90886" y="37743"/>
                </a:lnTo>
                <a:close/>
                <a:moveTo>
                  <a:pt x="74352" y="0"/>
                </a:moveTo>
                <a:lnTo>
                  <a:pt x="125522" y="0"/>
                </a:lnTo>
                <a:lnTo>
                  <a:pt x="0" y="95157"/>
                </a:lnTo>
                <a:lnTo>
                  <a:pt x="0" y="54945"/>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rot="10800000" flipV="1">
            <a:off x="6527800" y="2641600"/>
            <a:ext cx="750178" cy="76357"/>
          </a:xfrm>
          <a:custGeom>
            <a:avLst/>
            <a:gdLst/>
            <a:ahLst/>
            <a:cxnLst/>
            <a:rect l="l" t="t" r="r" b="b"/>
            <a:pathLst>
              <a:path w="750178" h="76357">
                <a:moveTo>
                  <a:pt x="614496" y="0"/>
                </a:moveTo>
                <a:lnTo>
                  <a:pt x="663078" y="0"/>
                </a:lnTo>
                <a:lnTo>
                  <a:pt x="750178" y="76357"/>
                </a:lnTo>
                <a:lnTo>
                  <a:pt x="701595" y="76357"/>
                </a:lnTo>
                <a:close/>
                <a:moveTo>
                  <a:pt x="527027" y="0"/>
                </a:moveTo>
                <a:lnTo>
                  <a:pt x="575611" y="0"/>
                </a:lnTo>
                <a:lnTo>
                  <a:pt x="662802" y="76357"/>
                </a:lnTo>
                <a:lnTo>
                  <a:pt x="614218" y="76357"/>
                </a:lnTo>
                <a:close/>
                <a:moveTo>
                  <a:pt x="439651" y="0"/>
                </a:moveTo>
                <a:lnTo>
                  <a:pt x="488235" y="0"/>
                </a:lnTo>
                <a:lnTo>
                  <a:pt x="575426" y="76357"/>
                </a:lnTo>
                <a:lnTo>
                  <a:pt x="526750" y="76357"/>
                </a:lnTo>
                <a:close/>
                <a:moveTo>
                  <a:pt x="352275" y="0"/>
                </a:moveTo>
                <a:lnTo>
                  <a:pt x="400859" y="0"/>
                </a:lnTo>
                <a:lnTo>
                  <a:pt x="487957" y="76357"/>
                </a:lnTo>
                <a:lnTo>
                  <a:pt x="439374" y="76357"/>
                </a:lnTo>
                <a:close/>
                <a:moveTo>
                  <a:pt x="264899" y="0"/>
                </a:moveTo>
                <a:lnTo>
                  <a:pt x="313482" y="0"/>
                </a:lnTo>
                <a:lnTo>
                  <a:pt x="400581" y="76357"/>
                </a:lnTo>
                <a:lnTo>
                  <a:pt x="351998" y="76357"/>
                </a:lnTo>
                <a:close/>
                <a:moveTo>
                  <a:pt x="0" y="0"/>
                </a:moveTo>
                <a:lnTo>
                  <a:pt x="224536" y="0"/>
                </a:lnTo>
                <a:lnTo>
                  <a:pt x="311635" y="76357"/>
                </a:lnTo>
                <a:lnTo>
                  <a:pt x="87099" y="76357"/>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rot="10800000" flipV="1">
            <a:off x="8153400" y="2590800"/>
            <a:ext cx="619761" cy="242794"/>
          </a:xfrm>
          <a:custGeom>
            <a:avLst/>
            <a:gdLst/>
            <a:ahLst/>
            <a:cxnLst/>
            <a:rect l="l" t="t" r="r" b="b"/>
            <a:pathLst>
              <a:path w="619761" h="242794">
                <a:moveTo>
                  <a:pt x="619761" y="28453"/>
                </a:moveTo>
                <a:lnTo>
                  <a:pt x="619761" y="0"/>
                </a:lnTo>
                <a:lnTo>
                  <a:pt x="115547" y="0"/>
                </a:lnTo>
                <a:lnTo>
                  <a:pt x="0" y="87681"/>
                </a:lnTo>
                <a:lnTo>
                  <a:pt x="0" y="93924"/>
                </a:lnTo>
                <a:lnTo>
                  <a:pt x="0" y="106481"/>
                </a:lnTo>
                <a:lnTo>
                  <a:pt x="0" y="242794"/>
                </a:lnTo>
                <a:lnTo>
                  <a:pt x="36206" y="242794"/>
                </a:lnTo>
                <a:lnTo>
                  <a:pt x="36206" y="94432"/>
                </a:lnTo>
                <a:lnTo>
                  <a:pt x="123398" y="28453"/>
                </a:lnTo>
                <a:close/>
              </a:path>
            </a:pathLst>
          </a:custGeom>
          <a:gradFill rotWithShape="0">
            <a:gsLst>
              <a:gs pos="0">
                <a:srgbClr val="2693EA">
                  <a:alpha val="100000"/>
                </a:srgbClr>
              </a:gs>
              <a:gs pos="47000">
                <a:srgbClr val="1E91D9">
                  <a:alpha val="100000"/>
                </a:srgbClr>
              </a:gs>
              <a:gs pos="100000">
                <a:srgbClr val="1E91D9">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rot="10800000" flipV="1">
            <a:off x="6172200" y="2743200"/>
            <a:ext cx="253630" cy="147127"/>
          </a:xfrm>
          <a:custGeom>
            <a:avLst/>
            <a:gdLst/>
            <a:ahLst/>
            <a:cxnLst/>
            <a:rect l="l" t="t" r="r" b="b"/>
            <a:pathLst>
              <a:path w="253630" h="147127">
                <a:moveTo>
                  <a:pt x="0" y="28453"/>
                </a:moveTo>
                <a:lnTo>
                  <a:pt x="0" y="0"/>
                </a:lnTo>
                <a:lnTo>
                  <a:pt x="138083" y="0"/>
                </a:lnTo>
                <a:lnTo>
                  <a:pt x="253630" y="87681"/>
                </a:lnTo>
                <a:lnTo>
                  <a:pt x="253630" y="93923"/>
                </a:lnTo>
                <a:lnTo>
                  <a:pt x="253630" y="106408"/>
                </a:lnTo>
                <a:lnTo>
                  <a:pt x="253630" y="147127"/>
                </a:lnTo>
                <a:lnTo>
                  <a:pt x="217424" y="147127"/>
                </a:lnTo>
                <a:lnTo>
                  <a:pt x="217424" y="94431"/>
                </a:lnTo>
                <a:lnTo>
                  <a:pt x="130233" y="28453"/>
                </a:lnTo>
                <a:close/>
              </a:path>
            </a:pathLst>
          </a:custGeom>
          <a:gradFill rotWithShape="0">
            <a:gsLst>
              <a:gs pos="0">
                <a:srgbClr val="74BEEC">
                  <a:alpha val="100000"/>
                </a:srgbClr>
              </a:gs>
              <a:gs pos="45000">
                <a:srgbClr val="1E91D9">
                  <a:alpha val="100000"/>
                </a:srgbClr>
              </a:gs>
              <a:gs pos="100000">
                <a:srgbClr val="0A3E67">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rot="10800000" flipV="1">
            <a:off x="6184900" y="2603500"/>
            <a:ext cx="2583875" cy="3284096"/>
          </a:xfrm>
          <a:custGeom>
            <a:avLst/>
            <a:gdLst/>
            <a:ahLst/>
            <a:cxnLst/>
            <a:rect l="l" t="t" r="r" b="b"/>
            <a:pathLst>
              <a:path w="2583875" h="3284096">
                <a:moveTo>
                  <a:pt x="110744" y="0"/>
                </a:moveTo>
                <a:lnTo>
                  <a:pt x="1378160" y="0"/>
                </a:lnTo>
                <a:lnTo>
                  <a:pt x="1544230" y="149885"/>
                </a:lnTo>
                <a:lnTo>
                  <a:pt x="2473225" y="149885"/>
                </a:lnTo>
                <a:lnTo>
                  <a:pt x="2583875" y="227260"/>
                </a:lnTo>
                <a:lnTo>
                  <a:pt x="2583875" y="1175461"/>
                </a:lnTo>
                <a:lnTo>
                  <a:pt x="2583875" y="2258520"/>
                </a:lnTo>
                <a:lnTo>
                  <a:pt x="2583875" y="3206721"/>
                </a:lnTo>
                <a:lnTo>
                  <a:pt x="2485508" y="3284096"/>
                </a:lnTo>
                <a:lnTo>
                  <a:pt x="104557" y="3284096"/>
                </a:lnTo>
                <a:lnTo>
                  <a:pt x="0" y="3201857"/>
                </a:lnTo>
                <a:lnTo>
                  <a:pt x="0" y="2253656"/>
                </a:lnTo>
                <a:lnTo>
                  <a:pt x="0" y="1025576"/>
                </a:lnTo>
                <a:lnTo>
                  <a:pt x="0" y="77375"/>
                </a:lnTo>
                <a:close/>
              </a:path>
            </a:pathLst>
          </a:custGeom>
          <a:gradFill rotWithShape="0">
            <a:gsLst>
              <a:gs pos="0">
                <a:srgbClr val="0A3E67">
                  <a:alpha val="30000"/>
                </a:srgbClr>
              </a:gs>
              <a:gs pos="88000">
                <a:srgbClr val="0A3E67">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rot="10800000" flipV="1">
            <a:off x="6985000" y="2908300"/>
            <a:ext cx="977900" cy="825500"/>
          </a:xfrm>
          <a:prstGeom prst="rect">
            <a:avLst/>
          </a:prstGeom>
          <a:noFill/>
          <a:ln w="12700" cap="flat" cmpd="sng">
            <a:noFill/>
            <a:prstDash val="solid"/>
            <a:round/>
          </a:ln>
        </p:spPr>
        <p:txBody>
          <a:bodyPr vert="horz" wrap="none" lIns="88900" tIns="50800" rIns="88900" bIns="50800" rtlCol="0" anchor="b" anchorCtr="0"/>
          <a:lstStyle/>
          <a:p>
            <a:pPr indent="0" algn="ctr">
              <a:lnSpc>
                <a:spcPct val="108000"/>
              </a:lnSpc>
              <a:defRPr/>
            </a:pPr>
            <a:r>
              <a:rPr lang="en-US" sz="4600" b="1" i="1"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29" name="AutoShape 29"/>
          <p:cNvSpPr/>
          <p:nvPr/>
        </p:nvSpPr>
        <p:spPr>
          <a:xfrm rot="10800000" flipV="1">
            <a:off x="6248400" y="3797300"/>
            <a:ext cx="2451100" cy="774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技术成熟度高</a:t>
            </a:r>
            <a:endParaRPr lang="en-US" sz="1100"/>
          </a:p>
        </p:txBody>
      </p:sp>
      <p:sp>
        <p:nvSpPr>
          <p:cNvPr id="30" name="AutoShape 30"/>
          <p:cNvSpPr/>
          <p:nvPr/>
        </p:nvSpPr>
        <p:spPr>
          <a:xfrm rot="10800000" flipV="1">
            <a:off x="6248400" y="4699000"/>
            <a:ext cx="24511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经过近三十年发展，扫描引擎和算法不断优化，误报率和漏报率在行业内保持领先水平。</a:t>
            </a:r>
            <a:endParaRPr lang="en-US" sz="1100"/>
          </a:p>
        </p:txBody>
      </p:sp>
      <p:sp>
        <p:nvSpPr>
          <p:cNvPr id="31" name="Freeform 31"/>
          <p:cNvSpPr/>
          <p:nvPr/>
        </p:nvSpPr>
        <p:spPr>
          <a:xfrm rot="10800000" flipV="1">
            <a:off x="8940800" y="2133600"/>
            <a:ext cx="2597915" cy="2347869"/>
          </a:xfrm>
          <a:custGeom>
            <a:avLst/>
            <a:gdLst/>
            <a:ahLst/>
            <a:cxnLst/>
            <a:rect l="l" t="t" r="r" b="b"/>
            <a:pathLst>
              <a:path w="2597915" h="2347869">
                <a:moveTo>
                  <a:pt x="115362" y="19017"/>
                </a:moveTo>
                <a:lnTo>
                  <a:pt x="24199" y="88189"/>
                </a:lnTo>
                <a:lnTo>
                  <a:pt x="24199" y="185524"/>
                </a:lnTo>
                <a:lnTo>
                  <a:pt x="24291" y="185524"/>
                </a:lnTo>
                <a:lnTo>
                  <a:pt x="24291" y="2156466"/>
                </a:lnTo>
                <a:lnTo>
                  <a:pt x="24199" y="2156466"/>
                </a:lnTo>
                <a:lnTo>
                  <a:pt x="24199" y="2257139"/>
                </a:lnTo>
                <a:lnTo>
                  <a:pt x="112221" y="2328780"/>
                </a:lnTo>
                <a:lnTo>
                  <a:pt x="224166" y="2328780"/>
                </a:lnTo>
                <a:lnTo>
                  <a:pt x="231094" y="2328780"/>
                </a:lnTo>
                <a:lnTo>
                  <a:pt x="2390742" y="2328780"/>
                </a:lnTo>
                <a:lnTo>
                  <a:pt x="2394251" y="2328780"/>
                </a:lnTo>
                <a:lnTo>
                  <a:pt x="2485692" y="2328780"/>
                </a:lnTo>
                <a:lnTo>
                  <a:pt x="2573622" y="2257139"/>
                </a:lnTo>
                <a:lnTo>
                  <a:pt x="2573622" y="2175265"/>
                </a:lnTo>
                <a:lnTo>
                  <a:pt x="2573622" y="2160821"/>
                </a:lnTo>
                <a:lnTo>
                  <a:pt x="2573622" y="317047"/>
                </a:lnTo>
                <a:lnTo>
                  <a:pt x="2573622" y="317047"/>
                </a:lnTo>
                <a:lnTo>
                  <a:pt x="2573622" y="232197"/>
                </a:lnTo>
                <a:lnTo>
                  <a:pt x="2482459" y="163096"/>
                </a:lnTo>
                <a:lnTo>
                  <a:pt x="2389264" y="163096"/>
                </a:lnTo>
                <a:lnTo>
                  <a:pt x="2383814" y="163096"/>
                </a:lnTo>
                <a:lnTo>
                  <a:pt x="1536193" y="163096"/>
                </a:lnTo>
                <a:lnTo>
                  <a:pt x="1376865" y="19017"/>
                </a:lnTo>
                <a:close/>
                <a:moveTo>
                  <a:pt x="111575" y="0"/>
                </a:moveTo>
                <a:lnTo>
                  <a:pt x="1396262" y="0"/>
                </a:lnTo>
                <a:lnTo>
                  <a:pt x="1556144" y="144007"/>
                </a:lnTo>
                <a:lnTo>
                  <a:pt x="2383814" y="144007"/>
                </a:lnTo>
                <a:lnTo>
                  <a:pt x="2389264" y="144007"/>
                </a:lnTo>
                <a:lnTo>
                  <a:pt x="2486339" y="144007"/>
                </a:lnTo>
                <a:lnTo>
                  <a:pt x="2597915" y="228567"/>
                </a:lnTo>
                <a:lnTo>
                  <a:pt x="2597915" y="234809"/>
                </a:lnTo>
                <a:lnTo>
                  <a:pt x="2597915" y="247366"/>
                </a:lnTo>
                <a:lnTo>
                  <a:pt x="2597915" y="325684"/>
                </a:lnTo>
                <a:lnTo>
                  <a:pt x="2597913" y="325684"/>
                </a:lnTo>
                <a:lnTo>
                  <a:pt x="2597913" y="2160821"/>
                </a:lnTo>
                <a:lnTo>
                  <a:pt x="2597913" y="2175265"/>
                </a:lnTo>
                <a:lnTo>
                  <a:pt x="2597913" y="2260115"/>
                </a:lnTo>
                <a:lnTo>
                  <a:pt x="2490310" y="2347797"/>
                </a:lnTo>
                <a:lnTo>
                  <a:pt x="2482366" y="2347797"/>
                </a:lnTo>
                <a:lnTo>
                  <a:pt x="2466388" y="2347797"/>
                </a:lnTo>
                <a:lnTo>
                  <a:pt x="2394251" y="2347797"/>
                </a:lnTo>
                <a:lnTo>
                  <a:pt x="2394251" y="2347869"/>
                </a:lnTo>
                <a:lnTo>
                  <a:pt x="224166" y="2347869"/>
                </a:lnTo>
                <a:lnTo>
                  <a:pt x="224166" y="2347797"/>
                </a:lnTo>
                <a:lnTo>
                  <a:pt x="131434" y="2347797"/>
                </a:lnTo>
                <a:lnTo>
                  <a:pt x="115547" y="2347797"/>
                </a:lnTo>
                <a:lnTo>
                  <a:pt x="107603" y="2347797"/>
                </a:lnTo>
                <a:lnTo>
                  <a:pt x="0" y="2260116"/>
                </a:lnTo>
                <a:lnTo>
                  <a:pt x="0" y="2156466"/>
                </a:lnTo>
                <a:lnTo>
                  <a:pt x="0" y="2142021"/>
                </a:lnTo>
                <a:lnTo>
                  <a:pt x="0" y="200405"/>
                </a:lnTo>
                <a:lnTo>
                  <a:pt x="0" y="185524"/>
                </a:lnTo>
                <a:lnTo>
                  <a:pt x="0" y="103287"/>
                </a:lnTo>
                <a:lnTo>
                  <a:pt x="0" y="90802"/>
                </a:lnTo>
                <a:lnTo>
                  <a:pt x="0" y="84560"/>
                </a:lnTo>
                <a:close/>
              </a:path>
            </a:pathLst>
          </a:custGeom>
          <a:gradFill rotWithShape="0">
            <a:gsLst>
              <a:gs pos="0">
                <a:srgbClr val="0A3E67">
                  <a:alpha val="100000"/>
                </a:srgbClr>
              </a:gs>
              <a:gs pos="100000">
                <a:srgbClr val="1E91D9">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rot="10800000" flipV="1">
            <a:off x="10617200" y="2184400"/>
            <a:ext cx="863693" cy="95157"/>
          </a:xfrm>
          <a:custGeom>
            <a:avLst/>
            <a:gdLst/>
            <a:ahLst/>
            <a:cxnLst/>
            <a:rect l="l" t="t" r="r" b="b"/>
            <a:pathLst>
              <a:path w="863693" h="95157">
                <a:moveTo>
                  <a:pt x="141040" y="0"/>
                </a:moveTo>
                <a:lnTo>
                  <a:pt x="143995" y="0"/>
                </a:lnTo>
                <a:lnTo>
                  <a:pt x="151477" y="0"/>
                </a:lnTo>
                <a:lnTo>
                  <a:pt x="863693" y="0"/>
                </a:lnTo>
                <a:lnTo>
                  <a:pt x="863693" y="10380"/>
                </a:lnTo>
                <a:lnTo>
                  <a:pt x="147320" y="10380"/>
                </a:lnTo>
                <a:lnTo>
                  <a:pt x="90886" y="53204"/>
                </a:lnTo>
                <a:lnTo>
                  <a:pt x="90886" y="37743"/>
                </a:lnTo>
                <a:close/>
                <a:moveTo>
                  <a:pt x="74352" y="0"/>
                </a:moveTo>
                <a:lnTo>
                  <a:pt x="125522" y="0"/>
                </a:lnTo>
                <a:lnTo>
                  <a:pt x="0" y="95157"/>
                </a:lnTo>
                <a:lnTo>
                  <a:pt x="0" y="54945"/>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rot="10800000" flipV="1">
            <a:off x="9296400" y="2184400"/>
            <a:ext cx="750178" cy="76357"/>
          </a:xfrm>
          <a:custGeom>
            <a:avLst/>
            <a:gdLst/>
            <a:ahLst/>
            <a:cxnLst/>
            <a:rect l="l" t="t" r="r" b="b"/>
            <a:pathLst>
              <a:path w="750178" h="76357">
                <a:moveTo>
                  <a:pt x="614496" y="0"/>
                </a:moveTo>
                <a:lnTo>
                  <a:pt x="663078" y="0"/>
                </a:lnTo>
                <a:lnTo>
                  <a:pt x="750178" y="76357"/>
                </a:lnTo>
                <a:lnTo>
                  <a:pt x="701595" y="76357"/>
                </a:lnTo>
                <a:close/>
                <a:moveTo>
                  <a:pt x="527027" y="0"/>
                </a:moveTo>
                <a:lnTo>
                  <a:pt x="575611" y="0"/>
                </a:lnTo>
                <a:lnTo>
                  <a:pt x="662802" y="76357"/>
                </a:lnTo>
                <a:lnTo>
                  <a:pt x="614218" y="76357"/>
                </a:lnTo>
                <a:close/>
                <a:moveTo>
                  <a:pt x="439651" y="0"/>
                </a:moveTo>
                <a:lnTo>
                  <a:pt x="488235" y="0"/>
                </a:lnTo>
                <a:lnTo>
                  <a:pt x="575426" y="76357"/>
                </a:lnTo>
                <a:lnTo>
                  <a:pt x="526750" y="76357"/>
                </a:lnTo>
                <a:close/>
                <a:moveTo>
                  <a:pt x="352275" y="0"/>
                </a:moveTo>
                <a:lnTo>
                  <a:pt x="400859" y="0"/>
                </a:lnTo>
                <a:lnTo>
                  <a:pt x="487957" y="76357"/>
                </a:lnTo>
                <a:lnTo>
                  <a:pt x="439374" y="76357"/>
                </a:lnTo>
                <a:close/>
                <a:moveTo>
                  <a:pt x="264899" y="0"/>
                </a:moveTo>
                <a:lnTo>
                  <a:pt x="313482" y="0"/>
                </a:lnTo>
                <a:lnTo>
                  <a:pt x="400581" y="76357"/>
                </a:lnTo>
                <a:lnTo>
                  <a:pt x="351998" y="76357"/>
                </a:lnTo>
                <a:close/>
                <a:moveTo>
                  <a:pt x="0" y="0"/>
                </a:moveTo>
                <a:lnTo>
                  <a:pt x="224536" y="0"/>
                </a:lnTo>
                <a:lnTo>
                  <a:pt x="311635" y="76357"/>
                </a:lnTo>
                <a:lnTo>
                  <a:pt x="87099" y="76357"/>
                </a:lnTo>
                <a:close/>
              </a:path>
            </a:pathLst>
          </a:custGeom>
          <a:gradFill rotWithShape="0">
            <a:gsLst>
              <a:gs pos="0">
                <a:srgbClr val="0A3E67">
                  <a:alpha val="100000"/>
                </a:srgbClr>
              </a:gs>
              <a:gs pos="100000">
                <a:srgbClr val="1E91D9">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rot="10800000" flipV="1">
            <a:off x="10934700" y="2120900"/>
            <a:ext cx="619761" cy="242794"/>
          </a:xfrm>
          <a:custGeom>
            <a:avLst/>
            <a:gdLst/>
            <a:ahLst/>
            <a:cxnLst/>
            <a:rect l="l" t="t" r="r" b="b"/>
            <a:pathLst>
              <a:path w="619761" h="242794">
                <a:moveTo>
                  <a:pt x="619761" y="28453"/>
                </a:moveTo>
                <a:lnTo>
                  <a:pt x="619761" y="0"/>
                </a:lnTo>
                <a:lnTo>
                  <a:pt x="115547" y="0"/>
                </a:lnTo>
                <a:lnTo>
                  <a:pt x="0" y="87681"/>
                </a:lnTo>
                <a:lnTo>
                  <a:pt x="0" y="93924"/>
                </a:lnTo>
                <a:lnTo>
                  <a:pt x="0" y="106481"/>
                </a:lnTo>
                <a:lnTo>
                  <a:pt x="0" y="242794"/>
                </a:lnTo>
                <a:lnTo>
                  <a:pt x="36206" y="242794"/>
                </a:lnTo>
                <a:lnTo>
                  <a:pt x="36206" y="94432"/>
                </a:lnTo>
                <a:lnTo>
                  <a:pt x="123398" y="28453"/>
                </a:lnTo>
                <a:close/>
              </a:path>
            </a:pathLst>
          </a:custGeom>
          <a:gradFill rotWithShape="0">
            <a:gsLst>
              <a:gs pos="0">
                <a:srgbClr val="2693EA">
                  <a:alpha val="100000"/>
                </a:srgbClr>
              </a:gs>
              <a:gs pos="47000">
                <a:srgbClr val="1E91D9">
                  <a:alpha val="100000"/>
                </a:srgbClr>
              </a:gs>
              <a:gs pos="100000">
                <a:srgbClr val="1E91D9">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rot="10800000" flipV="1">
            <a:off x="8940800" y="2273300"/>
            <a:ext cx="253630" cy="147127"/>
          </a:xfrm>
          <a:custGeom>
            <a:avLst/>
            <a:gdLst/>
            <a:ahLst/>
            <a:cxnLst/>
            <a:rect l="l" t="t" r="r" b="b"/>
            <a:pathLst>
              <a:path w="253630" h="147127">
                <a:moveTo>
                  <a:pt x="0" y="28453"/>
                </a:moveTo>
                <a:lnTo>
                  <a:pt x="0" y="0"/>
                </a:lnTo>
                <a:lnTo>
                  <a:pt x="138083" y="0"/>
                </a:lnTo>
                <a:lnTo>
                  <a:pt x="253630" y="87681"/>
                </a:lnTo>
                <a:lnTo>
                  <a:pt x="253630" y="93923"/>
                </a:lnTo>
                <a:lnTo>
                  <a:pt x="253630" y="106408"/>
                </a:lnTo>
                <a:lnTo>
                  <a:pt x="253630" y="147127"/>
                </a:lnTo>
                <a:lnTo>
                  <a:pt x="217424" y="147127"/>
                </a:lnTo>
                <a:lnTo>
                  <a:pt x="217424" y="94431"/>
                </a:lnTo>
                <a:lnTo>
                  <a:pt x="130233" y="28453"/>
                </a:lnTo>
                <a:close/>
              </a:path>
            </a:pathLst>
          </a:custGeom>
          <a:gradFill rotWithShape="0">
            <a:gsLst>
              <a:gs pos="0">
                <a:srgbClr val="74BEEC">
                  <a:alpha val="100000"/>
                </a:srgbClr>
              </a:gs>
              <a:gs pos="45000">
                <a:srgbClr val="1E91D9">
                  <a:alpha val="100000"/>
                </a:srgbClr>
              </a:gs>
              <a:gs pos="100000">
                <a:srgbClr val="0A3E67">
                  <a:alpha val="10000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rot="10800000" flipV="1">
            <a:off x="8953500" y="2133600"/>
            <a:ext cx="2583875" cy="3284096"/>
          </a:xfrm>
          <a:custGeom>
            <a:avLst/>
            <a:gdLst/>
            <a:ahLst/>
            <a:cxnLst/>
            <a:rect l="l" t="t" r="r" b="b"/>
            <a:pathLst>
              <a:path w="2583875" h="3284096">
                <a:moveTo>
                  <a:pt x="110744" y="0"/>
                </a:moveTo>
                <a:lnTo>
                  <a:pt x="1378160" y="0"/>
                </a:lnTo>
                <a:lnTo>
                  <a:pt x="1544230" y="149885"/>
                </a:lnTo>
                <a:lnTo>
                  <a:pt x="2473225" y="149885"/>
                </a:lnTo>
                <a:lnTo>
                  <a:pt x="2583875" y="227260"/>
                </a:lnTo>
                <a:lnTo>
                  <a:pt x="2583875" y="1175461"/>
                </a:lnTo>
                <a:lnTo>
                  <a:pt x="2583875" y="2258520"/>
                </a:lnTo>
                <a:lnTo>
                  <a:pt x="2583875" y="3206721"/>
                </a:lnTo>
                <a:lnTo>
                  <a:pt x="2485508" y="3284096"/>
                </a:lnTo>
                <a:lnTo>
                  <a:pt x="104557" y="3284096"/>
                </a:lnTo>
                <a:lnTo>
                  <a:pt x="0" y="3201857"/>
                </a:lnTo>
                <a:lnTo>
                  <a:pt x="0" y="2253656"/>
                </a:lnTo>
                <a:lnTo>
                  <a:pt x="0" y="1025576"/>
                </a:lnTo>
                <a:lnTo>
                  <a:pt x="0" y="77375"/>
                </a:lnTo>
                <a:close/>
              </a:path>
            </a:pathLst>
          </a:custGeom>
          <a:gradFill rotWithShape="0">
            <a:gsLst>
              <a:gs pos="0">
                <a:srgbClr val="0A3E67">
                  <a:alpha val="30000"/>
                </a:srgbClr>
              </a:gs>
              <a:gs pos="88000">
                <a:srgbClr val="0A3E67">
                  <a:alpha val="0"/>
                </a:srgbClr>
              </a:gs>
            </a:gsLst>
            <a:lin ang="5400000"/>
          </a:gra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rot="10800000" flipV="1">
            <a:off x="9017000" y="3390900"/>
            <a:ext cx="2451100" cy="774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全面覆盖与灵活部署</a:t>
            </a:r>
            <a:endParaRPr lang="en-US" sz="1100"/>
          </a:p>
        </p:txBody>
      </p:sp>
      <p:sp>
        <p:nvSpPr>
          <p:cNvPr id="38" name="AutoShape 38"/>
          <p:cNvSpPr/>
          <p:nvPr/>
        </p:nvSpPr>
        <p:spPr>
          <a:xfrm rot="10800000" flipV="1">
            <a:off x="9017000" y="4279900"/>
            <a:ext cx="2451100" cy="1524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1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支持网络、主机、云、容器等全场景扫描，兼具本地部署与云端运维能力，适配多种操作系统。</a:t>
            </a:r>
            <a:endParaRPr lang="en-US" sz="1100"/>
          </a:p>
        </p:txBody>
      </p:sp>
      <p:sp>
        <p:nvSpPr>
          <p:cNvPr id="39" name="AutoShape 39"/>
          <p:cNvSpPr/>
          <p:nvPr/>
        </p:nvSpPr>
        <p:spPr>
          <a:xfrm rot="10800000" flipV="1">
            <a:off x="9753600" y="2438400"/>
            <a:ext cx="977900" cy="825500"/>
          </a:xfrm>
          <a:prstGeom prst="rect">
            <a:avLst/>
          </a:prstGeom>
          <a:noFill/>
          <a:ln w="12700" cap="flat" cmpd="sng">
            <a:noFill/>
            <a:prstDash val="solid"/>
            <a:round/>
          </a:ln>
        </p:spPr>
        <p:txBody>
          <a:bodyPr vert="horz" wrap="none" lIns="88900" tIns="50800" rIns="88900" bIns="50800" rtlCol="0" anchor="b" anchorCtr="0"/>
          <a:lstStyle/>
          <a:p>
            <a:pPr indent="0" algn="ctr">
              <a:lnSpc>
                <a:spcPct val="108000"/>
              </a:lnSpc>
              <a:defRPr/>
            </a:pPr>
            <a:r>
              <a:rPr lang="en-US" sz="4600" b="1" i="1"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40" name="AutoShape 40"/>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1.2 为何选择Nessus？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cxnSp>
        <p:nvCxnSpPr>
          <p:cNvPr id="2" name="Connector 2"/>
          <p:cNvCxnSpPr/>
          <p:nvPr/>
        </p:nvCxnSpPr>
        <p:spPr>
          <a:xfrm>
            <a:off x="1231900" y="2197100"/>
            <a:ext cx="9715508" cy="12700"/>
          </a:xfrm>
          <a:prstGeom prst="line">
            <a:avLst/>
          </a:prstGeom>
          <a:solidFill>
            <a:srgbClr val="DEE0E3">
              <a:alpha val="100000"/>
            </a:srgbClr>
          </a:solidFill>
          <a:ln w="12700" cap="sq" cmpd="sng">
            <a:solidFill>
              <a:srgbClr val="FFFFFF">
                <a:alpha val="100000"/>
              </a:srgbClr>
            </a:solidFill>
            <a:prstDash val="solid"/>
            <a:miter lim="10000000"/>
            <a:headEnd type="none" w="med" len="med"/>
            <a:tailEnd type="none" w="med" len="med"/>
          </a:ln>
        </p:spPr>
      </p:cxnSp>
      <p:cxnSp>
        <p:nvCxnSpPr>
          <p:cNvPr id="3" name="Connector 3"/>
          <p:cNvCxnSpPr/>
          <p:nvPr>
            <p:custDataLst>
              <p:tags r:id="rId1"/>
            </p:custDataLst>
          </p:nvPr>
        </p:nvCxnSpPr>
        <p:spPr>
          <a:xfrm>
            <a:off x="1231900" y="3175000"/>
            <a:ext cx="9715508" cy="12700"/>
          </a:xfrm>
          <a:prstGeom prst="line">
            <a:avLst/>
          </a:prstGeom>
          <a:solidFill>
            <a:srgbClr val="DEE0E3">
              <a:alpha val="100000"/>
            </a:srgbClr>
          </a:solidFill>
          <a:ln w="12700" cap="sq" cmpd="sng">
            <a:solidFill>
              <a:srgbClr val="FFFFFF">
                <a:alpha val="100000"/>
              </a:srgbClr>
            </a:solidFill>
            <a:prstDash val="solid"/>
            <a:miter lim="10000000"/>
            <a:headEnd type="none" w="med" len="med"/>
            <a:tailEnd type="none" w="med" len="med"/>
          </a:ln>
        </p:spPr>
      </p:cxnSp>
      <p:cxnSp>
        <p:nvCxnSpPr>
          <p:cNvPr id="4" name="Connector 4"/>
          <p:cNvCxnSpPr/>
          <p:nvPr>
            <p:custDataLst>
              <p:tags r:id="rId2"/>
            </p:custDataLst>
          </p:nvPr>
        </p:nvCxnSpPr>
        <p:spPr>
          <a:xfrm>
            <a:off x="1231900" y="4165600"/>
            <a:ext cx="9715508" cy="12700"/>
          </a:xfrm>
          <a:prstGeom prst="line">
            <a:avLst/>
          </a:prstGeom>
          <a:solidFill>
            <a:srgbClr val="DEE0E3">
              <a:alpha val="100000"/>
            </a:srgbClr>
          </a:solidFill>
          <a:ln w="12700" cap="sq" cmpd="sng">
            <a:solidFill>
              <a:srgbClr val="FFFFFF">
                <a:alpha val="100000"/>
              </a:srgbClr>
            </a:solidFill>
            <a:prstDash val="solid"/>
            <a:miter lim="10000000"/>
            <a:headEnd type="none" w="med" len="med"/>
            <a:tailEnd type="none" w="med" len="med"/>
          </a:ln>
        </p:spPr>
      </p:cxnSp>
      <p:cxnSp>
        <p:nvCxnSpPr>
          <p:cNvPr id="5" name="Connector 5"/>
          <p:cNvCxnSpPr/>
          <p:nvPr>
            <p:custDataLst>
              <p:tags r:id="rId3"/>
            </p:custDataLst>
          </p:nvPr>
        </p:nvCxnSpPr>
        <p:spPr>
          <a:xfrm>
            <a:off x="1231900" y="5143500"/>
            <a:ext cx="9715508" cy="12700"/>
          </a:xfrm>
          <a:prstGeom prst="line">
            <a:avLst/>
          </a:prstGeom>
          <a:solidFill>
            <a:srgbClr val="DEE0E3">
              <a:alpha val="100000"/>
            </a:srgbClr>
          </a:solidFill>
          <a:ln w="12700" cap="sq" cmpd="sng">
            <a:solidFill>
              <a:srgbClr val="FFFFFF">
                <a:alpha val="100000"/>
              </a:srgbClr>
            </a:solidFill>
            <a:prstDash val="solid"/>
            <a:miter lim="10000000"/>
            <a:headEnd type="none" w="med" len="med"/>
            <a:tailEnd type="none" w="med" len="med"/>
          </a:ln>
        </p:spPr>
      </p:cxnSp>
      <p:cxnSp>
        <p:nvCxnSpPr>
          <p:cNvPr id="6" name="Connector 6"/>
          <p:cNvCxnSpPr/>
          <p:nvPr/>
        </p:nvCxnSpPr>
        <p:spPr>
          <a:xfrm>
            <a:off x="1231900" y="6134100"/>
            <a:ext cx="9715508" cy="12700"/>
          </a:xfrm>
          <a:prstGeom prst="line">
            <a:avLst/>
          </a:prstGeom>
          <a:solidFill>
            <a:srgbClr val="DEE0E3">
              <a:alpha val="100000"/>
            </a:srgbClr>
          </a:solidFill>
          <a:ln w="12700" cap="sq" cmpd="sng">
            <a:solidFill>
              <a:srgbClr val="FFFFFF">
                <a:alpha val="100000"/>
              </a:srgbClr>
            </a:solidFill>
            <a:prstDash val="solid"/>
            <a:miter lim="10000000"/>
            <a:headEnd type="none" w="med" len="med"/>
            <a:tailEnd type="none" w="med" len="med"/>
          </a:ln>
        </p:spPr>
      </p:cxnSp>
      <p:sp>
        <p:nvSpPr>
          <p:cNvPr id="7" name="AutoShape 7"/>
          <p:cNvSpPr/>
          <p:nvPr/>
        </p:nvSpPr>
        <p:spPr>
          <a:xfrm>
            <a:off x="1231900" y="1130300"/>
            <a:ext cx="9715500" cy="876300"/>
          </a:xfrm>
          <a:prstGeom prst="roundRect">
            <a:avLst>
              <a:gd name="adj" fmla="val 0"/>
            </a:avLst>
          </a:prstGeom>
          <a:solidFill>
            <a:srgbClr val="FFFFFF">
              <a:alpha val="102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384300" y="1206500"/>
            <a:ext cx="9423400" cy="723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部署Nessus的核心价值</a:t>
            </a:r>
            <a:endParaRPr lang="en-US" sz="1100"/>
          </a:p>
        </p:txBody>
      </p:sp>
      <p:sp>
        <p:nvSpPr>
          <p:cNvPr id="9" name="AutoShape 9"/>
          <p:cNvSpPr/>
          <p:nvPr>
            <p:custDataLst>
              <p:tags r:id="rId4"/>
            </p:custDataLst>
          </p:nvPr>
        </p:nvSpPr>
        <p:spPr>
          <a:xfrm>
            <a:off x="1231900" y="2374900"/>
            <a:ext cx="609600" cy="6096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01</a:t>
            </a:r>
            <a:endParaRPr lang="en-US" sz="1100"/>
          </a:p>
        </p:txBody>
      </p:sp>
      <p:sp>
        <p:nvSpPr>
          <p:cNvPr id="10" name="AutoShape 10"/>
          <p:cNvSpPr/>
          <p:nvPr>
            <p:custDataLst>
              <p:tags r:id="rId5"/>
            </p:custDataLst>
          </p:nvPr>
        </p:nvSpPr>
        <p:spPr>
          <a:xfrm>
            <a:off x="4978400" y="2286000"/>
            <a:ext cx="59690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全面识别各类资产的漏洞，并基于CVSS标准进行风险评级，帮助团队优先处理最危险的威胁。</a:t>
            </a:r>
            <a:endParaRPr lang="en-US" sz="1100"/>
          </a:p>
        </p:txBody>
      </p:sp>
      <p:sp>
        <p:nvSpPr>
          <p:cNvPr id="11" name="AutoShape 11"/>
          <p:cNvSpPr/>
          <p:nvPr>
            <p:custDataLst>
              <p:tags r:id="rId6"/>
            </p:custDataLst>
          </p:nvPr>
        </p:nvSpPr>
        <p:spPr>
          <a:xfrm>
            <a:off x="1955800" y="2286000"/>
            <a:ext cx="28829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主动</a:t>
            </a:r>
            <a:r>
              <a:rPr lang="en-US" sz="1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发现</a:t>
            </a:r>
            <a:r>
              <a:rPr lang="zh-CN" altLang="en-US" sz="1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与处理</a:t>
            </a:r>
            <a:r>
              <a:rPr lang="en-US" sz="1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风险</a:t>
            </a:r>
            <a:endParaRPr lang="en-US" sz="18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AutoShape 12"/>
          <p:cNvSpPr/>
          <p:nvPr>
            <p:custDataLst>
              <p:tags r:id="rId7"/>
            </p:custDataLst>
          </p:nvPr>
        </p:nvSpPr>
        <p:spPr>
          <a:xfrm>
            <a:off x="1231900" y="3365500"/>
            <a:ext cx="609600" cy="6096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02</a:t>
            </a:r>
            <a:endParaRPr lang="en-US" sz="1100"/>
          </a:p>
        </p:txBody>
      </p:sp>
      <p:sp>
        <p:nvSpPr>
          <p:cNvPr id="13" name="AutoShape 13"/>
          <p:cNvSpPr/>
          <p:nvPr>
            <p:custDataLst>
              <p:tags r:id="rId8"/>
            </p:custDataLst>
          </p:nvPr>
        </p:nvSpPr>
        <p:spPr>
          <a:xfrm>
            <a:off x="4978400" y="3276600"/>
            <a:ext cx="59690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提供针对PCI DSS、HIPAA、GDPR等主流合规标准的预设策略和自动化报告，简化审计流程。</a:t>
            </a:r>
            <a:endParaRPr lang="en-US" sz="1100"/>
          </a:p>
        </p:txBody>
      </p:sp>
      <p:sp>
        <p:nvSpPr>
          <p:cNvPr id="14" name="AutoShape 14"/>
          <p:cNvSpPr/>
          <p:nvPr>
            <p:custDataLst>
              <p:tags r:id="rId9"/>
            </p:custDataLst>
          </p:nvPr>
        </p:nvSpPr>
        <p:spPr>
          <a:xfrm>
            <a:off x="1955800" y="3276600"/>
            <a:ext cx="28829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合规性审计与报告</a:t>
            </a:r>
            <a:endParaRPr lang="en-US" sz="1100"/>
          </a:p>
        </p:txBody>
      </p:sp>
      <p:sp>
        <p:nvSpPr>
          <p:cNvPr id="15" name="AutoShape 15"/>
          <p:cNvSpPr/>
          <p:nvPr>
            <p:custDataLst>
              <p:tags r:id="rId10"/>
            </p:custDataLst>
          </p:nvPr>
        </p:nvSpPr>
        <p:spPr>
          <a:xfrm>
            <a:off x="1231900" y="4343400"/>
            <a:ext cx="609600" cy="6096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03</a:t>
            </a:r>
            <a:endParaRPr lang="en-US" sz="1100"/>
          </a:p>
        </p:txBody>
      </p:sp>
      <p:sp>
        <p:nvSpPr>
          <p:cNvPr id="16" name="AutoShape 16"/>
          <p:cNvSpPr/>
          <p:nvPr>
            <p:custDataLst>
              <p:tags r:id="rId11"/>
            </p:custDataLst>
          </p:nvPr>
        </p:nvSpPr>
        <p:spPr>
          <a:xfrm>
            <a:off x="4978400" y="4254500"/>
            <a:ext cx="59690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扫描系统配置是否符合安全最佳实践，帮助管理员加固系统，减少攻击面。</a:t>
            </a:r>
            <a:endParaRPr lang="en-US" sz="1100"/>
          </a:p>
        </p:txBody>
      </p:sp>
      <p:sp>
        <p:nvSpPr>
          <p:cNvPr id="17" name="AutoShape 17"/>
          <p:cNvSpPr/>
          <p:nvPr>
            <p:custDataLst>
              <p:tags r:id="rId12"/>
            </p:custDataLst>
          </p:nvPr>
        </p:nvSpPr>
        <p:spPr>
          <a:xfrm>
            <a:off x="1955800" y="4254500"/>
            <a:ext cx="28829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安全基线与配置核查</a:t>
            </a:r>
            <a:endParaRPr lang="en-US" sz="1100"/>
          </a:p>
        </p:txBody>
      </p:sp>
      <p:sp>
        <p:nvSpPr>
          <p:cNvPr id="18" name="AutoShape 18"/>
          <p:cNvSpPr/>
          <p:nvPr>
            <p:custDataLst>
              <p:tags r:id="rId13"/>
            </p:custDataLst>
          </p:nvPr>
        </p:nvSpPr>
        <p:spPr>
          <a:xfrm>
            <a:off x="1231900" y="5334000"/>
            <a:ext cx="609600" cy="6096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04</a:t>
            </a:r>
            <a:endParaRPr lang="en-US" sz="1100"/>
          </a:p>
        </p:txBody>
      </p:sp>
      <p:sp>
        <p:nvSpPr>
          <p:cNvPr id="19" name="AutoShape 19"/>
          <p:cNvSpPr/>
          <p:nvPr>
            <p:custDataLst>
              <p:tags r:id="rId14"/>
            </p:custDataLst>
          </p:nvPr>
        </p:nvSpPr>
        <p:spPr>
          <a:xfrm>
            <a:off x="4978400" y="5245100"/>
            <a:ext cx="59690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每个漏洞都附带详细的描述和解决方案，是安全团队学习的宝贵资源，并能显著缩短漏洞修复时间。</a:t>
            </a:r>
            <a:endParaRPr lang="en-US" sz="1100"/>
          </a:p>
        </p:txBody>
      </p:sp>
      <p:sp>
        <p:nvSpPr>
          <p:cNvPr id="20" name="AutoShape 20"/>
          <p:cNvSpPr/>
          <p:nvPr>
            <p:custDataLst>
              <p:tags r:id="rId15"/>
            </p:custDataLst>
          </p:nvPr>
        </p:nvSpPr>
        <p:spPr>
          <a:xfrm>
            <a:off x="1955800" y="5245100"/>
            <a:ext cx="2882900" cy="800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提升安全意识与响应能力</a:t>
            </a:r>
            <a:endParaRPr lang="en-US" sz="1100"/>
          </a:p>
        </p:txBody>
      </p:sp>
      <p:sp>
        <p:nvSpPr>
          <p:cNvPr id="21" name="AutoShape 21"/>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1.3 Nessus的核心价值——为业务保驾护航</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3" name="Freeform 3"/>
          <p:cNvSpPr/>
          <p:nvPr/>
        </p:nvSpPr>
        <p:spPr>
          <a:xfrm rot="10800000" flipV="1">
            <a:off x="2451100" y="0"/>
            <a:ext cx="9742308" cy="6857999"/>
          </a:xfrm>
          <a:custGeom>
            <a:avLst/>
            <a:gdLst/>
            <a:ahLst/>
            <a:cxnLst/>
            <a:rect l="l" t="t" r="r" b="b"/>
            <a:pathLst>
              <a:path w="9742308" h="6857999">
                <a:moveTo>
                  <a:pt x="3053131" y="6857999"/>
                </a:moveTo>
                <a:lnTo>
                  <a:pt x="0" y="6857999"/>
                </a:lnTo>
                <a:lnTo>
                  <a:pt x="0" y="4300186"/>
                </a:lnTo>
                <a:lnTo>
                  <a:pt x="4209404" y="0"/>
                </a:lnTo>
                <a:lnTo>
                  <a:pt x="9742308" y="0"/>
                </a:lnTo>
                <a:lnTo>
                  <a:pt x="3053131" y="6857999"/>
                </a:lnTo>
                <a:close/>
              </a:path>
            </a:pathLst>
          </a:custGeom>
          <a:solidFill>
            <a:srgbClr val="2F2F2F">
              <a:alpha val="149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close/>
              </a:path>
            </a:pathLst>
          </a:custGeom>
          <a:solidFill>
            <a:srgbClr val="082F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rot="10800000" flipV="1">
            <a:off x="2451100" y="0"/>
            <a:ext cx="4539692" cy="3743852"/>
          </a:xfrm>
          <a:custGeom>
            <a:avLst/>
            <a:gdLst/>
            <a:ahLst/>
            <a:cxnLst/>
            <a:rect l="l" t="t" r="r" b="b"/>
            <a:pathLst>
              <a:path w="4539692" h="3743852">
                <a:moveTo>
                  <a:pt x="4539692" y="0"/>
                </a:moveTo>
                <a:lnTo>
                  <a:pt x="2760665" y="0"/>
                </a:lnTo>
                <a:lnTo>
                  <a:pt x="888740" y="1916828"/>
                </a:lnTo>
                <a:lnTo>
                  <a:pt x="888740" y="1916828"/>
                </a:lnTo>
                <a:lnTo>
                  <a:pt x="0" y="2830340"/>
                </a:lnTo>
                <a:lnTo>
                  <a:pt x="885642" y="3743852"/>
                </a:lnTo>
                <a:lnTo>
                  <a:pt x="4539692" y="0"/>
                </a:lnTo>
                <a:close/>
              </a:path>
            </a:pathLst>
          </a:custGeom>
          <a:solidFill>
            <a:srgbClr val="1E91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rot="10800000" flipV="1">
            <a:off x="6096000" y="0"/>
            <a:ext cx="3641663" cy="2830340"/>
          </a:xfrm>
          <a:custGeom>
            <a:avLst/>
            <a:gdLst/>
            <a:ahLst/>
            <a:cxnLst/>
            <a:rect l="l" t="t" r="r" b="b"/>
            <a:pathLst>
              <a:path w="3641663" h="2830340">
                <a:moveTo>
                  <a:pt x="1779026" y="0"/>
                </a:moveTo>
                <a:lnTo>
                  <a:pt x="0" y="0"/>
                </a:lnTo>
                <a:lnTo>
                  <a:pt x="2752924" y="2830340"/>
                </a:lnTo>
                <a:lnTo>
                  <a:pt x="2752924" y="2830340"/>
                </a:lnTo>
                <a:lnTo>
                  <a:pt x="2749827" y="2830340"/>
                </a:lnTo>
                <a:lnTo>
                  <a:pt x="3641663" y="1916828"/>
                </a:lnTo>
                <a:lnTo>
                  <a:pt x="1779026" y="0"/>
                </a:lnTo>
                <a:close/>
              </a:path>
            </a:pathLst>
          </a:cu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rot="10800000" flipV="1">
            <a:off x="2489200" y="25400"/>
            <a:ext cx="9706244" cy="6832611"/>
          </a:xfrm>
          <a:custGeom>
            <a:avLst/>
            <a:gdLst/>
            <a:ahLst/>
            <a:cxnLst/>
            <a:rect l="l" t="t" r="r" b="b"/>
            <a:pathLst>
              <a:path w="9706244" h="6832611">
                <a:moveTo>
                  <a:pt x="3041829" y="6832611"/>
                </a:moveTo>
                <a:lnTo>
                  <a:pt x="0" y="6832611"/>
                </a:lnTo>
                <a:lnTo>
                  <a:pt x="0" y="4284266"/>
                </a:lnTo>
                <a:lnTo>
                  <a:pt x="4193821" y="0"/>
                </a:lnTo>
                <a:lnTo>
                  <a:pt x="9706244" y="0"/>
                </a:lnTo>
                <a:lnTo>
                  <a:pt x="3041829" y="683261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31165" y="2413000"/>
            <a:ext cx="10160000" cy="1778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 Nessus 架构与工作原理</a:t>
            </a:r>
            <a:endParaRPr lang="en-US" sz="1100"/>
          </a:p>
        </p:txBody>
      </p:sp>
      <p:sp>
        <p:nvSpPr>
          <p:cNvPr id="10" name="AutoShape 10"/>
          <p:cNvSpPr/>
          <p:nvPr/>
        </p:nvSpPr>
        <p:spPr>
          <a:xfrm>
            <a:off x="762000" y="5052695"/>
            <a:ext cx="10160000" cy="1270000"/>
          </a:xfrm>
          <a:prstGeom prst="rect">
            <a:avLst/>
          </a:prstGeom>
          <a:noFill/>
          <a:ln w="12700" cap="flat" cmpd="sng">
            <a:noFill/>
            <a:prstDash val="solid"/>
            <a:round/>
          </a:ln>
        </p:spPr>
        <p:txBody>
          <a:bodyPr vert="horz" wrap="square" lIns="88900" tIns="127000" rIns="88900" bIns="50800" rtlCol="0" anchor="t" anchorCtr="0"/>
          <a:lstStyle/>
          <a:p>
            <a:pPr indent="0" algn="l">
              <a:lnSpc>
                <a:spcPct val="125000"/>
              </a:lnSpc>
              <a:defRPr/>
            </a:pPr>
            <a:r>
              <a:rPr lang="en-US" sz="18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深入理解 Nessus 的内部逻辑，是高效使用与故障排查的关键前提</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cxnSp>
        <p:nvCxnSpPr>
          <p:cNvPr id="2" name="Connector 2"/>
          <p:cNvCxnSpPr/>
          <p:nvPr/>
        </p:nvCxnSpPr>
        <p:spPr>
          <a:xfrm>
            <a:off x="2870200" y="1320800"/>
            <a:ext cx="6146813"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cxnSp>
        <p:nvCxnSpPr>
          <p:cNvPr id="3" name="Connector 3"/>
          <p:cNvCxnSpPr/>
          <p:nvPr/>
        </p:nvCxnSpPr>
        <p:spPr>
          <a:xfrm rot="-2967495">
            <a:off x="2635783" y="1415944"/>
            <a:ext cx="278533"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cxnSp>
        <p:nvCxnSpPr>
          <p:cNvPr id="4" name="Connector 4"/>
          <p:cNvCxnSpPr/>
          <p:nvPr/>
        </p:nvCxnSpPr>
        <p:spPr>
          <a:xfrm>
            <a:off x="812800" y="1524000"/>
            <a:ext cx="1866943"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sp>
        <p:nvSpPr>
          <p:cNvPr id="5" name="AutoShape 5"/>
          <p:cNvSpPr/>
          <p:nvPr/>
        </p:nvSpPr>
        <p:spPr>
          <a:xfrm>
            <a:off x="660400" y="1447800"/>
            <a:ext cx="152400" cy="152400"/>
          </a:xfrm>
          <a:prstGeom prst="roundRect">
            <a:avLst>
              <a:gd name="adj" fmla="val 0"/>
            </a:avLst>
          </a:pr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427720" y="502920"/>
            <a:ext cx="3091180" cy="1714500"/>
          </a:xfrm>
          <a:prstGeom prst="rect">
            <a:avLst/>
          </a:prstGeom>
          <a:solidFill>
            <a:srgbClr val="082F4D">
              <a:alpha val="94900"/>
            </a:srgbClr>
          </a:solidFill>
          <a:ln w="12700" cap="flat" cmpd="sng">
            <a:noFill/>
            <a:prstDash val="solid"/>
            <a:round/>
          </a:ln>
        </p:spPr>
        <p:txBody>
          <a:bodyPr vert="horz" wrap="square" lIns="88900" tIns="50800" rIns="88900" bIns="50800" rtlCol="0" anchor="ctr" anchorCtr="0"/>
          <a:lstStyle/>
          <a:p>
            <a:pPr indent="0" algn="l">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Nessus的客户端/服务器模型与通信机制</a:t>
            </a:r>
            <a:endParaRPr lang="en-US" sz="1100"/>
          </a:p>
        </p:txBody>
      </p:sp>
      <p:sp>
        <p:nvSpPr>
          <p:cNvPr id="7" name="AutoShape 7"/>
          <p:cNvSpPr/>
          <p:nvPr>
            <p:custDataLst>
              <p:tags r:id="rId1"/>
            </p:custDataLst>
          </p:nvPr>
        </p:nvSpPr>
        <p:spPr>
          <a:xfrm>
            <a:off x="4112895" y="1955800"/>
            <a:ext cx="353060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Nessus采用经典的客户端/服务器（C/S）架构，将管理界面与扫描引擎分离，实现集中管控与分布式扫描。</a:t>
            </a:r>
            <a:endParaRPr lang="en-US" sz="1100"/>
          </a:p>
        </p:txBody>
      </p:sp>
      <p:sp>
        <p:nvSpPr>
          <p:cNvPr id="8" name="AutoShape 8"/>
          <p:cNvSpPr/>
          <p:nvPr>
            <p:custDataLst>
              <p:tags r:id="rId2"/>
            </p:custDataLst>
          </p:nvPr>
        </p:nvSpPr>
        <p:spPr>
          <a:xfrm>
            <a:off x="5131435" y="1532255"/>
            <a:ext cx="3530600" cy="431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C/S架构</a:t>
            </a:r>
            <a:endParaRPr lang="en-US" sz="1100"/>
          </a:p>
        </p:txBody>
      </p:sp>
      <p:sp>
        <p:nvSpPr>
          <p:cNvPr id="10" name="AutoShape 10"/>
          <p:cNvSpPr/>
          <p:nvPr>
            <p:custDataLst>
              <p:tags r:id="rId3"/>
            </p:custDataLst>
          </p:nvPr>
        </p:nvSpPr>
        <p:spPr>
          <a:xfrm>
            <a:off x="1079500" y="4019550"/>
            <a:ext cx="2817495"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管理端（通常为Web UI）负责提供用户操作界面，用于配置策略、创建任务、监控进度和查看报告。</a:t>
            </a:r>
            <a:endParaRPr lang="en-US" sz="1100"/>
          </a:p>
        </p:txBody>
      </p:sp>
      <p:sp>
        <p:nvSpPr>
          <p:cNvPr id="11" name="AutoShape 11"/>
          <p:cNvSpPr/>
          <p:nvPr>
            <p:custDataLst>
              <p:tags r:id="rId4"/>
            </p:custDataLst>
          </p:nvPr>
        </p:nvSpPr>
        <p:spPr>
          <a:xfrm>
            <a:off x="1079500" y="3587750"/>
            <a:ext cx="3530600" cy="431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管理端</a:t>
            </a:r>
            <a:endParaRPr lang="en-US" sz="1100"/>
          </a:p>
        </p:txBody>
      </p:sp>
      <p:sp>
        <p:nvSpPr>
          <p:cNvPr id="13" name="AutoShape 13"/>
          <p:cNvSpPr/>
          <p:nvPr>
            <p:custDataLst>
              <p:tags r:id="rId5"/>
            </p:custDataLst>
          </p:nvPr>
        </p:nvSpPr>
        <p:spPr>
          <a:xfrm>
            <a:off x="8427720" y="4019550"/>
            <a:ext cx="2761615"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扫描引擎是执行具体扫描任务的核心组件，负责加载插件、发起网络探测、分析响应数据并生成原始结果。</a:t>
            </a:r>
            <a:endParaRPr lang="en-US" sz="1100"/>
          </a:p>
        </p:txBody>
      </p:sp>
      <p:sp>
        <p:nvSpPr>
          <p:cNvPr id="14" name="AutoShape 14"/>
          <p:cNvSpPr/>
          <p:nvPr>
            <p:custDataLst>
              <p:tags r:id="rId6"/>
            </p:custDataLst>
          </p:nvPr>
        </p:nvSpPr>
        <p:spPr>
          <a:xfrm>
            <a:off x="8427720" y="3587750"/>
            <a:ext cx="2922270" cy="431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扫描引擎</a:t>
            </a:r>
            <a:endParaRPr lang="en-US" sz="1100"/>
          </a:p>
        </p:txBody>
      </p:sp>
      <p:sp>
        <p:nvSpPr>
          <p:cNvPr id="16" name="AutoShape 16"/>
          <p:cNvSpPr/>
          <p:nvPr>
            <p:custDataLst>
              <p:tags r:id="rId7"/>
            </p:custDataLst>
          </p:nvPr>
        </p:nvSpPr>
        <p:spPr>
          <a:xfrm>
            <a:off x="4610735" y="4858385"/>
            <a:ext cx="270637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客户端与服务器之间通过加密通道（如HTTPS）进行通信，确保配置信息和扫描结果在传输过程中的机密性与完整性。</a:t>
            </a:r>
            <a:endParaRPr lang="en-US" sz="1100"/>
          </a:p>
        </p:txBody>
      </p:sp>
      <p:sp>
        <p:nvSpPr>
          <p:cNvPr id="17" name="AutoShape 17"/>
          <p:cNvSpPr/>
          <p:nvPr>
            <p:custDataLst>
              <p:tags r:id="rId8"/>
            </p:custDataLst>
          </p:nvPr>
        </p:nvSpPr>
        <p:spPr>
          <a:xfrm>
            <a:off x="5363845" y="4426585"/>
            <a:ext cx="3530600" cy="4318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通信</a:t>
            </a: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机制</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2.1 架构解析</a:t>
            </a:r>
            <a:endParaRPr lang="en-US" sz="1100"/>
          </a:p>
        </p:txBody>
      </p:sp>
      <p:cxnSp>
        <p:nvCxnSpPr>
          <p:cNvPr id="20" name="直接箭头连接符 19"/>
          <p:cNvCxnSpPr/>
          <p:nvPr>
            <p:custDataLst>
              <p:tags r:id="rId9"/>
            </p:custDataLst>
          </p:nvPr>
        </p:nvCxnSpPr>
        <p:spPr>
          <a:xfrm flipV="1">
            <a:off x="4058285" y="4065270"/>
            <a:ext cx="4124960" cy="6350"/>
          </a:xfrm>
          <a:prstGeom prst="straightConnector1">
            <a:avLst/>
          </a:prstGeom>
          <a:ln>
            <a:solidFill>
              <a:srgbClr val="082F4C"/>
            </a:solidFill>
            <a:headEnd type="arrow"/>
            <a:tailEnd type="arrow"/>
          </a:ln>
        </p:spPr>
        <p:style>
          <a:lnRef idx="2">
            <a:schemeClr val="accent1"/>
          </a:lnRef>
          <a:fillRef idx="0">
            <a:srgbClr val="FFFFFF"/>
          </a:fillRef>
          <a:effectRef idx="0">
            <a:srgbClr val="FFFFFF"/>
          </a:effectRef>
          <a:fontRef idx="minor">
            <a:schemeClr val="tx1"/>
          </a:fontRef>
        </p:style>
      </p:cxnSp>
      <p:sp>
        <p:nvSpPr>
          <p:cNvPr id="21" name="AutoShape 4"/>
          <p:cNvSpPr/>
          <p:nvPr>
            <p:custDataLst>
              <p:tags r:id="rId10"/>
            </p:custDataLst>
          </p:nvPr>
        </p:nvSpPr>
        <p:spPr>
          <a:xfrm>
            <a:off x="965835" y="3491865"/>
            <a:ext cx="3011170" cy="1456055"/>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
        <p:nvSpPr>
          <p:cNvPr id="22" name="AutoShape 4"/>
          <p:cNvSpPr/>
          <p:nvPr>
            <p:custDataLst>
              <p:tags r:id="rId11"/>
            </p:custDataLst>
          </p:nvPr>
        </p:nvSpPr>
        <p:spPr>
          <a:xfrm>
            <a:off x="8307070" y="3492500"/>
            <a:ext cx="3011170" cy="1456055"/>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cxnSp>
        <p:nvCxnSpPr>
          <p:cNvPr id="2" name="Connector 2"/>
          <p:cNvCxnSpPr/>
          <p:nvPr>
            <p:custDataLst>
              <p:tags r:id="rId1"/>
            </p:custDataLst>
          </p:nvPr>
        </p:nvCxnSpPr>
        <p:spPr>
          <a:xfrm>
            <a:off x="1790700" y="3340100"/>
            <a:ext cx="2628931" cy="12700"/>
          </a:xfrm>
          <a:prstGeom prst="line">
            <a:avLst/>
          </a:prstGeom>
          <a:solidFill>
            <a:srgbClr val="DEE0E3">
              <a:alpha val="100000"/>
            </a:srgbClr>
          </a:solidFill>
          <a:ln w="12700" cap="sq" cmpd="sng">
            <a:solidFill>
              <a:srgbClr val="6323FA">
                <a:alpha val="100000"/>
              </a:srgbClr>
            </a:solidFill>
            <a:prstDash val="solid"/>
            <a:miter lim="10000000"/>
            <a:headEnd type="none" w="med" len="med"/>
            <a:tailEnd type="none" w="med" len="med"/>
          </a:ln>
        </p:spPr>
      </p:cxnSp>
      <p:cxnSp>
        <p:nvCxnSpPr>
          <p:cNvPr id="3" name="Connector 3"/>
          <p:cNvCxnSpPr/>
          <p:nvPr>
            <p:custDataLst>
              <p:tags r:id="rId2"/>
            </p:custDataLst>
          </p:nvPr>
        </p:nvCxnSpPr>
        <p:spPr>
          <a:xfrm>
            <a:off x="4914900" y="3340100"/>
            <a:ext cx="2349534" cy="12700"/>
          </a:xfrm>
          <a:prstGeom prst="line">
            <a:avLst/>
          </a:prstGeom>
          <a:solidFill>
            <a:srgbClr val="DEE0E3">
              <a:alpha val="100000"/>
            </a:srgbClr>
          </a:solidFill>
          <a:ln w="12700" cap="sq" cmpd="sng">
            <a:solidFill>
              <a:srgbClr val="6323FA">
                <a:alpha val="100000"/>
              </a:srgbClr>
            </a:solidFill>
            <a:prstDash val="solid"/>
            <a:miter lim="10000000"/>
            <a:headEnd type="none" w="med" len="med"/>
            <a:tailEnd type="none" w="med" len="med"/>
          </a:ln>
        </p:spPr>
      </p:cxnSp>
      <p:cxnSp>
        <p:nvCxnSpPr>
          <p:cNvPr id="4" name="Connector 4"/>
          <p:cNvCxnSpPr/>
          <p:nvPr>
            <p:custDataLst>
              <p:tags r:id="rId3"/>
            </p:custDataLst>
          </p:nvPr>
        </p:nvCxnSpPr>
        <p:spPr>
          <a:xfrm>
            <a:off x="7747000" y="3340100"/>
            <a:ext cx="2641631" cy="12700"/>
          </a:xfrm>
          <a:prstGeom prst="line">
            <a:avLst/>
          </a:prstGeom>
          <a:solidFill>
            <a:srgbClr val="DEE0E3">
              <a:alpha val="100000"/>
            </a:srgbClr>
          </a:solidFill>
          <a:ln w="12700" cap="sq" cmpd="sng">
            <a:solidFill>
              <a:srgbClr val="6323FA">
                <a:alpha val="100000"/>
              </a:srgbClr>
            </a:solidFill>
            <a:prstDash val="solid"/>
            <a:miter lim="10000000"/>
            <a:headEnd type="none" w="med" len="med"/>
            <a:tailEnd type="none" w="med" len="med"/>
          </a:ln>
        </p:spPr>
      </p:cxnSp>
      <p:sp>
        <p:nvSpPr>
          <p:cNvPr id="5" name="AutoShape 5"/>
          <p:cNvSpPr/>
          <p:nvPr/>
        </p:nvSpPr>
        <p:spPr>
          <a:xfrm>
            <a:off x="660400" y="1130300"/>
            <a:ext cx="10858500" cy="13716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a:t>
            </a: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一次完整漏洞扫描的四个阶段</a:t>
            </a:r>
            <a:endParaRPr lang="en-US" sz="1100"/>
          </a:p>
        </p:txBody>
      </p:sp>
      <p:sp>
        <p:nvSpPr>
          <p:cNvPr id="6" name="AutoShape 6"/>
          <p:cNvSpPr/>
          <p:nvPr>
            <p:custDataLst>
              <p:tags r:id="rId4"/>
            </p:custDataLst>
          </p:nvPr>
        </p:nvSpPr>
        <p:spPr>
          <a:xfrm>
            <a:off x="1612900" y="3111500"/>
            <a:ext cx="482600" cy="482600"/>
          </a:xfrm>
          <a:prstGeom prst="roundRect">
            <a:avLst>
              <a:gd name="adj" fmla="val 15789"/>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7" name="AutoShape 7"/>
          <p:cNvSpPr/>
          <p:nvPr>
            <p:custDataLst>
              <p:tags r:id="rId5"/>
            </p:custDataLst>
          </p:nvPr>
        </p:nvSpPr>
        <p:spPr>
          <a:xfrm>
            <a:off x="660400" y="3670300"/>
            <a:ext cx="2400300" cy="787400"/>
          </a:xfrm>
          <a:prstGeom prst="rect">
            <a:avLst/>
          </a:prstGeom>
          <a:noFill/>
          <a:ln w="12700" cap="flat" cmpd="sng">
            <a:noFill/>
            <a:prstDash val="solid"/>
            <a:round/>
          </a:ln>
        </p:spPr>
        <p:txBody>
          <a:bodyPr vert="horz" wrap="square" lIns="88900" tIns="50800" rIns="88900" bIns="50800" rtlCol="0" anchor="b" anchorCtr="1"/>
          <a:lstStyle/>
          <a:p>
            <a:pPr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阶段一：目标发现</a:t>
            </a:r>
            <a:endParaRPr lang="en-US" sz="1100"/>
          </a:p>
        </p:txBody>
      </p:sp>
      <p:sp>
        <p:nvSpPr>
          <p:cNvPr id="8" name="AutoShape 8"/>
          <p:cNvSpPr/>
          <p:nvPr>
            <p:custDataLst>
              <p:tags r:id="rId6"/>
            </p:custDataLst>
          </p:nvPr>
        </p:nvSpPr>
        <p:spPr>
          <a:xfrm>
            <a:off x="660400" y="4457700"/>
            <a:ext cx="2534920" cy="1676400"/>
          </a:xfrm>
          <a:prstGeom prst="rect">
            <a:avLst/>
          </a:prstGeom>
          <a:noFill/>
          <a:ln w="12700" cap="flat" cmpd="sng">
            <a:noFill/>
            <a:prstDash val="solid"/>
            <a:round/>
          </a:ln>
        </p:spPr>
        <p:txBody>
          <a:bodyPr vert="horz" wrap="square" lIns="88900" tIns="50800" rIns="88900" bIns="50800" rtlCol="0" anchor="t" anchorCtr="1"/>
          <a:lstStyle/>
          <a:p>
            <a:pPr indent="0" algn="ct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扫描器首先对指定的目标范围进行主机发现（Ping Sweep）和端口扫描（Port Scan），以确定存活主机及其开放端口。</a:t>
            </a:r>
            <a:endParaRPr lang="en-US" sz="1100"/>
          </a:p>
        </p:txBody>
      </p:sp>
      <p:sp>
        <p:nvSpPr>
          <p:cNvPr id="9" name="AutoShape 9"/>
          <p:cNvSpPr/>
          <p:nvPr>
            <p:custDataLst>
              <p:tags r:id="rId7"/>
            </p:custDataLst>
          </p:nvPr>
        </p:nvSpPr>
        <p:spPr>
          <a:xfrm>
            <a:off x="4432300" y="3111500"/>
            <a:ext cx="482600" cy="482600"/>
          </a:xfrm>
          <a:prstGeom prst="roundRect">
            <a:avLst>
              <a:gd name="adj" fmla="val 15789"/>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10" name="AutoShape 10"/>
          <p:cNvSpPr/>
          <p:nvPr>
            <p:custDataLst>
              <p:tags r:id="rId8"/>
            </p:custDataLst>
          </p:nvPr>
        </p:nvSpPr>
        <p:spPr>
          <a:xfrm>
            <a:off x="3479800" y="3670300"/>
            <a:ext cx="2400300" cy="787400"/>
          </a:xfrm>
          <a:prstGeom prst="rect">
            <a:avLst/>
          </a:prstGeom>
          <a:noFill/>
          <a:ln w="12700" cap="flat" cmpd="sng">
            <a:noFill/>
            <a:prstDash val="solid"/>
            <a:round/>
          </a:ln>
        </p:spPr>
        <p:txBody>
          <a:bodyPr vert="horz" wrap="square" lIns="88900" tIns="50800" rIns="88900" bIns="50800" rtlCol="0" anchor="b" anchorCtr="1"/>
          <a:lstStyle/>
          <a:p>
            <a:pPr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阶段二：服务识别</a:t>
            </a:r>
            <a:endParaRPr lang="en-US" sz="1100"/>
          </a:p>
        </p:txBody>
      </p:sp>
      <p:sp>
        <p:nvSpPr>
          <p:cNvPr id="11" name="AutoShape 11"/>
          <p:cNvSpPr/>
          <p:nvPr>
            <p:custDataLst>
              <p:tags r:id="rId9"/>
            </p:custDataLst>
          </p:nvPr>
        </p:nvSpPr>
        <p:spPr>
          <a:xfrm>
            <a:off x="3479800" y="4457700"/>
            <a:ext cx="2468880" cy="1676400"/>
          </a:xfrm>
          <a:prstGeom prst="rect">
            <a:avLst/>
          </a:prstGeom>
          <a:noFill/>
          <a:ln w="12700" cap="flat" cmpd="sng">
            <a:noFill/>
            <a:prstDash val="solid"/>
            <a:round/>
          </a:ln>
        </p:spPr>
        <p:txBody>
          <a:bodyPr vert="horz" wrap="square" lIns="88900" tIns="50800" rIns="88900" bIns="50800" rtlCol="0" anchor="t" anchorCtr="1"/>
          <a:lstStyle/>
          <a:p>
            <a:pPr indent="0" algn="ct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在发现开放端口后，扫描器会尝试与目标服务进行交互，通过分析服务返回的Banner信息或特定探测包，识别出服务类型及版本。</a:t>
            </a:r>
            <a:endParaRPr lang="en-US" sz="1100"/>
          </a:p>
        </p:txBody>
      </p:sp>
      <p:sp>
        <p:nvSpPr>
          <p:cNvPr id="12" name="AutoShape 12"/>
          <p:cNvSpPr/>
          <p:nvPr>
            <p:custDataLst>
              <p:tags r:id="rId10"/>
            </p:custDataLst>
          </p:nvPr>
        </p:nvSpPr>
        <p:spPr>
          <a:xfrm>
            <a:off x="7264400" y="3111500"/>
            <a:ext cx="482600" cy="482600"/>
          </a:xfrm>
          <a:prstGeom prst="roundRect">
            <a:avLst>
              <a:gd name="adj" fmla="val 15789"/>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3" name="AutoShape 13"/>
          <p:cNvSpPr/>
          <p:nvPr>
            <p:custDataLst>
              <p:tags r:id="rId11"/>
            </p:custDataLst>
          </p:nvPr>
        </p:nvSpPr>
        <p:spPr>
          <a:xfrm>
            <a:off x="6299200" y="3670300"/>
            <a:ext cx="2400300" cy="787400"/>
          </a:xfrm>
          <a:prstGeom prst="rect">
            <a:avLst/>
          </a:prstGeom>
          <a:noFill/>
          <a:ln w="12700" cap="flat" cmpd="sng">
            <a:noFill/>
            <a:prstDash val="solid"/>
            <a:round/>
          </a:ln>
        </p:spPr>
        <p:txBody>
          <a:bodyPr vert="horz" wrap="square" lIns="88900" tIns="50800" rIns="88900" bIns="50800" rtlCol="0" anchor="b" anchorCtr="1"/>
          <a:lstStyle/>
          <a:p>
            <a:pPr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阶段三：漏洞检测</a:t>
            </a:r>
            <a:endParaRPr lang="en-US" sz="1100"/>
          </a:p>
        </p:txBody>
      </p:sp>
      <p:sp>
        <p:nvSpPr>
          <p:cNvPr id="14" name="AutoShape 14"/>
          <p:cNvSpPr/>
          <p:nvPr>
            <p:custDataLst>
              <p:tags r:id="rId12"/>
            </p:custDataLst>
          </p:nvPr>
        </p:nvSpPr>
        <p:spPr>
          <a:xfrm>
            <a:off x="6240145" y="4457700"/>
            <a:ext cx="2535555" cy="1676400"/>
          </a:xfrm>
          <a:prstGeom prst="rect">
            <a:avLst/>
          </a:prstGeom>
          <a:noFill/>
          <a:ln w="12700" cap="flat" cmpd="sng">
            <a:noFill/>
            <a:prstDash val="solid"/>
            <a:round/>
          </a:ln>
        </p:spPr>
        <p:txBody>
          <a:bodyPr vert="horz" wrap="square" lIns="88900" tIns="50800" rIns="88900" bIns="50800" rtlCol="0" anchor="t" anchorCtr="1"/>
          <a:lstStyle/>
          <a:p>
            <a:pPr indent="0" algn="ct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根据识别出的服务信息，扫描器会激活对应的漏洞检测插件。这些插件会模拟攻击行为或发送特定探测，以验证目标是否存在已知漏洞。</a:t>
            </a:r>
            <a:endParaRPr lang="en-US" sz="1100"/>
          </a:p>
        </p:txBody>
      </p:sp>
      <p:sp>
        <p:nvSpPr>
          <p:cNvPr id="15" name="AutoShape 15"/>
          <p:cNvSpPr/>
          <p:nvPr>
            <p:custDataLst>
              <p:tags r:id="rId13"/>
            </p:custDataLst>
          </p:nvPr>
        </p:nvSpPr>
        <p:spPr>
          <a:xfrm>
            <a:off x="10083800" y="3111500"/>
            <a:ext cx="482600" cy="482600"/>
          </a:xfrm>
          <a:prstGeom prst="roundRect">
            <a:avLst>
              <a:gd name="adj" fmla="val 15789"/>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16" name="AutoShape 16"/>
          <p:cNvSpPr/>
          <p:nvPr>
            <p:custDataLst>
              <p:tags r:id="rId14"/>
            </p:custDataLst>
          </p:nvPr>
        </p:nvSpPr>
        <p:spPr>
          <a:xfrm>
            <a:off x="9118600" y="3670300"/>
            <a:ext cx="2400300" cy="787400"/>
          </a:xfrm>
          <a:prstGeom prst="rect">
            <a:avLst/>
          </a:prstGeom>
          <a:noFill/>
          <a:ln w="12700" cap="flat" cmpd="sng">
            <a:noFill/>
            <a:prstDash val="solid"/>
            <a:round/>
          </a:ln>
        </p:spPr>
        <p:txBody>
          <a:bodyPr vert="horz" wrap="square" lIns="88900" tIns="50800" rIns="88900" bIns="50800" rtlCol="0" anchor="b" anchorCtr="1"/>
          <a:lstStyle/>
          <a:p>
            <a:pPr indent="0" algn="ct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阶段四：结果生成</a:t>
            </a:r>
            <a:endParaRPr lang="en-US" sz="1100"/>
          </a:p>
        </p:txBody>
      </p:sp>
      <p:sp>
        <p:nvSpPr>
          <p:cNvPr id="17" name="AutoShape 17"/>
          <p:cNvSpPr/>
          <p:nvPr>
            <p:custDataLst>
              <p:tags r:id="rId15"/>
            </p:custDataLst>
          </p:nvPr>
        </p:nvSpPr>
        <p:spPr>
          <a:xfrm>
            <a:off x="9067165" y="4457700"/>
            <a:ext cx="2451735" cy="1676400"/>
          </a:xfrm>
          <a:prstGeom prst="rect">
            <a:avLst/>
          </a:prstGeom>
          <a:noFill/>
          <a:ln w="12700" cap="flat" cmpd="sng">
            <a:noFill/>
            <a:prstDash val="solid"/>
            <a:round/>
          </a:ln>
        </p:spPr>
        <p:txBody>
          <a:bodyPr vert="horz" wrap="square" lIns="88900" tIns="50800" rIns="88900" bIns="50800" rtlCol="0" anchor="t" anchorCtr="1"/>
          <a:lstStyle/>
          <a:p>
            <a:pPr indent="0" algn="ct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所有检测完成后，扫描引擎将原始数据整理成结构化的漏洞报告，包含漏洞详情、风险等级、CVE编号及修复建议，并传递给管理端。</a:t>
            </a:r>
            <a:endParaRPr lang="en-US" sz="1100"/>
          </a:p>
        </p:txBody>
      </p:sp>
      <p:sp>
        <p:nvSpPr>
          <p:cNvPr id="18" name="AutoShape 18"/>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2.2 核心工作流程</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custDataLst>
              <p:tags r:id="rId1"/>
            </p:custDataLst>
          </p:nvPr>
        </p:nvSpPr>
        <p:spPr>
          <a:xfrm>
            <a:off x="660400" y="1714500"/>
            <a:ext cx="10858500" cy="4419600"/>
          </a:xfrm>
          <a:prstGeom prst="plaque">
            <a:avLst>
              <a:gd name="adj" fmla="val 3147"/>
            </a:avLst>
          </a:prstGeom>
          <a:solidFill>
            <a:srgbClr val="2F2F2F">
              <a:alpha val="51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60400" y="1130300"/>
            <a:ext cx="10858500" cy="571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endParaRPr lang="en-US" sz="1100"/>
          </a:p>
        </p:txBody>
      </p:sp>
      <p:sp>
        <p:nvSpPr>
          <p:cNvPr id="4" name="AutoShape 4"/>
          <p:cNvSpPr/>
          <p:nvPr>
            <p:custDataLst>
              <p:tags r:id="rId2"/>
            </p:custDataLst>
          </p:nvPr>
        </p:nvSpPr>
        <p:spPr>
          <a:xfrm>
            <a:off x="1282700" y="1854200"/>
            <a:ext cx="4635500" cy="4699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插件</a:t>
            </a: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本质</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custDataLst>
              <p:tags r:id="rId3"/>
            </p:custDataLst>
          </p:nvPr>
        </p:nvSpPr>
        <p:spPr>
          <a:xfrm>
            <a:off x="1282700" y="2324100"/>
            <a:ext cx="463550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Nessus的核心功能高度依赖于其庞大的插件库。</a:t>
            </a:r>
            <a:r>
              <a:rPr lang="en-US" sz="1200">
                <a:solidFill>
                  <a:srgbClr val="FFFFFF"/>
                </a:solidFill>
                <a:latin typeface="微软雅黑" panose="020B0503020204020204" charset="-122"/>
                <a:ea typeface="微软雅黑" panose="020B0503020204020204" charset="-122"/>
                <a:cs typeface="微软雅黑" panose="020B0503020204020204" charset="-122"/>
              </a:rPr>
              <a:t>每个插件是一个独立 NASL 脚本，对应一个漏洞 / 配置项检测，包含规则、风险等级、CVE、检测逻辑。</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AutoShape 6"/>
          <p:cNvSpPr/>
          <p:nvPr>
            <p:custDataLst>
              <p:tags r:id="rId4"/>
            </p:custDataLst>
          </p:nvPr>
        </p:nvSpPr>
        <p:spPr>
          <a:xfrm>
            <a:off x="787400" y="1854200"/>
            <a:ext cx="495300" cy="469900"/>
          </a:xfrm>
          <a:prstGeom prst="roundRect">
            <a:avLst>
              <a:gd name="adj" fmla="val 0"/>
            </a:avLst>
          </a:prstGeom>
          <a:solidFill>
            <a:srgbClr val="0A3E67">
              <a:alpha val="100000"/>
            </a:srgbClr>
          </a:solidFill>
          <a:ln w="254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7" name="AutoShape 7"/>
          <p:cNvSpPr/>
          <p:nvPr>
            <p:custDataLst>
              <p:tags r:id="rId5"/>
            </p:custDataLst>
          </p:nvPr>
        </p:nvSpPr>
        <p:spPr>
          <a:xfrm>
            <a:off x="6756400" y="1384300"/>
            <a:ext cx="4635500" cy="469900"/>
          </a:xfrm>
          <a:prstGeom prst="rect">
            <a:avLst/>
          </a:prstGeom>
          <a:noFill/>
          <a:ln w="12700" cap="flat" cmpd="sng">
            <a:noFill/>
            <a:prstDash val="solid"/>
            <a:round/>
          </a:ln>
        </p:spPr>
        <p:txBody>
          <a:bodyPr vert="horz" wrap="square" lIns="88900" tIns="50800" rIns="88900" bIns="50800" rtlCol="0" anchor="ctr" anchorCtr="0"/>
          <a:lstStyle/>
          <a:p>
            <a:pPr algn="l">
              <a:lnSpc>
                <a:spcPct val="117000"/>
              </a:lnSpc>
              <a:buSzTx/>
              <a:defRPr/>
            </a:pPr>
            <a:r>
              <a:rPr lang="en-US" sz="1800" b="1">
                <a:solidFill>
                  <a:srgbClr val="FFFFFF"/>
                </a:solidFill>
                <a:latin typeface="微软雅黑" panose="020B0503020204020204" charset="-122"/>
                <a:ea typeface="微软雅黑" panose="020B0503020204020204" charset="-122"/>
                <a:cs typeface="微软雅黑" panose="020B0503020204020204" charset="-122"/>
              </a:rPr>
              <a:t>匹配触发</a:t>
            </a:r>
            <a:endParaRPr lang="en-US" sz="18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AutoShape 8"/>
          <p:cNvSpPr/>
          <p:nvPr>
            <p:custDataLst>
              <p:tags r:id="rId6"/>
            </p:custDataLst>
          </p:nvPr>
        </p:nvSpPr>
        <p:spPr>
          <a:xfrm>
            <a:off x="6756400" y="1854200"/>
            <a:ext cx="463550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a:t>
            </a:r>
            <a:r>
              <a:rPr lang="en-US" sz="1200">
                <a:solidFill>
                  <a:srgbClr val="FFFFFF"/>
                </a:solidFill>
                <a:latin typeface="微软雅黑" panose="020B0503020204020204" charset="-122"/>
                <a:ea typeface="微软雅黑" panose="020B0503020204020204" charset="-122"/>
                <a:cs typeface="微软雅黑" panose="020B0503020204020204" charset="-122"/>
              </a:rPr>
              <a:t>根据服务识别结果，自动调用匹配插件，避免无效</a:t>
            </a:r>
            <a:r>
              <a:rPr lang="zh-CN" altLang="en-US" sz="1200">
                <a:solidFill>
                  <a:srgbClr val="FFFFFF"/>
                </a:solidFill>
                <a:latin typeface="微软雅黑" panose="020B0503020204020204" charset="-122"/>
                <a:ea typeface="微软雅黑" panose="020B0503020204020204" charset="-122"/>
                <a:cs typeface="微软雅黑" panose="020B0503020204020204" charset="-122"/>
              </a:rPr>
              <a:t>的</a:t>
            </a:r>
            <a:r>
              <a:rPr lang="en-US" sz="1200">
                <a:solidFill>
                  <a:srgbClr val="FFFFFF"/>
                </a:solidFill>
                <a:latin typeface="微软雅黑" panose="020B0503020204020204" charset="-122"/>
                <a:ea typeface="微软雅黑" panose="020B0503020204020204" charset="-122"/>
                <a:cs typeface="微软雅黑" panose="020B0503020204020204" charset="-122"/>
              </a:rPr>
              <a:t>检测，提升速度与准确率。</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AutoShape 9"/>
          <p:cNvSpPr/>
          <p:nvPr>
            <p:custDataLst>
              <p:tags r:id="rId7"/>
            </p:custDataLst>
          </p:nvPr>
        </p:nvSpPr>
        <p:spPr>
          <a:xfrm>
            <a:off x="6261100" y="1384300"/>
            <a:ext cx="495300" cy="469900"/>
          </a:xfrm>
          <a:prstGeom prst="roundRect">
            <a:avLst>
              <a:gd name="adj" fmla="val 0"/>
            </a:avLst>
          </a:prstGeom>
          <a:solidFill>
            <a:srgbClr val="0A3E67">
              <a:alpha val="100000"/>
            </a:srgbClr>
          </a:solidFill>
          <a:ln w="254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10" name="AutoShape 10"/>
          <p:cNvSpPr/>
          <p:nvPr>
            <p:custDataLst>
              <p:tags r:id="rId8"/>
            </p:custDataLst>
          </p:nvPr>
        </p:nvSpPr>
        <p:spPr>
          <a:xfrm>
            <a:off x="1460500" y="4361180"/>
            <a:ext cx="4635500" cy="4699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检测</a:t>
            </a: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方式</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AutoShape 11"/>
          <p:cNvSpPr/>
          <p:nvPr>
            <p:custDataLst>
              <p:tags r:id="rId9"/>
            </p:custDataLst>
          </p:nvPr>
        </p:nvSpPr>
        <p:spPr>
          <a:xfrm>
            <a:off x="1460500" y="4831080"/>
            <a:ext cx="463550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a:solidFill>
                  <a:srgbClr val="FFFFFF"/>
                </a:solidFill>
                <a:latin typeface="微软雅黑" panose="020B0503020204020204" charset="-122"/>
                <a:ea typeface="微软雅黑" panose="020B0503020204020204" charset="-122"/>
                <a:cs typeface="微软雅黑" panose="020B0503020204020204" charset="-122"/>
              </a:rPr>
              <a:t>远程探测：发送特征包，判断响应是否符合漏洞特征</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a:p>
            <a:pPr indent="0" algn="l">
              <a:lnSpc>
                <a:spcPct val="117000"/>
              </a:lnSpc>
              <a:defRPr/>
            </a:pPr>
            <a:r>
              <a:rPr lang="en-US" sz="1200">
                <a:solidFill>
                  <a:srgbClr val="FFFFFF"/>
                </a:solidFill>
                <a:latin typeface="微软雅黑" panose="020B0503020204020204" charset="-122"/>
                <a:ea typeface="微软雅黑" panose="020B0503020204020204" charset="-122"/>
                <a:cs typeface="微软雅黑" panose="020B0503020204020204" charset="-122"/>
              </a:rPr>
              <a:t>凭证深度检测：通过 SSH/SMB 登录系统，检查补丁、配置、权限</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a:p>
            <a:pPr indent="0" algn="l">
              <a:lnSpc>
                <a:spcPct val="117000"/>
              </a:lnSpc>
              <a:defRPr/>
            </a:pPr>
            <a:r>
              <a:rPr lang="en-US" sz="1200">
                <a:solidFill>
                  <a:srgbClr val="FFFFFF"/>
                </a:solidFill>
                <a:latin typeface="微软雅黑" panose="020B0503020204020204" charset="-122"/>
                <a:ea typeface="微软雅黑" panose="020B0503020204020204" charset="-122"/>
                <a:cs typeface="微软雅黑" panose="020B0503020204020204" charset="-122"/>
              </a:rPr>
              <a:t>版本比对：对比目标版本与漏洞影响版本，判断是否存在风险</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 name="AutoShape 12"/>
          <p:cNvSpPr/>
          <p:nvPr>
            <p:custDataLst>
              <p:tags r:id="rId10"/>
            </p:custDataLst>
          </p:nvPr>
        </p:nvSpPr>
        <p:spPr>
          <a:xfrm>
            <a:off x="965200" y="4361180"/>
            <a:ext cx="495300" cy="469900"/>
          </a:xfrm>
          <a:prstGeom prst="roundRect">
            <a:avLst>
              <a:gd name="adj" fmla="val 0"/>
            </a:avLst>
          </a:prstGeom>
          <a:solidFill>
            <a:srgbClr val="0A3E67">
              <a:alpha val="100000"/>
            </a:srgbClr>
          </a:solidFill>
          <a:ln w="254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3" name="AutoShape 13"/>
          <p:cNvSpPr/>
          <p:nvPr>
            <p:custDataLst>
              <p:tags r:id="rId11"/>
            </p:custDataLst>
          </p:nvPr>
        </p:nvSpPr>
        <p:spPr>
          <a:xfrm>
            <a:off x="6756400" y="3860800"/>
            <a:ext cx="4635500" cy="4699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判定</a:t>
            </a: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与告警</a:t>
            </a:r>
            <a:endParaRPr lang="en-US" sz="1100"/>
          </a:p>
        </p:txBody>
      </p:sp>
      <p:sp>
        <p:nvSpPr>
          <p:cNvPr id="14" name="AutoShape 14"/>
          <p:cNvSpPr/>
          <p:nvPr>
            <p:custDataLst>
              <p:tags r:id="rId12"/>
            </p:custDataLst>
          </p:nvPr>
        </p:nvSpPr>
        <p:spPr>
          <a:xfrm>
            <a:off x="6756400" y="4330700"/>
            <a:ext cx="4635500" cy="1536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当插件执行检测后，如果发现目标环境满足漏洞存在的条件（如版本号匹配、响应特征匹配），则会触发告警，并将漏洞信息上报。</a:t>
            </a:r>
            <a:endParaRPr lang="en-US" sz="1100"/>
          </a:p>
        </p:txBody>
      </p:sp>
      <p:sp>
        <p:nvSpPr>
          <p:cNvPr id="15" name="AutoShape 15"/>
          <p:cNvSpPr/>
          <p:nvPr>
            <p:custDataLst>
              <p:tags r:id="rId13"/>
            </p:custDataLst>
          </p:nvPr>
        </p:nvSpPr>
        <p:spPr>
          <a:xfrm>
            <a:off x="6261100" y="3860800"/>
            <a:ext cx="495300" cy="469900"/>
          </a:xfrm>
          <a:prstGeom prst="roundRect">
            <a:avLst>
              <a:gd name="adj" fmla="val 0"/>
            </a:avLst>
          </a:prstGeom>
          <a:solidFill>
            <a:srgbClr val="0A3E67">
              <a:alpha val="100000"/>
            </a:srgbClr>
          </a:solidFill>
          <a:ln w="254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16" name="AutoShape 16"/>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2.3 插件检测原理</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3" name="AutoShape 3"/>
          <p:cNvSpPr/>
          <p:nvPr/>
        </p:nvSpPr>
        <p:spPr>
          <a:xfrm>
            <a:off x="660400" y="1130300"/>
            <a:ext cx="10858500" cy="571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endParaRPr lang="en-US" sz="1100"/>
          </a:p>
        </p:txBody>
      </p:sp>
      <p:sp>
        <p:nvSpPr>
          <p:cNvPr id="16" name="AutoShape 16"/>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2.4 </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报告生成</a:t>
            </a:r>
            <a:r>
              <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原理</a:t>
            </a:r>
            <a:endParaRPr lang="zh-CN" alt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54" name="ad355d48-f75d-4cf9-86b3-a739b2319851"/>
          <p:cNvGrpSpPr/>
          <p:nvPr>
            <p:custDataLst>
              <p:tags r:id="rId1"/>
            </p:custDataLst>
          </p:nvPr>
        </p:nvGrpSpPr>
        <p:grpSpPr>
          <a:xfrm rot="0">
            <a:off x="660399" y="684530"/>
            <a:ext cx="10858501" cy="5004791"/>
            <a:chOff x="660399" y="1130300"/>
            <a:chExt cx="10858501" cy="5004791"/>
          </a:xfrm>
        </p:grpSpPr>
        <p:sp>
          <p:nvSpPr>
            <p:cNvPr id="1048894" name="AutoShape 3"/>
            <p:cNvSpPr/>
            <p:nvPr>
              <p:custDataLst>
                <p:tags r:id="rId2"/>
              </p:custDataLst>
            </p:nvPr>
          </p:nvSpPr>
          <p:spPr>
            <a:xfrm>
              <a:off x="1401465" y="2528971"/>
              <a:ext cx="8329539" cy="0"/>
            </a:xfrm>
            <a:prstGeom prst="straightConnector1">
              <a:avLst/>
            </a:prstGeom>
            <a:ln w="12700">
              <a:solidFill>
                <a:srgbClr val="0A3E67">
                  <a:alpha val="100000"/>
                </a:srgbClr>
              </a:solidFill>
              <a:prstDash val="solid"/>
              <a:headEnd type="none"/>
              <a:tailEnd type="none"/>
            </a:ln>
          </p:spPr>
        </p:sp>
        <p:sp>
          <p:nvSpPr>
            <p:cNvPr id="1048895" name="TextBox 4"/>
            <p:cNvSpPr txBox="1"/>
            <p:nvPr/>
          </p:nvSpPr>
          <p:spPr>
            <a:xfrm>
              <a:off x="660399" y="1130300"/>
              <a:ext cx="10858500" cy="525398"/>
            </a:xfrm>
            <a:prstGeom prst="rect">
              <a:avLst/>
            </a:prstGeom>
            <a:ln>
              <a:headEnd type="none"/>
              <a:tailEnd type="none"/>
            </a:ln>
          </p:spPr>
          <p:txBody>
            <a:bodyPr vert="horz" wrap="square" lIns="91440" tIns="45720" rIns="91440" bIns="45720" rtlCol="0" anchor="ctr" anchorCtr="0"/>
            <a:p>
              <a:pPr algn="ctr">
                <a:spcBef>
                  <a:spcPts val="0"/>
                </a:spcBef>
                <a:spcAft>
                  <a:spcPts val="0"/>
                </a:spcAft>
              </a:pPr>
              <a:endParaRPr lang="en-US" sz="1100"/>
            </a:p>
          </p:txBody>
        </p:sp>
        <p:grpSp>
          <p:nvGrpSpPr>
            <p:cNvPr id="155" name="Group 5"/>
            <p:cNvGrpSpPr/>
            <p:nvPr/>
          </p:nvGrpSpPr>
          <p:grpSpPr>
            <a:xfrm rot="0">
              <a:off x="669361" y="2221901"/>
              <a:ext cx="2520000" cy="3913190"/>
              <a:chOff x="669361" y="2221901"/>
              <a:chExt cx="2520000" cy="3913190"/>
            </a:xfrm>
          </p:grpSpPr>
          <p:sp>
            <p:nvSpPr>
              <p:cNvPr id="1048896" name="AutoShape 6"/>
              <p:cNvSpPr/>
              <p:nvPr>
                <p:custDataLst>
                  <p:tags r:id="rId3"/>
                </p:custDataLst>
              </p:nvPr>
            </p:nvSpPr>
            <p:spPr>
              <a:xfrm flipV="1">
                <a:off x="669361" y="3187055"/>
                <a:ext cx="2520000" cy="2948036"/>
              </a:xfrm>
              <a:prstGeom prst="wedgeRectCallout">
                <a:avLst>
                  <a:gd name="adj1" fmla="val -21306"/>
                  <a:gd name="adj2" fmla="val 57003"/>
                </a:avLst>
              </a:prstGeom>
              <a:solidFill>
                <a:srgbClr val="2F2F2F">
                  <a:alpha val="100000"/>
                </a:srgbClr>
              </a:solidFill>
              <a:ln>
                <a:prstDash val="solid"/>
                <a:headEnd type="none"/>
                <a:tailEnd type="none"/>
              </a:ln>
              <a:effectLst>
                <a:outerShdw blurRad="190500" dist="38100" dir="5400000" algn="t" rotWithShape="0">
                  <a:srgbClr val="000000"/>
                </a:outerShdw>
              </a:effectLst>
            </p:spPr>
          </p:sp>
          <p:sp>
            <p:nvSpPr>
              <p:cNvPr id="1048897" name="TextBox 7"/>
              <p:cNvSpPr txBox="1"/>
              <p:nvPr>
                <p:custDataLst>
                  <p:tags r:id="rId4"/>
                </p:custDataLst>
              </p:nvPr>
            </p:nvSpPr>
            <p:spPr>
              <a:xfrm>
                <a:off x="1094395" y="2221901"/>
                <a:ext cx="614141" cy="614141"/>
              </a:xfrm>
              <a:prstGeom prst="ellipse">
                <a:avLst/>
              </a:prstGeom>
              <a:solidFill>
                <a:srgbClr val="0A3E67">
                  <a:alpha val="100000"/>
                </a:srgbClr>
              </a:solidFill>
              <a:ln>
                <a:prstDash val="solid"/>
                <a:headEnd type="none"/>
                <a:tailEnd type="none"/>
              </a:ln>
            </p:spPr>
            <p:txBody>
              <a:bodyPr vert="horz" wrap="none" lIns="91440" tIns="45720" rIns="91440" bIns="45720" rtlCol="0" anchor="ctr" anchorCtr="0"/>
              <a:p>
                <a:pPr algn="ctr"/>
                <a:r>
                  <a:rPr lang="en-US" sz="1800" b="1" i="0">
                    <a:solidFill>
                      <a:srgbClr val="FFFFFF">
                        <a:alpha val="100000"/>
                      </a:srgbClr>
                    </a:solidFill>
                    <a:latin typeface="Arial" panose="020B0604020202020204"/>
                    <a:ea typeface="Arial" panose="020B0604020202020204"/>
                    <a:cs typeface="Arial" panose="020B0604020202020204"/>
                  </a:rPr>
                  <a:t>01</a:t>
                </a:r>
                <a:endParaRPr lang="en-US" sz="1100"/>
              </a:p>
            </p:txBody>
          </p:sp>
          <p:sp>
            <p:nvSpPr>
              <p:cNvPr id="1048898" name="TextBox 8"/>
              <p:cNvSpPr txBox="1"/>
              <p:nvPr>
                <p:custDataLst>
                  <p:tags r:id="rId5"/>
                </p:custDataLst>
              </p:nvPr>
            </p:nvSpPr>
            <p:spPr>
              <a:xfrm>
                <a:off x="801663" y="3321236"/>
                <a:ext cx="2255397" cy="720000"/>
              </a:xfrm>
              <a:prstGeom prst="rect">
                <a:avLst/>
              </a:prstGeom>
              <a:ln>
                <a:prstDash val="solid"/>
                <a:headEnd type="none"/>
                <a:tailEnd type="none"/>
              </a:ln>
            </p:spPr>
            <p:txBody>
              <a:bodyPr vert="horz" wrap="square" lIns="91440" tIns="45720" rIns="91440" bIns="45720" rtlCol="0" anchor="b" anchorCtr="0"/>
              <a:p>
                <a:pPr algn="l"/>
                <a:r>
                  <a:rPr lang="en-US" sz="1800" b="1" i="0">
                    <a:solidFill>
                      <a:srgbClr val="FFFFFF">
                        <a:alpha val="100000"/>
                      </a:srgbClr>
                    </a:solidFill>
                    <a:latin typeface="微软雅黑" panose="020B0503020204020204" charset="-122"/>
                    <a:ea typeface="微软雅黑" panose="020B0503020204020204" charset="-122"/>
                    <a:cs typeface="微软雅黑" panose="020B0503020204020204" charset="-122"/>
                  </a:rPr>
                  <a:t>数据聚合</a:t>
                </a:r>
                <a:endParaRPr lang="en-US" sz="1100"/>
              </a:p>
            </p:txBody>
          </p:sp>
          <p:sp>
            <p:nvSpPr>
              <p:cNvPr id="1048899" name="TextBox 9"/>
              <p:cNvSpPr txBox="1"/>
              <p:nvPr>
                <p:custDataLst>
                  <p:tags r:id="rId6"/>
                </p:custDataLst>
              </p:nvPr>
            </p:nvSpPr>
            <p:spPr>
              <a:xfrm>
                <a:off x="801663" y="4041237"/>
                <a:ext cx="2255397" cy="1944000"/>
              </a:xfrm>
              <a:prstGeom prst="rect">
                <a:avLst/>
              </a:prstGeom>
              <a:ln>
                <a:prstDash val="solid"/>
                <a:headEnd type="none"/>
                <a:tailEnd type="none"/>
              </a:ln>
            </p:spPr>
            <p:txBody>
              <a:bodyPr vert="horz" wrap="square" lIns="91440" tIns="45720" rIns="91440" bIns="45720" rtlCol="0" anchor="t" anchorCtr="0"/>
              <a:p>
                <a:pPr algn="l">
                  <a:lnSpc>
                    <a:spcPct val="120000"/>
                  </a:lnSpc>
                </a:pPr>
                <a:r>
                  <a:rPr lang="en-US" sz="1200" b="0" i="0">
                    <a:solidFill>
                      <a:srgbClr val="FFFFFF">
                        <a:alpha val="100000"/>
                      </a:srgbClr>
                    </a:solidFill>
                    <a:latin typeface="微软雅黑" panose="020B0503020204020204" charset="-122"/>
                    <a:ea typeface="微软雅黑" panose="020B0503020204020204" charset="-122"/>
                    <a:cs typeface="微软雅黑" panose="020B0503020204020204" charset="-122"/>
                  </a:rPr>
                  <a:t>扫描完成后，来自不同插件的原始漏洞数据会被汇总和去重，形成针对每个目标主机的初步漏洞列表。</a:t>
                </a:r>
                <a:endParaRPr lang="en-US" sz="1100"/>
              </a:p>
            </p:txBody>
          </p:sp>
        </p:grpSp>
        <p:grpSp>
          <p:nvGrpSpPr>
            <p:cNvPr id="156" name="Group 10"/>
            <p:cNvGrpSpPr/>
            <p:nvPr/>
          </p:nvGrpSpPr>
          <p:grpSpPr>
            <a:xfrm rot="0">
              <a:off x="3445874" y="2221901"/>
              <a:ext cx="2520000" cy="3913190"/>
              <a:chOff x="669361" y="2221901"/>
              <a:chExt cx="2520000" cy="3913190"/>
            </a:xfrm>
          </p:grpSpPr>
          <p:sp>
            <p:nvSpPr>
              <p:cNvPr id="1048900" name="AutoShape 11"/>
              <p:cNvSpPr/>
              <p:nvPr>
                <p:custDataLst>
                  <p:tags r:id="rId7"/>
                </p:custDataLst>
              </p:nvPr>
            </p:nvSpPr>
            <p:spPr>
              <a:xfrm flipV="1">
                <a:off x="669361" y="3187055"/>
                <a:ext cx="2520000" cy="2948036"/>
              </a:xfrm>
              <a:prstGeom prst="wedgeRectCallout">
                <a:avLst>
                  <a:gd name="adj1" fmla="val -21306"/>
                  <a:gd name="adj2" fmla="val 57003"/>
                </a:avLst>
              </a:prstGeom>
              <a:solidFill>
                <a:srgbClr val="2F2F2F">
                  <a:alpha val="100000"/>
                </a:srgbClr>
              </a:solidFill>
              <a:ln>
                <a:prstDash val="solid"/>
                <a:headEnd type="none"/>
                <a:tailEnd type="none"/>
              </a:ln>
              <a:effectLst>
                <a:outerShdw blurRad="190500" dist="38100" dir="5400000" algn="t" rotWithShape="0">
                  <a:srgbClr val="000000"/>
                </a:outerShdw>
              </a:effectLst>
            </p:spPr>
          </p:sp>
          <p:sp>
            <p:nvSpPr>
              <p:cNvPr id="1048901" name="TextBox 12"/>
              <p:cNvSpPr txBox="1"/>
              <p:nvPr>
                <p:custDataLst>
                  <p:tags r:id="rId8"/>
                </p:custDataLst>
              </p:nvPr>
            </p:nvSpPr>
            <p:spPr>
              <a:xfrm>
                <a:off x="1094395" y="2221901"/>
                <a:ext cx="614141" cy="614141"/>
              </a:xfrm>
              <a:prstGeom prst="ellipse">
                <a:avLst/>
              </a:prstGeom>
              <a:solidFill>
                <a:srgbClr val="0A3E67">
                  <a:alpha val="100000"/>
                </a:srgbClr>
              </a:solidFill>
              <a:ln>
                <a:prstDash val="solid"/>
                <a:headEnd type="none"/>
                <a:tailEnd type="none"/>
              </a:ln>
            </p:spPr>
            <p:txBody>
              <a:bodyPr vert="horz" wrap="none" lIns="91440" tIns="45720" rIns="91440" bIns="45720" rtlCol="0" anchor="ctr" anchorCtr="0"/>
              <a:p>
                <a:pPr algn="ctr"/>
                <a:r>
                  <a:rPr lang="en-US" sz="1800" b="1" i="0">
                    <a:solidFill>
                      <a:srgbClr val="FFFFFF">
                        <a:alpha val="100000"/>
                      </a:srgbClr>
                    </a:solidFill>
                    <a:latin typeface="Arial" panose="020B0604020202020204"/>
                    <a:ea typeface="Arial" panose="020B0604020202020204"/>
                    <a:cs typeface="Arial" panose="020B0604020202020204"/>
                  </a:rPr>
                  <a:t>02</a:t>
                </a:r>
                <a:endParaRPr lang="en-US" sz="1100"/>
              </a:p>
            </p:txBody>
          </p:sp>
          <p:sp>
            <p:nvSpPr>
              <p:cNvPr id="1048902" name="TextBox 13"/>
              <p:cNvSpPr txBox="1"/>
              <p:nvPr>
                <p:custDataLst>
                  <p:tags r:id="rId9"/>
                </p:custDataLst>
              </p:nvPr>
            </p:nvSpPr>
            <p:spPr>
              <a:xfrm>
                <a:off x="801663" y="3321236"/>
                <a:ext cx="2255397" cy="720000"/>
              </a:xfrm>
              <a:prstGeom prst="rect">
                <a:avLst/>
              </a:prstGeom>
              <a:ln>
                <a:prstDash val="solid"/>
                <a:headEnd type="none"/>
                <a:tailEnd type="none"/>
              </a:ln>
            </p:spPr>
            <p:txBody>
              <a:bodyPr vert="horz" wrap="square" lIns="91440" tIns="45720" rIns="91440" bIns="45720" rtlCol="0" anchor="b" anchorCtr="0"/>
              <a:p>
                <a:pPr algn="l"/>
                <a:r>
                  <a:rPr lang="en-US" sz="1800" b="1" i="0">
                    <a:solidFill>
                      <a:srgbClr val="FFFFFF">
                        <a:alpha val="100000"/>
                      </a:srgbClr>
                    </a:solidFill>
                    <a:latin typeface="微软雅黑" panose="020B0503020204020204" charset="-122"/>
                    <a:ea typeface="微软雅黑" panose="020B0503020204020204" charset="-122"/>
                    <a:cs typeface="微软雅黑" panose="020B0503020204020204" charset="-122"/>
                  </a:rPr>
                  <a:t>风险评级</a:t>
                </a:r>
                <a:endParaRPr lang="en-US" sz="1100"/>
              </a:p>
            </p:txBody>
          </p:sp>
          <p:sp>
            <p:nvSpPr>
              <p:cNvPr id="1048903" name="TextBox 14"/>
              <p:cNvSpPr txBox="1"/>
              <p:nvPr>
                <p:custDataLst>
                  <p:tags r:id="rId10"/>
                </p:custDataLst>
              </p:nvPr>
            </p:nvSpPr>
            <p:spPr>
              <a:xfrm>
                <a:off x="801663" y="4041237"/>
                <a:ext cx="2255397" cy="1944000"/>
              </a:xfrm>
              <a:prstGeom prst="rect">
                <a:avLst/>
              </a:prstGeom>
              <a:ln>
                <a:prstDash val="solid"/>
                <a:headEnd type="none"/>
                <a:tailEnd type="none"/>
              </a:ln>
            </p:spPr>
            <p:txBody>
              <a:bodyPr vert="horz" wrap="square" lIns="91440" tIns="45720" rIns="91440" bIns="45720" rtlCol="0" anchor="t" anchorCtr="0"/>
              <a:p>
                <a:pPr algn="l">
                  <a:lnSpc>
                    <a:spcPct val="120000"/>
                  </a:lnSpc>
                  <a:buSzTx/>
                </a:pPr>
                <a:r>
                  <a:rPr lang="en-US" sz="1200" b="0" i="0">
                    <a:solidFill>
                      <a:srgbClr val="FFFFFF">
                        <a:alpha val="100000"/>
                      </a:srgbClr>
                    </a:solidFill>
                    <a:latin typeface="微软雅黑" panose="020B0503020204020204" charset="-122"/>
                    <a:ea typeface="微软雅黑" panose="020B0503020204020204" charset="-122"/>
                    <a:cs typeface="微软雅黑" panose="020B0503020204020204" charset="-122"/>
                  </a:rPr>
                  <a:t>Nessus会根据漏洞的严重性（如CVSS评分）、利用难度、影响范围等因素，自动为每个漏洞分配一个风险等级（Critical/High/Med/Low）。</a:t>
                </a:r>
                <a:endParaRPr lang="en-US" sz="120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grpSp>
        <p:grpSp>
          <p:nvGrpSpPr>
            <p:cNvPr id="157" name="Group 15"/>
            <p:cNvGrpSpPr/>
            <p:nvPr/>
          </p:nvGrpSpPr>
          <p:grpSpPr>
            <a:xfrm rot="0">
              <a:off x="6222387" y="2221901"/>
              <a:ext cx="2520000" cy="3913190"/>
              <a:chOff x="669361" y="2221901"/>
              <a:chExt cx="2520000" cy="3913190"/>
            </a:xfrm>
          </p:grpSpPr>
          <p:sp>
            <p:nvSpPr>
              <p:cNvPr id="1048904" name="AutoShape 16"/>
              <p:cNvSpPr/>
              <p:nvPr>
                <p:custDataLst>
                  <p:tags r:id="rId11"/>
                </p:custDataLst>
              </p:nvPr>
            </p:nvSpPr>
            <p:spPr>
              <a:xfrm flipV="1">
                <a:off x="669361" y="3187055"/>
                <a:ext cx="2520000" cy="2948036"/>
              </a:xfrm>
              <a:prstGeom prst="wedgeRectCallout">
                <a:avLst>
                  <a:gd name="adj1" fmla="val -21306"/>
                  <a:gd name="adj2" fmla="val 57003"/>
                </a:avLst>
              </a:prstGeom>
              <a:solidFill>
                <a:srgbClr val="2F2F2F">
                  <a:alpha val="100000"/>
                </a:srgbClr>
              </a:solidFill>
              <a:ln>
                <a:prstDash val="solid"/>
                <a:headEnd type="none"/>
                <a:tailEnd type="none"/>
              </a:ln>
              <a:effectLst>
                <a:outerShdw blurRad="190500" dist="38100" dir="5400000" algn="t" rotWithShape="0">
                  <a:srgbClr val="000000"/>
                </a:outerShdw>
              </a:effectLst>
            </p:spPr>
          </p:sp>
          <p:sp>
            <p:nvSpPr>
              <p:cNvPr id="1048905" name="TextBox 17"/>
              <p:cNvSpPr txBox="1"/>
              <p:nvPr>
                <p:custDataLst>
                  <p:tags r:id="rId12"/>
                </p:custDataLst>
              </p:nvPr>
            </p:nvSpPr>
            <p:spPr>
              <a:xfrm>
                <a:off x="1094395" y="2221901"/>
                <a:ext cx="614141" cy="614141"/>
              </a:xfrm>
              <a:prstGeom prst="ellipse">
                <a:avLst/>
              </a:prstGeom>
              <a:solidFill>
                <a:srgbClr val="0A3E67">
                  <a:alpha val="100000"/>
                </a:srgbClr>
              </a:solidFill>
              <a:ln>
                <a:prstDash val="solid"/>
                <a:headEnd type="none"/>
                <a:tailEnd type="none"/>
              </a:ln>
            </p:spPr>
            <p:txBody>
              <a:bodyPr vert="horz" wrap="none" lIns="91440" tIns="45720" rIns="91440" bIns="45720" rtlCol="0" anchor="ctr" anchorCtr="0"/>
              <a:p>
                <a:pPr algn="ctr"/>
                <a:r>
                  <a:rPr lang="en-US" sz="1800" b="1" i="0">
                    <a:solidFill>
                      <a:srgbClr val="FFFFFF">
                        <a:alpha val="100000"/>
                      </a:srgbClr>
                    </a:solidFill>
                    <a:latin typeface="Arial" panose="020B0604020202020204"/>
                    <a:ea typeface="Arial" panose="020B0604020202020204"/>
                    <a:cs typeface="Arial" panose="020B0604020202020204"/>
                  </a:rPr>
                  <a:t>03</a:t>
                </a:r>
                <a:endParaRPr lang="en-US" sz="1100"/>
              </a:p>
            </p:txBody>
          </p:sp>
          <p:sp>
            <p:nvSpPr>
              <p:cNvPr id="1048906" name="TextBox 18"/>
              <p:cNvSpPr txBox="1"/>
              <p:nvPr>
                <p:custDataLst>
                  <p:tags r:id="rId13"/>
                </p:custDataLst>
              </p:nvPr>
            </p:nvSpPr>
            <p:spPr>
              <a:xfrm>
                <a:off x="801663" y="3321236"/>
                <a:ext cx="2255397" cy="720000"/>
              </a:xfrm>
              <a:prstGeom prst="rect">
                <a:avLst/>
              </a:prstGeom>
              <a:ln>
                <a:prstDash val="solid"/>
                <a:headEnd type="none"/>
                <a:tailEnd type="none"/>
              </a:ln>
            </p:spPr>
            <p:txBody>
              <a:bodyPr vert="horz" wrap="square" lIns="91440" tIns="45720" rIns="91440" bIns="45720" rtlCol="0" anchor="b" anchorCtr="0"/>
              <a:p>
                <a:pPr algn="l"/>
                <a:r>
                  <a:rPr lang="en-US" sz="1800" b="1" i="0">
                    <a:solidFill>
                      <a:srgbClr val="FFFFFF">
                        <a:alpha val="100000"/>
                      </a:srgbClr>
                    </a:solidFill>
                    <a:latin typeface="微软雅黑" panose="020B0503020204020204" charset="-122"/>
                    <a:ea typeface="微软雅黑" panose="020B0503020204020204" charset="-122"/>
                    <a:cs typeface="微软雅黑" panose="020B0503020204020204" charset="-122"/>
                  </a:rPr>
                  <a:t>报告模板化</a:t>
                </a:r>
                <a:endParaRPr lang="en-US" sz="1100"/>
              </a:p>
            </p:txBody>
          </p:sp>
          <p:sp>
            <p:nvSpPr>
              <p:cNvPr id="1048907" name="TextBox 19"/>
              <p:cNvSpPr txBox="1"/>
              <p:nvPr>
                <p:custDataLst>
                  <p:tags r:id="rId14"/>
                </p:custDataLst>
              </p:nvPr>
            </p:nvSpPr>
            <p:spPr>
              <a:xfrm>
                <a:off x="801663" y="4041237"/>
                <a:ext cx="2255397" cy="1944000"/>
              </a:xfrm>
              <a:prstGeom prst="rect">
                <a:avLst/>
              </a:prstGeom>
              <a:ln>
                <a:prstDash val="solid"/>
                <a:headEnd type="none"/>
                <a:tailEnd type="none"/>
              </a:ln>
            </p:spPr>
            <p:txBody>
              <a:bodyPr vert="horz" wrap="square" lIns="91440" tIns="45720" rIns="91440" bIns="45720" rtlCol="0" anchor="t" anchorCtr="0"/>
              <a:p>
                <a:pPr algn="l">
                  <a:lnSpc>
                    <a:spcPct val="120000"/>
                  </a:lnSpc>
                </a:pPr>
                <a:r>
                  <a:rPr lang="en-US" sz="1200" b="0" i="0">
                    <a:solidFill>
                      <a:srgbClr val="FFFFFF">
                        <a:alpha val="100000"/>
                      </a:srgbClr>
                    </a:solidFill>
                    <a:latin typeface="微软雅黑" panose="020B0503020204020204" charset="-122"/>
                    <a:ea typeface="微软雅黑" panose="020B0503020204020204" charset="-122"/>
                    <a:cs typeface="微软雅黑" panose="020B0503020204020204" charset="-122"/>
                  </a:rPr>
                  <a:t>系统内置了多种报告模板（如HTML、PDF、CSV），定义了报告的布局、样式和内容结构，确保报告的专业性和可读性。</a:t>
                </a:r>
                <a:endParaRPr lang="en-US" sz="1100"/>
              </a:p>
            </p:txBody>
          </p:sp>
        </p:grpSp>
        <p:grpSp>
          <p:nvGrpSpPr>
            <p:cNvPr id="158" name="Group 20"/>
            <p:cNvGrpSpPr/>
            <p:nvPr/>
          </p:nvGrpSpPr>
          <p:grpSpPr>
            <a:xfrm rot="0">
              <a:off x="8998900" y="2221901"/>
              <a:ext cx="2520000" cy="3913190"/>
              <a:chOff x="669361" y="2221901"/>
              <a:chExt cx="2520000" cy="3913190"/>
            </a:xfrm>
          </p:grpSpPr>
          <p:sp>
            <p:nvSpPr>
              <p:cNvPr id="1048908" name="AutoShape 21"/>
              <p:cNvSpPr/>
              <p:nvPr>
                <p:custDataLst>
                  <p:tags r:id="rId15"/>
                </p:custDataLst>
              </p:nvPr>
            </p:nvSpPr>
            <p:spPr>
              <a:xfrm flipV="1">
                <a:off x="669361" y="3187055"/>
                <a:ext cx="2520000" cy="2948036"/>
              </a:xfrm>
              <a:prstGeom prst="wedgeRectCallout">
                <a:avLst>
                  <a:gd name="adj1" fmla="val -21306"/>
                  <a:gd name="adj2" fmla="val 57003"/>
                </a:avLst>
              </a:prstGeom>
              <a:solidFill>
                <a:srgbClr val="2F2F2F">
                  <a:alpha val="100000"/>
                </a:srgbClr>
              </a:solidFill>
              <a:ln>
                <a:prstDash val="solid"/>
                <a:headEnd type="none"/>
                <a:tailEnd type="none"/>
              </a:ln>
              <a:effectLst>
                <a:outerShdw blurRad="190500" dist="38100" dir="5400000" algn="t" rotWithShape="0">
                  <a:srgbClr val="000000"/>
                </a:outerShdw>
              </a:effectLst>
            </p:spPr>
          </p:sp>
          <p:sp>
            <p:nvSpPr>
              <p:cNvPr id="1048909" name="TextBox 22"/>
              <p:cNvSpPr txBox="1"/>
              <p:nvPr>
                <p:custDataLst>
                  <p:tags r:id="rId16"/>
                </p:custDataLst>
              </p:nvPr>
            </p:nvSpPr>
            <p:spPr>
              <a:xfrm>
                <a:off x="1094395" y="2221901"/>
                <a:ext cx="614141" cy="614141"/>
              </a:xfrm>
              <a:prstGeom prst="ellipse">
                <a:avLst/>
              </a:prstGeom>
              <a:solidFill>
                <a:srgbClr val="0A3E67">
                  <a:alpha val="100000"/>
                </a:srgbClr>
              </a:solidFill>
              <a:ln>
                <a:prstDash val="solid"/>
                <a:headEnd type="none"/>
                <a:tailEnd type="none"/>
              </a:ln>
            </p:spPr>
            <p:txBody>
              <a:bodyPr vert="horz" wrap="none" lIns="91440" tIns="45720" rIns="91440" bIns="45720" rtlCol="0" anchor="ctr" anchorCtr="0"/>
              <a:p>
                <a:pPr algn="ctr"/>
                <a:r>
                  <a:rPr lang="en-US" sz="1800" b="1" i="0">
                    <a:solidFill>
                      <a:srgbClr val="FFFFFF">
                        <a:alpha val="100000"/>
                      </a:srgbClr>
                    </a:solidFill>
                    <a:latin typeface="Arial" panose="020B0604020202020204"/>
                    <a:ea typeface="Arial" panose="020B0604020202020204"/>
                    <a:cs typeface="Arial" panose="020B0604020202020204"/>
                  </a:rPr>
                  <a:t>04</a:t>
                </a:r>
                <a:endParaRPr lang="en-US" sz="1100"/>
              </a:p>
            </p:txBody>
          </p:sp>
          <p:sp>
            <p:nvSpPr>
              <p:cNvPr id="1048910" name="TextBox 23"/>
              <p:cNvSpPr txBox="1"/>
              <p:nvPr>
                <p:custDataLst>
                  <p:tags r:id="rId17"/>
                </p:custDataLst>
              </p:nvPr>
            </p:nvSpPr>
            <p:spPr>
              <a:xfrm>
                <a:off x="801663" y="3321236"/>
                <a:ext cx="2255397" cy="720000"/>
              </a:xfrm>
              <a:prstGeom prst="rect">
                <a:avLst/>
              </a:prstGeom>
              <a:ln>
                <a:prstDash val="solid"/>
                <a:headEnd type="none"/>
                <a:tailEnd type="none"/>
              </a:ln>
            </p:spPr>
            <p:txBody>
              <a:bodyPr vert="horz" wrap="square" lIns="91440" tIns="45720" rIns="91440" bIns="45720" rtlCol="0" anchor="b" anchorCtr="0"/>
              <a:p>
                <a:pPr algn="l"/>
                <a:r>
                  <a:rPr lang="en-US" sz="1800" b="1" i="0">
                    <a:solidFill>
                      <a:srgbClr val="FFFFFF">
                        <a:alpha val="100000"/>
                      </a:srgbClr>
                    </a:solidFill>
                    <a:latin typeface="微软雅黑" panose="020B0503020204020204" charset="-122"/>
                    <a:ea typeface="微软雅黑" panose="020B0503020204020204" charset="-122"/>
                    <a:cs typeface="微软雅黑" panose="020B0503020204020204" charset="-122"/>
                  </a:rPr>
                  <a:t>内容丰富化</a:t>
                </a:r>
                <a:endParaRPr lang="en-US" sz="1100"/>
              </a:p>
            </p:txBody>
          </p:sp>
          <p:sp>
            <p:nvSpPr>
              <p:cNvPr id="1048911" name="TextBox 24"/>
              <p:cNvSpPr txBox="1"/>
              <p:nvPr>
                <p:custDataLst>
                  <p:tags r:id="rId18"/>
                </p:custDataLst>
              </p:nvPr>
            </p:nvSpPr>
            <p:spPr>
              <a:xfrm>
                <a:off x="801663" y="4041237"/>
                <a:ext cx="2255397" cy="1944000"/>
              </a:xfrm>
              <a:prstGeom prst="rect">
                <a:avLst/>
              </a:prstGeom>
              <a:ln>
                <a:prstDash val="solid"/>
                <a:headEnd type="none"/>
                <a:tailEnd type="none"/>
              </a:ln>
            </p:spPr>
            <p:txBody>
              <a:bodyPr vert="horz" wrap="square" lIns="91440" tIns="45720" rIns="91440" bIns="45720" rtlCol="0" anchor="t" anchorCtr="0"/>
              <a:p>
                <a:pPr algn="l">
                  <a:lnSpc>
                    <a:spcPct val="120000"/>
                  </a:lnSpc>
                </a:pPr>
                <a:r>
                  <a:rPr lang="en-US" sz="1200" b="0" i="0">
                    <a:solidFill>
                      <a:srgbClr val="FFFFFF">
                        <a:alpha val="100000"/>
                      </a:srgbClr>
                    </a:solidFill>
                    <a:latin typeface="微软雅黑" panose="020B0503020204020204" charset="-122"/>
                    <a:ea typeface="微软雅黑" panose="020B0503020204020204" charset="-122"/>
                    <a:cs typeface="微软雅黑" panose="020B0503020204020204" charset="-122"/>
                  </a:rPr>
                  <a:t>最终报告不仅包含漏洞列表，还会附上漏洞的详细描述、CVE/CVSS等标准化信息、具体的修复建议以及受影响的主机列表，为用户提供全面的修复依据。</a:t>
                </a:r>
                <a:endParaRPr lang="en-US" sz="1100"/>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60400" y="1663700"/>
            <a:ext cx="10871200" cy="1524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3. Nessus 核心功能</a:t>
            </a:r>
            <a:endParaRPr lang="en-US" sz="1100"/>
          </a:p>
          <a:p>
            <a:pPr indent="0" algn="ctr">
              <a:lnSpc>
                <a:spcPct val="125000"/>
              </a:lnSpc>
              <a:spcBef>
                <a:spcPts val="1500"/>
              </a:spcBef>
            </a:pPr>
            <a:endParaRPr lang="en-US" sz="1800" b="0" i="0" u="none" strike="noStrike">
              <a:solidFill>
                <a:srgbClr val="DCE6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custDataLst>
              <p:tags r:id="rId2"/>
            </p:custDataLst>
          </p:nvPr>
        </p:nvSpPr>
        <p:spPr>
          <a:xfrm>
            <a:off x="762000" y="4025265"/>
            <a:ext cx="3302000" cy="1397635"/>
          </a:xfrm>
          <a:prstGeom prst="roundRect">
            <a:avLst>
              <a:gd name="adj" fmla="val 4347"/>
            </a:avLst>
          </a:prstGeom>
          <a:solidFill>
            <a:srgbClr val="FFFFFF">
              <a:alpha val="12000"/>
            </a:srgbClr>
          </a:solidFill>
          <a:ln w="12700" cap="flat" cmpd="sng">
            <a:solidFill>
              <a:srgbClr val="FFFFFF">
                <a:alpha val="2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4342765"/>
            <a:ext cx="609600" cy="609600"/>
          </a:xfrm>
          <a:prstGeom prst="rect">
            <a:avLst/>
          </a:prstGeom>
        </p:spPr>
      </p:pic>
      <p:sp>
        <p:nvSpPr>
          <p:cNvPr id="7" name="AutoShape 7"/>
          <p:cNvSpPr/>
          <p:nvPr>
            <p:custDataLst>
              <p:tags r:id="rId6"/>
            </p:custDataLst>
          </p:nvPr>
        </p:nvSpPr>
        <p:spPr>
          <a:xfrm>
            <a:off x="1841500" y="4342765"/>
            <a:ext cx="203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策略管理</a:t>
            </a:r>
            <a:endParaRPr lang="en-US" sz="1100"/>
          </a:p>
          <a:p>
            <a:pPr indent="0" algn="l">
              <a:lnSpc>
                <a:spcPct val="125000"/>
              </a:lnSpc>
            </a:pPr>
            <a:endParaRPr lang="en-US" sz="1300" b="0" i="0" u="none" strike="noStrike">
              <a:solidFill>
                <a:srgbClr val="B4C8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952500" y="457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endParaRPr lang="en-US" sz="1100"/>
          </a:p>
        </p:txBody>
      </p:sp>
      <p:sp>
        <p:nvSpPr>
          <p:cNvPr id="9" name="AutoShape 9"/>
          <p:cNvSpPr/>
          <p:nvPr>
            <p:custDataLst>
              <p:tags r:id="rId8"/>
            </p:custDataLst>
          </p:nvPr>
        </p:nvSpPr>
        <p:spPr>
          <a:xfrm>
            <a:off x="4445000" y="4025265"/>
            <a:ext cx="3302000" cy="1397635"/>
          </a:xfrm>
          <a:prstGeom prst="roundRect">
            <a:avLst>
              <a:gd name="adj" fmla="val 4347"/>
            </a:avLst>
          </a:prstGeom>
          <a:solidFill>
            <a:srgbClr val="FFFFFF">
              <a:alpha val="12000"/>
            </a:srgbClr>
          </a:solidFill>
          <a:ln w="12700" cap="flat" cmpd="sng">
            <a:solidFill>
              <a:srgbClr val="FFFFFF">
                <a:alpha val="2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762500" y="4342765"/>
            <a:ext cx="609600" cy="609600"/>
          </a:xfrm>
          <a:prstGeom prst="rect">
            <a:avLst/>
          </a:prstGeom>
        </p:spPr>
      </p:pic>
      <p:sp>
        <p:nvSpPr>
          <p:cNvPr id="11" name="AutoShape 11"/>
          <p:cNvSpPr/>
          <p:nvPr>
            <p:custDataLst>
              <p:tags r:id="rId12"/>
            </p:custDataLst>
          </p:nvPr>
        </p:nvSpPr>
        <p:spPr>
          <a:xfrm>
            <a:off x="5524500" y="4342765"/>
            <a:ext cx="203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扫描任务</a:t>
            </a:r>
            <a:endParaRPr lang="en-US" sz="1100"/>
          </a:p>
          <a:p>
            <a:pPr indent="0" algn="l">
              <a:lnSpc>
                <a:spcPct val="125000"/>
              </a:lnSpc>
            </a:pPr>
            <a:endParaRPr lang="en-US" sz="1300" b="0" i="0" u="none" strike="noStrike">
              <a:solidFill>
                <a:srgbClr val="B4C8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13"/>
            </p:custDataLst>
          </p:nvPr>
        </p:nvSpPr>
        <p:spPr>
          <a:xfrm>
            <a:off x="4635500" y="4572000"/>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endParaRPr lang="en-US" sz="1100"/>
          </a:p>
        </p:txBody>
      </p:sp>
      <p:sp>
        <p:nvSpPr>
          <p:cNvPr id="13" name="AutoShape 13"/>
          <p:cNvSpPr/>
          <p:nvPr>
            <p:custDataLst>
              <p:tags r:id="rId14"/>
            </p:custDataLst>
          </p:nvPr>
        </p:nvSpPr>
        <p:spPr>
          <a:xfrm>
            <a:off x="8128000" y="4025265"/>
            <a:ext cx="3302000" cy="1397635"/>
          </a:xfrm>
          <a:prstGeom prst="roundRect">
            <a:avLst>
              <a:gd name="adj" fmla="val 4347"/>
            </a:avLst>
          </a:prstGeom>
          <a:solidFill>
            <a:srgbClr val="FFFFFF">
              <a:alpha val="12000"/>
            </a:srgbClr>
          </a:solidFill>
          <a:ln w="12700" cap="flat" cmpd="sng">
            <a:solidFill>
              <a:srgbClr val="FFFFFF">
                <a:alpha val="2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45500" y="4342765"/>
            <a:ext cx="609600" cy="609600"/>
          </a:xfrm>
          <a:prstGeom prst="rect">
            <a:avLst/>
          </a:prstGeom>
        </p:spPr>
      </p:pic>
      <p:sp>
        <p:nvSpPr>
          <p:cNvPr id="15" name="AutoShape 15"/>
          <p:cNvSpPr/>
          <p:nvPr>
            <p:custDataLst>
              <p:tags r:id="rId18"/>
            </p:custDataLst>
          </p:nvPr>
        </p:nvSpPr>
        <p:spPr>
          <a:xfrm>
            <a:off x="9207500" y="4342765"/>
            <a:ext cx="203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资产管理</a:t>
            </a:r>
            <a:endParaRPr lang="en-US" sz="1100"/>
          </a:p>
          <a:p>
            <a:pPr indent="0" algn="l">
              <a:lnSpc>
                <a:spcPct val="125000"/>
              </a:lnSpc>
            </a:pPr>
            <a:endParaRPr lang="en-US" sz="1300" b="0" i="0" u="none" strike="noStrike">
              <a:solidFill>
                <a:srgbClr val="B4C8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19"/>
            </p:custDataLst>
          </p:nvPr>
        </p:nvSpPr>
        <p:spPr>
          <a:xfrm>
            <a:off x="8318500" y="5257165"/>
            <a:ext cx="2921000" cy="1270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cxnSp>
        <p:nvCxnSpPr>
          <p:cNvPr id="2" name="Connector 2"/>
          <p:cNvCxnSpPr/>
          <p:nvPr/>
        </p:nvCxnSpPr>
        <p:spPr>
          <a:xfrm>
            <a:off x="1231900" y="2197100"/>
            <a:ext cx="7061211"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sp>
        <p:nvSpPr>
          <p:cNvPr id="3" name="AutoShape 3"/>
          <p:cNvSpPr/>
          <p:nvPr/>
        </p:nvSpPr>
        <p:spPr>
          <a:xfrm>
            <a:off x="660400" y="2616200"/>
            <a:ext cx="10858500" cy="35179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rot="10800000" flipV="1">
            <a:off x="660400" y="1130300"/>
            <a:ext cx="10858500" cy="6477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构成 Nessus 高效扫描能力的三大核心基石</a:t>
            </a:r>
            <a:endParaRPr lang="en-US" sz="1100"/>
          </a:p>
        </p:txBody>
      </p:sp>
      <p:sp>
        <p:nvSpPr>
          <p:cNvPr id="5" name="AutoShape 5"/>
          <p:cNvSpPr/>
          <p:nvPr/>
        </p:nvSpPr>
        <p:spPr>
          <a:xfrm>
            <a:off x="838200" y="2006600"/>
            <a:ext cx="393700" cy="393700"/>
          </a:xfrm>
          <a:prstGeom prst="rect">
            <a:avLst/>
          </a:prstGeom>
          <a:solidFill>
            <a:srgbClr val="082F4D">
              <a:alpha val="950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6" name="AutoShape 6"/>
          <p:cNvSpPr/>
          <p:nvPr/>
        </p:nvSpPr>
        <p:spPr>
          <a:xfrm>
            <a:off x="749300" y="2924810"/>
            <a:ext cx="3644265"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策略管理</a:t>
            </a:r>
            <a:endParaRPr lang="en-US" sz="1100"/>
          </a:p>
        </p:txBody>
      </p:sp>
      <p:sp>
        <p:nvSpPr>
          <p:cNvPr id="7" name="AutoShape 7"/>
          <p:cNvSpPr/>
          <p:nvPr/>
        </p:nvSpPr>
        <p:spPr>
          <a:xfrm>
            <a:off x="7493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扫描的“导航图”。定义扫描的范围、深度和类型，是控制扫描行为的核心配置，决定了扫描的方向与广度。</a:t>
            </a:r>
            <a:endParaRPr lang="en-US" sz="1100"/>
          </a:p>
        </p:txBody>
      </p:sp>
      <p:sp>
        <p:nvSpPr>
          <p:cNvPr id="8" name="AutoShape 8"/>
          <p:cNvSpPr/>
          <p:nvPr/>
        </p:nvSpPr>
        <p:spPr>
          <a:xfrm>
            <a:off x="4495800" y="2006600"/>
            <a:ext cx="393700" cy="393700"/>
          </a:xfrm>
          <a:prstGeom prst="rect">
            <a:avLst/>
          </a:prstGeom>
          <a:solidFill>
            <a:srgbClr val="082F4D">
              <a:alpha val="950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9" name="AutoShape 9"/>
          <p:cNvSpPr/>
          <p:nvPr/>
        </p:nvSpPr>
        <p:spPr>
          <a:xfrm>
            <a:off x="4394200" y="2924810"/>
            <a:ext cx="3390900"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扫描任务 </a:t>
            </a:r>
            <a:endParaRPr lang="en-US" sz="1100"/>
          </a:p>
        </p:txBody>
      </p:sp>
      <p:sp>
        <p:nvSpPr>
          <p:cNvPr id="10" name="AutoShape 10"/>
          <p:cNvSpPr/>
          <p:nvPr/>
        </p:nvSpPr>
        <p:spPr>
          <a:xfrm>
            <a:off x="43942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执行扫描的“引擎”。将策略应用于目标资产的具体执行过程，涵盖任务的创建、周期调度和实时状态监控。</a:t>
            </a:r>
            <a:endParaRPr lang="en-US" sz="1100"/>
          </a:p>
        </p:txBody>
      </p:sp>
      <p:sp>
        <p:nvSpPr>
          <p:cNvPr id="11" name="AutoShape 11"/>
          <p:cNvSpPr/>
          <p:nvPr/>
        </p:nvSpPr>
        <p:spPr>
          <a:xfrm>
            <a:off x="8140700" y="2006600"/>
            <a:ext cx="393700" cy="393700"/>
          </a:xfrm>
          <a:prstGeom prst="rect">
            <a:avLst/>
          </a:prstGeom>
          <a:solidFill>
            <a:srgbClr val="082F4D">
              <a:alpha val="950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nvSpPr>
        <p:spPr>
          <a:xfrm>
            <a:off x="8051800" y="2924810"/>
            <a:ext cx="3390900"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资产管理 </a:t>
            </a:r>
            <a:endParaRPr lang="en-US" sz="1100"/>
          </a:p>
        </p:txBody>
      </p:sp>
      <p:sp>
        <p:nvSpPr>
          <p:cNvPr id="13" name="AutoShape 13"/>
          <p:cNvSpPr/>
          <p:nvPr/>
        </p:nvSpPr>
        <p:spPr>
          <a:xfrm>
            <a:off x="80518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扫描的“靶场”。系统化地管理需要扫描的目标，支持资产的主动发现、逻辑分组和灵活标签，是应对复杂网络环境的关键。</a:t>
            </a:r>
            <a:endParaRPr lang="en-US" sz="1100"/>
          </a:p>
        </p:txBody>
      </p:sp>
      <p:sp>
        <p:nvSpPr>
          <p:cNvPr id="14" name="AutoShape 14"/>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3.1 Nessus 的三大支柱</a:t>
            </a:r>
            <a:endParaRPr lang="en-US" sz="1100"/>
          </a:p>
        </p:txBody>
      </p:sp>
      <p:cxnSp>
        <p:nvCxnSpPr>
          <p:cNvPr id="16" name="Connector 2"/>
          <p:cNvCxnSpPr/>
          <p:nvPr/>
        </p:nvCxnSpPr>
        <p:spPr>
          <a:xfrm flipV="1">
            <a:off x="8539480" y="2212975"/>
            <a:ext cx="2984500" cy="1905"/>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130300"/>
            <a:ext cx="10858500" cy="4826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800" b="1">
                <a:solidFill>
                  <a:srgbClr val="FFFFFF"/>
                </a:solidFill>
                <a:latin typeface="微软雅黑" panose="020B0503020204020204" charset="-122"/>
                <a:ea typeface="微软雅黑" panose="020B0503020204020204" charset="-122"/>
                <a:cs typeface="微软雅黑" panose="020B0503020204020204" charset="-122"/>
              </a:rPr>
              <a:t>策略管理是 Nessus 的核心配置中心，用于统一创建、编辑、复用和管理扫描规则，让扫描标准化</a:t>
            </a:r>
            <a:endParaRPr lang="zh-CN" altLang="en-US" sz="1100"/>
          </a:p>
        </p:txBody>
      </p:sp>
      <p:sp>
        <p:nvSpPr>
          <p:cNvPr id="3" name="AutoShape 3"/>
          <p:cNvSpPr/>
          <p:nvPr>
            <p:custDataLst>
              <p:tags r:id="rId1"/>
            </p:custDataLst>
          </p:nvPr>
        </p:nvSpPr>
        <p:spPr>
          <a:xfrm>
            <a:off x="1295400" y="24003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策略构成</a:t>
            </a:r>
            <a:endParaRPr lang="en-US" sz="1100"/>
          </a:p>
        </p:txBody>
      </p:sp>
      <p:sp>
        <p:nvSpPr>
          <p:cNvPr id="4" name="AutoShape 4"/>
          <p:cNvSpPr/>
          <p:nvPr>
            <p:custDataLst>
              <p:tags r:id="rId2"/>
            </p:custDataLst>
          </p:nvPr>
        </p:nvSpPr>
        <p:spPr>
          <a:xfrm>
            <a:off x="1295400" y="2844800"/>
            <a:ext cx="4292600" cy="1079500"/>
          </a:xfrm>
          <a:prstGeom prst="rect">
            <a:avLst/>
          </a:prstGeom>
          <a:noFill/>
          <a:ln w="12700" cap="flat" cmpd="sng">
            <a:noFill/>
            <a:prstDash val="solid"/>
            <a:round/>
          </a:ln>
        </p:spPr>
        <p:txBody>
          <a:bodyPr vert="horz" wrap="square" lIns="88900" tIns="50800" rIns="88900" bIns="50800" rtlCol="0" anchor="t" anchorCtr="0"/>
          <a:lstStyle/>
          <a:p>
            <a:pPr algn="l">
              <a:lnSpc>
                <a:spcPct val="117000"/>
              </a:lnSpc>
              <a:buSzTx/>
              <a:defRPr/>
            </a:pPr>
            <a:r>
              <a:rPr lang="zh-CN" altLang="en-US" sz="1200">
                <a:solidFill>
                  <a:srgbClr val="FFFFFF"/>
                </a:solidFill>
                <a:latin typeface="微软雅黑" panose="020B0503020204020204" charset="-122"/>
                <a:ea typeface="微软雅黑" panose="020B0503020204020204" charset="-122"/>
                <a:cs typeface="微软雅黑" panose="020B0503020204020204" charset="-122"/>
              </a:rPr>
              <a:t>策略是</a:t>
            </a:r>
            <a:r>
              <a:rPr lang="en-US" sz="1200">
                <a:solidFill>
                  <a:srgbClr val="FFFFFF"/>
                </a:solidFill>
                <a:latin typeface="微软雅黑" panose="020B0503020204020204" charset="-122"/>
                <a:ea typeface="微软雅黑" panose="020B0503020204020204" charset="-122"/>
                <a:cs typeface="微软雅黑" panose="020B0503020204020204" charset="-122"/>
              </a:rPr>
              <a:t>一套完整扫描规则集合，包含端口范围、漏洞插件、扫描速度、并发数、登录凭证、报告选项等全部参数。</a:t>
            </a:r>
            <a:endParaRPr lang="en-US" sz="12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AutoShape 5"/>
          <p:cNvSpPr/>
          <p:nvPr>
            <p:custDataLst>
              <p:tags r:id="rId3"/>
            </p:custDataLst>
          </p:nvPr>
        </p:nvSpPr>
        <p:spPr>
          <a:xfrm>
            <a:off x="1384300" y="19431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1</a:t>
            </a:r>
            <a:endParaRPr lang="en-US" sz="1100"/>
          </a:p>
        </p:txBody>
      </p:sp>
      <p:sp>
        <p:nvSpPr>
          <p:cNvPr id="6" name="AutoShape 6"/>
          <p:cNvSpPr/>
          <p:nvPr>
            <p:custDataLst>
              <p:tags r:id="rId4"/>
            </p:custDataLst>
          </p:nvPr>
        </p:nvSpPr>
        <p:spPr>
          <a:xfrm>
            <a:off x="6578600" y="24003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插件选择</a:t>
            </a:r>
            <a:endParaRPr lang="en-US" sz="1100"/>
          </a:p>
        </p:txBody>
      </p:sp>
      <p:sp>
        <p:nvSpPr>
          <p:cNvPr id="7" name="AutoShape 7"/>
          <p:cNvSpPr/>
          <p:nvPr>
            <p:custDataLst>
              <p:tags r:id="rId5"/>
            </p:custDataLst>
          </p:nvPr>
        </p:nvSpPr>
        <p:spPr>
          <a:xfrm>
            <a:off x="6578600" y="2844800"/>
            <a:ext cx="4292600" cy="1079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可根据检测需求，灵活按漏洞类型、风险等级或插件家族进行选择，精准把控漏洞检测的广度与深度，避免无效扫描。</a:t>
            </a:r>
            <a:endParaRPr lang="en-US" sz="1100"/>
          </a:p>
        </p:txBody>
      </p:sp>
      <p:sp>
        <p:nvSpPr>
          <p:cNvPr id="8" name="AutoShape 8"/>
          <p:cNvSpPr/>
          <p:nvPr>
            <p:custDataLst>
              <p:tags r:id="rId6"/>
            </p:custDataLst>
          </p:nvPr>
        </p:nvSpPr>
        <p:spPr>
          <a:xfrm>
            <a:off x="6667500" y="19431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2</a:t>
            </a:r>
            <a:endParaRPr lang="en-US" sz="1100"/>
          </a:p>
        </p:txBody>
      </p:sp>
      <p:sp>
        <p:nvSpPr>
          <p:cNvPr id="9" name="AutoShape 9"/>
          <p:cNvSpPr/>
          <p:nvPr>
            <p:custDataLst>
              <p:tags r:id="rId7"/>
            </p:custDataLst>
          </p:nvPr>
        </p:nvSpPr>
        <p:spPr>
          <a:xfrm>
            <a:off x="1295400" y="47498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扫描设置</a:t>
            </a:r>
            <a:endParaRPr lang="en-US" sz="1100"/>
          </a:p>
        </p:txBody>
      </p:sp>
      <p:sp>
        <p:nvSpPr>
          <p:cNvPr id="10" name="AutoShape 10"/>
          <p:cNvSpPr/>
          <p:nvPr>
            <p:custDataLst>
              <p:tags r:id="rId8"/>
            </p:custDataLst>
          </p:nvPr>
        </p:nvSpPr>
        <p:spPr>
          <a:xfrm>
            <a:off x="1295400" y="5194300"/>
            <a:ext cx="4292600" cy="1079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自定义端口扫描范围、调整扫描性能参数，在保障全面的漏洞探测效果与控制扫描产生的网络负载之间找到最佳平衡点。</a:t>
            </a:r>
            <a:endParaRPr lang="en-US" sz="1100"/>
          </a:p>
        </p:txBody>
      </p:sp>
      <p:sp>
        <p:nvSpPr>
          <p:cNvPr id="11" name="AutoShape 11"/>
          <p:cNvSpPr/>
          <p:nvPr>
            <p:custDataLst>
              <p:tags r:id="rId9"/>
            </p:custDataLst>
          </p:nvPr>
        </p:nvSpPr>
        <p:spPr>
          <a:xfrm>
            <a:off x="1384300" y="42926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custDataLst>
              <p:tags r:id="rId10"/>
            </p:custDataLst>
          </p:nvPr>
        </p:nvSpPr>
        <p:spPr>
          <a:xfrm>
            <a:off x="6578600" y="47498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管理界面</a:t>
            </a:r>
            <a:endParaRPr lang="en-US" sz="1100"/>
          </a:p>
        </p:txBody>
      </p:sp>
      <p:sp>
        <p:nvSpPr>
          <p:cNvPr id="13" name="AutoShape 13"/>
          <p:cNvSpPr/>
          <p:nvPr>
            <p:custDataLst>
              <p:tags r:id="rId11"/>
            </p:custDataLst>
          </p:nvPr>
        </p:nvSpPr>
        <p:spPr>
          <a:xfrm>
            <a:off x="6578600" y="5194300"/>
            <a:ext cx="4292600" cy="1079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提供直观、易用的图形化管理界面，支持用户快速创建新策略，并可对现有策略进行复制、编辑、删除等全生命周期管理。</a:t>
            </a:r>
            <a:endParaRPr lang="en-US" sz="1100"/>
          </a:p>
        </p:txBody>
      </p:sp>
      <p:sp>
        <p:nvSpPr>
          <p:cNvPr id="14" name="AutoShape 14"/>
          <p:cNvSpPr/>
          <p:nvPr>
            <p:custDataLst>
              <p:tags r:id="rId12"/>
            </p:custDataLst>
          </p:nvPr>
        </p:nvSpPr>
        <p:spPr>
          <a:xfrm>
            <a:off x="6667500" y="42926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4</a:t>
            </a:r>
            <a:endParaRPr lang="en-US" sz="1100"/>
          </a:p>
        </p:txBody>
      </p:sp>
      <p:cxnSp>
        <p:nvCxnSpPr>
          <p:cNvPr id="15" name="Connector 15"/>
          <p:cNvCxnSpPr/>
          <p:nvPr>
            <p:custDataLst>
              <p:tags r:id="rId13"/>
            </p:custDataLst>
          </p:nvPr>
        </p:nvCxnSpPr>
        <p:spPr>
          <a:xfrm>
            <a:off x="660400" y="3975100"/>
            <a:ext cx="10858507" cy="12700"/>
          </a:xfrm>
          <a:prstGeom prst="line">
            <a:avLst/>
          </a:prstGeom>
          <a:solidFill>
            <a:srgbClr val="DEE0E3">
              <a:alpha val="100000"/>
            </a:srgbClr>
          </a:solidFill>
          <a:ln w="12700" cap="sq" cmpd="sng">
            <a:solidFill>
              <a:srgbClr val="FFFFFF">
                <a:alpha val="40000"/>
              </a:srgbClr>
            </a:solidFill>
            <a:prstDash val="solid"/>
            <a:miter lim="10000000"/>
            <a:headEnd type="none" w="med" len="med"/>
            <a:tailEnd type="none" w="med" len="med"/>
          </a:ln>
        </p:spPr>
      </p:cxnSp>
      <p:sp>
        <p:nvSpPr>
          <p:cNvPr id="16" name="AutoShape 16"/>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3.2 策略管理</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3" name="AutoShape 3"/>
          <p:cNvSpPr/>
          <p:nvPr/>
        </p:nvSpPr>
        <p:spPr>
          <a:xfrm>
            <a:off x="660400" y="1704975"/>
            <a:ext cx="5118100" cy="1181735"/>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739900" y="1769745"/>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任务入口</a:t>
            </a:r>
            <a:endParaRPr lang="en-US" sz="1100"/>
          </a:p>
        </p:txBody>
      </p:sp>
      <p:sp>
        <p:nvSpPr>
          <p:cNvPr id="5" name="AutoShape 5"/>
          <p:cNvSpPr/>
          <p:nvPr/>
        </p:nvSpPr>
        <p:spPr>
          <a:xfrm>
            <a:off x="1739900" y="2214245"/>
            <a:ext cx="38735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33000"/>
              </a:lnSpc>
              <a:defRPr/>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在“Scans”模块中完成所有扫描任务的创建、启动、监控和结果查看。</a:t>
            </a:r>
            <a:endParaRPr lang="en-US" sz="1100"/>
          </a:p>
        </p:txBody>
      </p:sp>
      <p:sp>
        <p:nvSpPr>
          <p:cNvPr id="6" name="AutoShape 6"/>
          <p:cNvSpPr/>
          <p:nvPr/>
        </p:nvSpPr>
        <p:spPr>
          <a:xfrm>
            <a:off x="762000" y="1515745"/>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0A3E67"/>
                </a:solidFill>
                <a:latin typeface="Arial" panose="020B0604020202020204"/>
                <a:ea typeface="Arial" panose="020B0604020202020204"/>
                <a:cs typeface="Arial" panose="020B0604020202020204"/>
                <a:sym typeface="Arial" panose="020B0604020202020204"/>
              </a:rPr>
              <a:t>01</a:t>
            </a:r>
            <a:endParaRPr lang="en-US" sz="1100"/>
          </a:p>
        </p:txBody>
      </p:sp>
      <p:sp>
        <p:nvSpPr>
          <p:cNvPr id="8" name="AutoShape 8"/>
          <p:cNvSpPr/>
          <p:nvPr/>
        </p:nvSpPr>
        <p:spPr>
          <a:xfrm>
            <a:off x="660400" y="3427095"/>
            <a:ext cx="5118100" cy="120904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739900" y="3509645"/>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配置扫描目标</a:t>
            </a:r>
            <a:endParaRPr lang="en-US" sz="1100"/>
          </a:p>
        </p:txBody>
      </p:sp>
      <p:sp>
        <p:nvSpPr>
          <p:cNvPr id="10" name="AutoShape 10"/>
          <p:cNvSpPr/>
          <p:nvPr/>
        </p:nvSpPr>
        <p:spPr>
          <a:xfrm>
            <a:off x="1739900" y="3954145"/>
            <a:ext cx="38735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33000"/>
              </a:lnSpc>
              <a:defRPr/>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明确指定扫描目标，可以是单个IP、IP段、域名或导入的资产列表。</a:t>
            </a:r>
            <a:endParaRPr lang="en-US" sz="1100"/>
          </a:p>
        </p:txBody>
      </p:sp>
      <p:sp>
        <p:nvSpPr>
          <p:cNvPr id="11" name="AutoShape 11"/>
          <p:cNvSpPr/>
          <p:nvPr/>
        </p:nvSpPr>
        <p:spPr>
          <a:xfrm>
            <a:off x="762000" y="3255645"/>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0A3E67"/>
                </a:solidFill>
                <a:latin typeface="Arial" panose="020B0604020202020204"/>
                <a:ea typeface="Arial" panose="020B0604020202020204"/>
                <a:cs typeface="Arial" panose="020B0604020202020204"/>
                <a:sym typeface="Arial" panose="020B0604020202020204"/>
              </a:rPr>
              <a:t>02</a:t>
            </a:r>
            <a:endParaRPr lang="en-US" sz="1100"/>
          </a:p>
        </p:txBody>
      </p:sp>
      <p:sp>
        <p:nvSpPr>
          <p:cNvPr id="13" name="AutoShape 13"/>
          <p:cNvSpPr/>
          <p:nvPr/>
        </p:nvSpPr>
        <p:spPr>
          <a:xfrm>
            <a:off x="6400800" y="2940050"/>
            <a:ext cx="5118100" cy="120904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480300" y="302260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选择扫描策略</a:t>
            </a:r>
            <a:endParaRPr lang="en-US" sz="1100"/>
          </a:p>
        </p:txBody>
      </p:sp>
      <p:sp>
        <p:nvSpPr>
          <p:cNvPr id="15" name="AutoShape 15"/>
          <p:cNvSpPr/>
          <p:nvPr/>
        </p:nvSpPr>
        <p:spPr>
          <a:xfrm>
            <a:off x="7480300" y="3467100"/>
            <a:ext cx="38735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33000"/>
              </a:lnSpc>
              <a:defRPr/>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从策略库中选择一个合适的策略应用到当前任务中。</a:t>
            </a:r>
            <a:endParaRPr lang="en-US" sz="1100"/>
          </a:p>
        </p:txBody>
      </p:sp>
      <p:sp>
        <p:nvSpPr>
          <p:cNvPr id="16" name="AutoShape 16"/>
          <p:cNvSpPr/>
          <p:nvPr/>
        </p:nvSpPr>
        <p:spPr>
          <a:xfrm>
            <a:off x="6489700" y="2768600"/>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0A3E67"/>
                </a:solidFill>
                <a:latin typeface="Arial" panose="020B0604020202020204"/>
                <a:ea typeface="Arial" panose="020B0604020202020204"/>
                <a:cs typeface="Arial" panose="020B0604020202020204"/>
                <a:sym typeface="Arial" panose="020B0604020202020204"/>
              </a:rPr>
              <a:t>03</a:t>
            </a:r>
            <a:endParaRPr lang="en-US" sz="1100"/>
          </a:p>
        </p:txBody>
      </p:sp>
      <p:sp>
        <p:nvSpPr>
          <p:cNvPr id="18" name="AutoShape 18"/>
          <p:cNvSpPr/>
          <p:nvPr/>
        </p:nvSpPr>
        <p:spPr>
          <a:xfrm>
            <a:off x="660400" y="5187315"/>
            <a:ext cx="5118100" cy="118491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739900" y="5262245"/>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调度与执行</a:t>
            </a:r>
            <a:endParaRPr lang="en-US" sz="1100"/>
          </a:p>
        </p:txBody>
      </p:sp>
      <p:sp>
        <p:nvSpPr>
          <p:cNvPr id="20" name="AutoShape 20"/>
          <p:cNvSpPr/>
          <p:nvPr/>
        </p:nvSpPr>
        <p:spPr>
          <a:xfrm>
            <a:off x="1739900" y="5706745"/>
            <a:ext cx="38735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33000"/>
              </a:lnSpc>
              <a:defRPr/>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可立即执行，或安排在未来某个时间点自动运行，避免影响业务网络。</a:t>
            </a:r>
            <a:endParaRPr lang="en-US" sz="1100"/>
          </a:p>
        </p:txBody>
      </p:sp>
      <p:sp>
        <p:nvSpPr>
          <p:cNvPr id="21" name="AutoShape 21"/>
          <p:cNvSpPr/>
          <p:nvPr/>
        </p:nvSpPr>
        <p:spPr>
          <a:xfrm>
            <a:off x="762000" y="5008245"/>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0A3E67"/>
                </a:solidFill>
                <a:latin typeface="Arial" panose="020B0604020202020204"/>
                <a:ea typeface="Arial" panose="020B0604020202020204"/>
                <a:cs typeface="Arial" panose="020B0604020202020204"/>
                <a:sym typeface="Arial" panose="020B0604020202020204"/>
              </a:rPr>
              <a:t>04</a:t>
            </a:r>
            <a:endParaRPr lang="en-US" sz="1100"/>
          </a:p>
        </p:txBody>
      </p:sp>
      <p:sp>
        <p:nvSpPr>
          <p:cNvPr id="22" name="AutoShape 22"/>
          <p:cNvSpPr/>
          <p:nvPr/>
        </p:nvSpPr>
        <p:spPr>
          <a:xfrm>
            <a:off x="6400800" y="1955800"/>
            <a:ext cx="5372100" cy="15113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从新建到启动扫描任务的完整流程</a:t>
            </a:r>
            <a:endParaRPr lang="en-US" sz="1100"/>
          </a:p>
        </p:txBody>
      </p:sp>
      <p:sp>
        <p:nvSpPr>
          <p:cNvPr id="24" name="AutoShape 24"/>
          <p:cNvSpPr/>
          <p:nvPr/>
        </p:nvSpPr>
        <p:spPr>
          <a:xfrm>
            <a:off x="6400800" y="4699635"/>
            <a:ext cx="5118100" cy="1185545"/>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480300" y="477520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监控扫描进度</a:t>
            </a:r>
            <a:endParaRPr lang="en-US" sz="1100"/>
          </a:p>
        </p:txBody>
      </p:sp>
      <p:sp>
        <p:nvSpPr>
          <p:cNvPr id="26" name="AutoShape 26"/>
          <p:cNvSpPr/>
          <p:nvPr/>
        </p:nvSpPr>
        <p:spPr>
          <a:xfrm>
            <a:off x="7480300" y="5219700"/>
            <a:ext cx="387350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33000"/>
              </a:lnSpc>
              <a:defRPr/>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任务启动后，可在扫描列表中实时查看其运行状态、进度条和已发现的漏洞数量。</a:t>
            </a:r>
            <a:endParaRPr lang="en-US" sz="1100"/>
          </a:p>
        </p:txBody>
      </p:sp>
      <p:sp>
        <p:nvSpPr>
          <p:cNvPr id="27" name="AutoShape 27"/>
          <p:cNvSpPr/>
          <p:nvPr/>
        </p:nvSpPr>
        <p:spPr>
          <a:xfrm>
            <a:off x="6489700" y="4521200"/>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r>
              <a:rPr lang="en-US" sz="4000" b="1" i="0" u="none" strike="noStrike">
                <a:solidFill>
                  <a:srgbClr val="0A3E67"/>
                </a:solidFill>
                <a:latin typeface="Arial" panose="020B0604020202020204"/>
                <a:ea typeface="Arial" panose="020B0604020202020204"/>
                <a:cs typeface="Arial" panose="020B0604020202020204"/>
                <a:sym typeface="Arial" panose="020B0604020202020204"/>
              </a:rPr>
              <a:t>05</a:t>
            </a:r>
            <a:endParaRPr lang="en-US" sz="1100"/>
          </a:p>
        </p:txBody>
      </p:sp>
      <p:sp>
        <p:nvSpPr>
          <p:cNvPr id="28" name="AutoShape 28"/>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3.3 扫描任务</a:t>
            </a:r>
            <a:endParaRPr lang="en-US" sz="1100"/>
          </a:p>
        </p:txBody>
      </p:sp>
      <p:sp>
        <p:nvSpPr>
          <p:cNvPr id="29" name="文本框 28"/>
          <p:cNvSpPr txBox="1"/>
          <p:nvPr/>
        </p:nvSpPr>
        <p:spPr>
          <a:xfrm>
            <a:off x="762000" y="1123950"/>
            <a:ext cx="7236460" cy="368300"/>
          </a:xfrm>
          <a:prstGeom prst="rect">
            <a:avLst/>
          </a:prstGeom>
        </p:spPr>
        <p:txBody>
          <a:bodyPr wrap="square">
            <a:spAutoFit/>
          </a:bodyPr>
          <a:p>
            <a:pPr algn="l">
              <a:buSzTx/>
              <a:defRPr/>
            </a:pPr>
            <a:r>
              <a:rPr lang="en-US" sz="1800" b="1">
                <a:solidFill>
                  <a:srgbClr val="FFFFFF"/>
                </a:solidFill>
                <a:latin typeface="微软雅黑" panose="020B0503020204020204" charset="-122"/>
                <a:ea typeface="微软雅黑" panose="020B0503020204020204" charset="-122"/>
                <a:cs typeface="微软雅黑" panose="020B0503020204020204" charset="-122"/>
              </a:rPr>
              <a:t>Nessus 扫描功能是对网络资产进行自动化安全漏洞检测的核心能力</a:t>
            </a:r>
            <a:endParaRPr lang="en-US" sz="180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130300"/>
            <a:ext cx="4198620" cy="50038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
        <p:nvSpPr>
          <p:cNvPr id="3" name="AutoShape 3"/>
          <p:cNvSpPr/>
          <p:nvPr/>
        </p:nvSpPr>
        <p:spPr>
          <a:xfrm rot="10800000" flipV="1">
            <a:off x="660400" y="1752600"/>
            <a:ext cx="3959225" cy="37211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r>
              <a:rPr lang="en-US" altLang="zh-CN" sz="2400" b="1">
                <a:solidFill>
                  <a:srgbClr val="FFFFFF"/>
                </a:solidFill>
                <a:latin typeface="微软雅黑" panose="020B0503020204020204" charset="-122"/>
                <a:ea typeface="微软雅黑" panose="020B0503020204020204" charset="-122"/>
                <a:cs typeface="微软雅黑" panose="020B0503020204020204" charset="-122"/>
              </a:rPr>
              <a:t>Nessus </a:t>
            </a:r>
            <a:r>
              <a:rPr lang="zh-CN" altLang="en-US" sz="2400" b="1">
                <a:solidFill>
                  <a:srgbClr val="FFFFFF"/>
                </a:solidFill>
                <a:latin typeface="微软雅黑" panose="020B0503020204020204" charset="-122"/>
                <a:ea typeface="微软雅黑" panose="020B0503020204020204" charset="-122"/>
                <a:cs typeface="微软雅黑" panose="020B0503020204020204" charset="-122"/>
              </a:rPr>
              <a:t>资产管理用于统一梳理、归类、管理所有待扫描资产，是漏洞扫描与风险管控的基础</a:t>
            </a:r>
            <a:endParaRPr lang="zh-CN" altLang="en-US" sz="2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1"/>
            </p:custDataLst>
          </p:nvPr>
        </p:nvSpPr>
        <p:spPr>
          <a:xfrm>
            <a:off x="4543425" y="1333500"/>
            <a:ext cx="635000" cy="635000"/>
          </a:xfrm>
          <a:prstGeom prst="rect">
            <a:avLst/>
          </a:prstGeom>
          <a:solidFill>
            <a:srgbClr val="0A3E67">
              <a:alpha val="100000"/>
            </a:srgbClr>
          </a:solid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sp>
        <p:nvSpPr>
          <p:cNvPr id="5" name="AutoShape 5"/>
          <p:cNvSpPr/>
          <p:nvPr>
            <p:custDataLst>
              <p:tags r:id="rId2"/>
            </p:custDataLst>
          </p:nvPr>
        </p:nvSpPr>
        <p:spPr>
          <a:xfrm>
            <a:off x="5381625" y="1130300"/>
            <a:ext cx="6261100" cy="419100"/>
          </a:xfrm>
          <a:prstGeom prst="rect">
            <a:avLst/>
          </a:prstGeom>
          <a:noFill/>
          <a:ln w="12700" cap="flat" cmpd="sng">
            <a:noFill/>
            <a:prstDash val="solid"/>
            <a:round/>
          </a:ln>
        </p:spPr>
        <p:txBody>
          <a:bodyPr vert="horz" wrap="square" lIns="88900" tIns="50800" rIns="88900" bIns="50800" rtlCol="0" anchor="b"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什么是资产</a:t>
            </a:r>
            <a:endParaRPr lang="en-US" sz="1100"/>
          </a:p>
        </p:txBody>
      </p:sp>
      <p:sp>
        <p:nvSpPr>
          <p:cNvPr id="6" name="AutoShape 6"/>
          <p:cNvSpPr/>
          <p:nvPr>
            <p:custDataLst>
              <p:tags r:id="rId3"/>
            </p:custDataLst>
          </p:nvPr>
        </p:nvSpPr>
        <p:spPr>
          <a:xfrm>
            <a:off x="5381625" y="1549400"/>
            <a:ext cx="6261100" cy="825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资产代表网络中所有需要被扫描和管理的实体，如服务器、PC、网络设备等。</a:t>
            </a:r>
            <a:endParaRPr lang="en-US" sz="1100"/>
          </a:p>
        </p:txBody>
      </p:sp>
      <p:sp>
        <p:nvSpPr>
          <p:cNvPr id="7" name="AutoShape 7"/>
          <p:cNvSpPr/>
          <p:nvPr>
            <p:custDataLst>
              <p:tags r:id="rId4"/>
            </p:custDataLst>
          </p:nvPr>
        </p:nvSpPr>
        <p:spPr>
          <a:xfrm>
            <a:off x="4543425" y="2641600"/>
            <a:ext cx="635000" cy="635000"/>
          </a:xfrm>
          <a:prstGeom prst="rect">
            <a:avLst/>
          </a:prstGeom>
          <a:solidFill>
            <a:srgbClr val="0A3E67">
              <a:alpha val="100000"/>
            </a:srgbClr>
          </a:solid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sp>
        <p:nvSpPr>
          <p:cNvPr id="8" name="AutoShape 8"/>
          <p:cNvSpPr/>
          <p:nvPr>
            <p:custDataLst>
              <p:tags r:id="rId5"/>
            </p:custDataLst>
          </p:nvPr>
        </p:nvSpPr>
        <p:spPr>
          <a:xfrm>
            <a:off x="5381625" y="2438400"/>
            <a:ext cx="6261100" cy="419100"/>
          </a:xfrm>
          <a:prstGeom prst="rect">
            <a:avLst/>
          </a:prstGeom>
          <a:noFill/>
          <a:ln w="12700" cap="flat" cmpd="sng">
            <a:noFill/>
            <a:prstDash val="solid"/>
            <a:round/>
          </a:ln>
        </p:spPr>
        <p:txBody>
          <a:bodyPr vert="horz" wrap="square" lIns="88900" tIns="50800" rIns="88900" bIns="50800" rtlCol="0" anchor="b"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资产分组</a:t>
            </a:r>
            <a:endParaRPr lang="en-US" sz="1100"/>
          </a:p>
        </p:txBody>
      </p:sp>
      <p:sp>
        <p:nvSpPr>
          <p:cNvPr id="9" name="AutoShape 9"/>
          <p:cNvSpPr/>
          <p:nvPr>
            <p:custDataLst>
              <p:tags r:id="rId6"/>
            </p:custDataLst>
          </p:nvPr>
        </p:nvSpPr>
        <p:spPr>
          <a:xfrm>
            <a:off x="5381625" y="2870200"/>
            <a:ext cx="6261100" cy="825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可根据部门、区域、功能等维度创建资产文件夹，便于分类管理和权限控制。</a:t>
            </a:r>
            <a:endParaRPr lang="en-US" sz="1100"/>
          </a:p>
        </p:txBody>
      </p:sp>
      <p:sp>
        <p:nvSpPr>
          <p:cNvPr id="10" name="AutoShape 10"/>
          <p:cNvSpPr/>
          <p:nvPr>
            <p:custDataLst>
              <p:tags r:id="rId7"/>
            </p:custDataLst>
          </p:nvPr>
        </p:nvSpPr>
        <p:spPr>
          <a:xfrm>
            <a:off x="4543425" y="3962400"/>
            <a:ext cx="635000" cy="635000"/>
          </a:xfrm>
          <a:prstGeom prst="rect">
            <a:avLst/>
          </a:prstGeom>
          <a:solidFill>
            <a:srgbClr val="0A3E67">
              <a:alpha val="100000"/>
            </a:srgbClr>
          </a:solid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sp>
        <p:nvSpPr>
          <p:cNvPr id="11" name="AutoShape 11"/>
          <p:cNvSpPr/>
          <p:nvPr>
            <p:custDataLst>
              <p:tags r:id="rId8"/>
            </p:custDataLst>
          </p:nvPr>
        </p:nvSpPr>
        <p:spPr>
          <a:xfrm>
            <a:off x="5381625" y="3759200"/>
            <a:ext cx="6261100" cy="419100"/>
          </a:xfrm>
          <a:prstGeom prst="rect">
            <a:avLst/>
          </a:prstGeom>
          <a:noFill/>
          <a:ln w="12700" cap="flat" cmpd="sng">
            <a:noFill/>
            <a:prstDash val="solid"/>
            <a:round/>
          </a:ln>
        </p:spPr>
        <p:txBody>
          <a:bodyPr vert="horz" wrap="square" lIns="88900" tIns="50800" rIns="88900" bIns="50800" rtlCol="0" anchor="b"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导入资产</a:t>
            </a:r>
            <a:endParaRPr lang="en-US" sz="1100"/>
          </a:p>
        </p:txBody>
      </p:sp>
      <p:sp>
        <p:nvSpPr>
          <p:cNvPr id="12" name="AutoShape 12"/>
          <p:cNvSpPr/>
          <p:nvPr>
            <p:custDataLst>
              <p:tags r:id="rId9"/>
            </p:custDataLst>
          </p:nvPr>
        </p:nvSpPr>
        <p:spPr>
          <a:xfrm>
            <a:off x="5381625" y="4178300"/>
            <a:ext cx="6261100" cy="825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支持从CSV、XML等格式的文件批量导入资产列表，极大提高管理大量目标的效率。</a:t>
            </a:r>
            <a:endParaRPr lang="en-US" sz="1100"/>
          </a:p>
        </p:txBody>
      </p:sp>
      <p:sp>
        <p:nvSpPr>
          <p:cNvPr id="13" name="AutoShape 13"/>
          <p:cNvSpPr/>
          <p:nvPr>
            <p:custDataLst>
              <p:tags r:id="rId10"/>
            </p:custDataLst>
          </p:nvPr>
        </p:nvSpPr>
        <p:spPr>
          <a:xfrm>
            <a:off x="4543425" y="5270500"/>
            <a:ext cx="635000" cy="635000"/>
          </a:xfrm>
          <a:prstGeom prst="rect">
            <a:avLst/>
          </a:prstGeom>
          <a:solidFill>
            <a:srgbClr val="0A3E67">
              <a:alpha val="100000"/>
            </a:srgbClr>
          </a:solidFill>
          <a:ln w="127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sp>
        <p:nvSpPr>
          <p:cNvPr id="14" name="AutoShape 14"/>
          <p:cNvSpPr/>
          <p:nvPr>
            <p:custDataLst>
              <p:tags r:id="rId11"/>
            </p:custDataLst>
          </p:nvPr>
        </p:nvSpPr>
        <p:spPr>
          <a:xfrm>
            <a:off x="5381625" y="5067300"/>
            <a:ext cx="6261100" cy="419100"/>
          </a:xfrm>
          <a:prstGeom prst="rect">
            <a:avLst/>
          </a:prstGeom>
          <a:noFill/>
          <a:ln w="12700" cap="flat" cmpd="sng">
            <a:noFill/>
            <a:prstDash val="solid"/>
            <a:round/>
          </a:ln>
        </p:spPr>
        <p:txBody>
          <a:bodyPr vert="horz" wrap="square" lIns="88900" tIns="50800" rIns="88900" bIns="50800" rtlCol="0" anchor="b"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关联扫描</a:t>
            </a:r>
            <a:endParaRPr lang="en-US" sz="1100"/>
          </a:p>
        </p:txBody>
      </p:sp>
      <p:sp>
        <p:nvSpPr>
          <p:cNvPr id="15" name="AutoShape 15"/>
          <p:cNvSpPr/>
          <p:nvPr>
            <p:custDataLst>
              <p:tags r:id="rId12"/>
            </p:custDataLst>
          </p:nvPr>
        </p:nvSpPr>
        <p:spPr>
          <a:xfrm>
            <a:off x="5381625" y="5499100"/>
            <a:ext cx="6261100" cy="825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在创建扫描任务时，可以直接选择资产文件夹作为扫描目标，实现对特定资产组的快速评估。</a:t>
            </a:r>
            <a:endParaRPr lang="en-US" sz="1100"/>
          </a:p>
        </p:txBody>
      </p:sp>
      <p:sp>
        <p:nvSpPr>
          <p:cNvPr id="16" name="AutoShape 16"/>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3.4 资产管理</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3" name="Freeform 3"/>
          <p:cNvSpPr/>
          <p:nvPr/>
        </p:nvSpPr>
        <p:spPr>
          <a:xfrm rot="10800000" flipV="1">
            <a:off x="2451100" y="0"/>
            <a:ext cx="9742308" cy="6857999"/>
          </a:xfrm>
          <a:custGeom>
            <a:avLst/>
            <a:gdLst/>
            <a:ahLst/>
            <a:cxnLst/>
            <a:rect l="l" t="t" r="r" b="b"/>
            <a:pathLst>
              <a:path w="9742308" h="6857999">
                <a:moveTo>
                  <a:pt x="3053131" y="6857999"/>
                </a:moveTo>
                <a:lnTo>
                  <a:pt x="0" y="6857999"/>
                </a:lnTo>
                <a:lnTo>
                  <a:pt x="0" y="4300186"/>
                </a:lnTo>
                <a:lnTo>
                  <a:pt x="4209404" y="0"/>
                </a:lnTo>
                <a:lnTo>
                  <a:pt x="9742308" y="0"/>
                </a:lnTo>
                <a:lnTo>
                  <a:pt x="3053131" y="6857999"/>
                </a:lnTo>
                <a:close/>
              </a:path>
            </a:pathLst>
          </a:custGeom>
          <a:solidFill>
            <a:srgbClr val="2F2F2F">
              <a:alpha val="149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close/>
              </a:path>
            </a:pathLst>
          </a:custGeom>
          <a:solidFill>
            <a:srgbClr val="082F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rot="10800000" flipV="1">
            <a:off x="2451100" y="0"/>
            <a:ext cx="4539692" cy="3743852"/>
          </a:xfrm>
          <a:custGeom>
            <a:avLst/>
            <a:gdLst/>
            <a:ahLst/>
            <a:cxnLst/>
            <a:rect l="l" t="t" r="r" b="b"/>
            <a:pathLst>
              <a:path w="4539692" h="3743852">
                <a:moveTo>
                  <a:pt x="4539692" y="0"/>
                </a:moveTo>
                <a:lnTo>
                  <a:pt x="2760665" y="0"/>
                </a:lnTo>
                <a:lnTo>
                  <a:pt x="888740" y="1916828"/>
                </a:lnTo>
                <a:lnTo>
                  <a:pt x="888740" y="1916828"/>
                </a:lnTo>
                <a:lnTo>
                  <a:pt x="0" y="2830340"/>
                </a:lnTo>
                <a:lnTo>
                  <a:pt x="885642" y="3743852"/>
                </a:lnTo>
                <a:lnTo>
                  <a:pt x="4539692" y="0"/>
                </a:lnTo>
                <a:close/>
              </a:path>
            </a:pathLst>
          </a:custGeom>
          <a:solidFill>
            <a:srgbClr val="1E91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rot="10800000" flipV="1">
            <a:off x="6096000" y="3048"/>
            <a:ext cx="3641663" cy="2830340"/>
          </a:xfrm>
          <a:custGeom>
            <a:avLst/>
            <a:gdLst/>
            <a:ahLst/>
            <a:cxnLst/>
            <a:rect l="l" t="t" r="r" b="b"/>
            <a:pathLst>
              <a:path w="3641663" h="2830340">
                <a:moveTo>
                  <a:pt x="1779026" y="0"/>
                </a:moveTo>
                <a:lnTo>
                  <a:pt x="0" y="0"/>
                </a:lnTo>
                <a:lnTo>
                  <a:pt x="2752924" y="2830340"/>
                </a:lnTo>
                <a:lnTo>
                  <a:pt x="2752924" y="2830340"/>
                </a:lnTo>
                <a:lnTo>
                  <a:pt x="2749827" y="2830340"/>
                </a:lnTo>
                <a:lnTo>
                  <a:pt x="3641663" y="1916828"/>
                </a:lnTo>
                <a:lnTo>
                  <a:pt x="1779026" y="0"/>
                </a:lnTo>
                <a:close/>
              </a:path>
            </a:pathLst>
          </a:cu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rot="10800000" flipV="1">
            <a:off x="2489200" y="25400"/>
            <a:ext cx="9706244" cy="6832611"/>
          </a:xfrm>
          <a:custGeom>
            <a:avLst/>
            <a:gdLst/>
            <a:ahLst/>
            <a:cxnLst/>
            <a:rect l="l" t="t" r="r" b="b"/>
            <a:pathLst>
              <a:path w="9706244" h="6832611">
                <a:moveTo>
                  <a:pt x="3041829" y="6832611"/>
                </a:moveTo>
                <a:lnTo>
                  <a:pt x="0" y="6832611"/>
                </a:lnTo>
                <a:lnTo>
                  <a:pt x="0" y="4284266"/>
                </a:lnTo>
                <a:lnTo>
                  <a:pt x="4193821" y="0"/>
                </a:lnTo>
                <a:lnTo>
                  <a:pt x="9706244" y="0"/>
                </a:lnTo>
                <a:lnTo>
                  <a:pt x="3041829" y="683261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65125" y="2219960"/>
            <a:ext cx="10795000" cy="1524000"/>
          </a:xfrm>
          <a:prstGeom prst="rect">
            <a:avLst/>
          </a:prstGeom>
          <a:noFill/>
          <a:ln w="12700" cap="flat" cmpd="sng">
            <a:noFill/>
            <a:prstDash val="solid"/>
            <a:round/>
          </a:ln>
        </p:spPr>
        <p:txBody>
          <a:bodyPr vert="horz" wrap="square" lIns="127000" tIns="127000" rIns="127000" bIns="127000" rtlCol="0" anchor="ctr" anchorCtr="0"/>
          <a:lstStyle/>
          <a:p>
            <a:pPr indent="0" algn="l">
              <a:lnSpc>
                <a:spcPct val="92000"/>
              </a:lnSpc>
              <a:defRPr/>
            </a:pPr>
            <a:r>
              <a:rPr lang="en-US" sz="4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4. 扫描策略深度解析</a:t>
            </a:r>
            <a:endParaRPr lang="en-US" sz="1100"/>
          </a:p>
        </p:txBody>
      </p:sp>
      <p:sp>
        <p:nvSpPr>
          <p:cNvPr id="10" name="AutoShape 10"/>
          <p:cNvSpPr/>
          <p:nvPr/>
        </p:nvSpPr>
        <p:spPr>
          <a:xfrm>
            <a:off x="660400" y="4175125"/>
            <a:ext cx="10668000" cy="2794000"/>
          </a:xfrm>
          <a:prstGeom prst="rect">
            <a:avLst/>
          </a:prstGeom>
          <a:noFill/>
          <a:ln w="12700" cap="flat" cmpd="sng">
            <a:noFill/>
            <a:prstDash val="solid"/>
            <a:round/>
          </a:ln>
        </p:spPr>
        <p:txBody>
          <a:bodyPr vert="horz" wrap="square" lIns="190500" tIns="190500" rIns="190500" bIns="190500" rtlCol="0" anchor="t" anchorCtr="0"/>
          <a:lstStyle/>
          <a:p>
            <a:pPr indent="0" algn="l">
              <a:lnSpc>
                <a:spcPct val="125000"/>
              </a:lnSpc>
              <a:defRPr/>
            </a:pPr>
            <a:r>
              <a:rPr lang="en-US" sz="18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选择合适的扫描策略是决定漏洞扫描最终效果的核心关键，直接关系到扫描的全面性与准确性。</a:t>
            </a:r>
            <a:endParaRPr lang="en-US" sz="1100"/>
          </a:p>
          <a:p>
            <a:pPr indent="0" algn="l">
              <a:lnSpc>
                <a:spcPct val="125000"/>
              </a:lnSpc>
              <a:spcBef>
                <a:spcPts val="1500"/>
              </a:spcBef>
            </a:pPr>
            <a:r>
              <a:rPr lang="en-US" sz="16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Nessus 提供了极其灵活的策略体系以适应不同场景</a:t>
            </a:r>
            <a:endParaRPr lang="en-US" sz="16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800"/>
              </a:spcBef>
            </a:pPr>
            <a:r>
              <a:rPr lang="en-US" sz="1500" b="1" i="0" u="none" strike="noStrike">
                <a:solidFill>
                  <a:srgbClr val="93C5FD"/>
                </a:solidFill>
                <a:latin typeface="Noto Sans SC" panose="020B0200000000000000" charset="-122"/>
                <a:ea typeface="Noto Sans SC" panose="020B0200000000000000" charset="-122"/>
                <a:cs typeface="Noto Sans SC" panose="020B0200000000000000" charset="-122"/>
                <a:sym typeface="Noto Sans SC" panose="020B0200000000000000" charset="-122"/>
              </a:rPr>
              <a:t>             • 预设策略                               • 自定义策略</a:t>
            </a:r>
            <a:endParaRPr lang="en-US" sz="1500" b="0" i="0" u="none" strike="noStrike">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cxnSp>
        <p:nvCxnSpPr>
          <p:cNvPr id="2" name="Connector 2"/>
          <p:cNvCxnSpPr/>
          <p:nvPr>
            <p:custDataLst>
              <p:tags r:id="rId1"/>
            </p:custDataLst>
          </p:nvPr>
        </p:nvCxnSpPr>
        <p:spPr>
          <a:xfrm>
            <a:off x="2404110" y="2197100"/>
            <a:ext cx="7061211"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none" w="med" len="med"/>
          </a:ln>
        </p:spPr>
      </p:cxnSp>
      <p:sp>
        <p:nvSpPr>
          <p:cNvPr id="3" name="AutoShape 3"/>
          <p:cNvSpPr/>
          <p:nvPr/>
        </p:nvSpPr>
        <p:spPr>
          <a:xfrm>
            <a:off x="660400" y="2616200"/>
            <a:ext cx="10858500" cy="3517900"/>
          </a:xfrm>
          <a:prstGeom prst="roundRect">
            <a:avLst>
              <a:gd name="adj" fmla="val 0"/>
            </a:avLst>
          </a:prstGeom>
          <a:noFill/>
          <a:ln w="12700" cap="flat" cmpd="sng">
            <a:solidFill>
              <a:srgbClr val="0A3E67">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nvSpPr>
        <p:spPr>
          <a:xfrm rot="10800000" flipV="1">
            <a:off x="660400" y="1289050"/>
            <a:ext cx="10858500" cy="647700"/>
          </a:xfrm>
          <a:prstGeom prst="rect">
            <a:avLst/>
          </a:prstGeom>
          <a:noFill/>
          <a:ln w="12700" cap="flat" cmpd="sng">
            <a:noFill/>
            <a:prstDash val="solid"/>
            <a:round/>
          </a:ln>
        </p:spPr>
        <p:txBody>
          <a:bodyPr vert="horz" wrap="square" lIns="88900" tIns="50800" rIns="88900" bIns="50800" rtlCol="0" anchor="ctr" anchorCtr="0"/>
          <a:lstStyle/>
          <a:p>
            <a:pPr algn="l">
              <a:lnSpc>
                <a:spcPct val="117000"/>
              </a:lnSpc>
              <a:buSzTx/>
              <a:defRPr/>
            </a:pPr>
            <a:r>
              <a:rPr lang="en-US">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rPr>
              <a:t>提供了多种开箱即用的策略模板，覆盖通用漏洞、Web应用、移动设备等常见场景，满足快速上手的需求。</a:t>
            </a:r>
            <a:endPar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a:lnSpc>
                <a:spcPct val="100000"/>
              </a:lnSpc>
              <a:defRPr/>
            </a:pPr>
            <a:endParaRPr lang="en-US" b="0" i="0" u="none" strike="noStrike">
              <a:solidFill>
                <a:srgbClr val="FFFFFF"/>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 name="AutoShape 5"/>
          <p:cNvSpPr/>
          <p:nvPr>
            <p:custDataLst>
              <p:tags r:id="rId2"/>
            </p:custDataLst>
          </p:nvPr>
        </p:nvSpPr>
        <p:spPr>
          <a:xfrm>
            <a:off x="2010410" y="2006600"/>
            <a:ext cx="393700" cy="393700"/>
          </a:xfrm>
          <a:prstGeom prst="rect">
            <a:avLst/>
          </a:prstGeom>
          <a:solidFill>
            <a:srgbClr val="082F4D">
              <a:alpha val="949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6" name="AutoShape 6"/>
          <p:cNvSpPr/>
          <p:nvPr>
            <p:custDataLst>
              <p:tags r:id="rId3"/>
            </p:custDataLst>
          </p:nvPr>
        </p:nvSpPr>
        <p:spPr>
          <a:xfrm>
            <a:off x="749300" y="2743200"/>
            <a:ext cx="3390900"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基本网络扫描 (Basic Network Scan)</a:t>
            </a:r>
            <a:endParaRPr lang="en-US" sz="1100"/>
          </a:p>
        </p:txBody>
      </p:sp>
      <p:sp>
        <p:nvSpPr>
          <p:cNvPr id="7" name="AutoShape 7"/>
          <p:cNvSpPr/>
          <p:nvPr>
            <p:custDataLst>
              <p:tags r:id="rId4"/>
            </p:custDataLst>
          </p:nvPr>
        </p:nvSpPr>
        <p:spPr>
          <a:xfrm>
            <a:off x="7493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最常用的入门级策略，执行全面的端口扫描和常见漏洞检测，适合初步安全评估。</a:t>
            </a:r>
            <a:endParaRPr lang="en-US" sz="1100"/>
          </a:p>
        </p:txBody>
      </p:sp>
      <p:sp>
        <p:nvSpPr>
          <p:cNvPr id="8" name="AutoShape 8"/>
          <p:cNvSpPr/>
          <p:nvPr>
            <p:custDataLst>
              <p:tags r:id="rId5"/>
            </p:custDataLst>
          </p:nvPr>
        </p:nvSpPr>
        <p:spPr>
          <a:xfrm>
            <a:off x="5668010" y="2006600"/>
            <a:ext cx="393700" cy="393700"/>
          </a:xfrm>
          <a:prstGeom prst="rect">
            <a:avLst/>
          </a:prstGeom>
          <a:solidFill>
            <a:srgbClr val="082F4D">
              <a:alpha val="949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9" name="AutoShape 9"/>
          <p:cNvSpPr/>
          <p:nvPr>
            <p:custDataLst>
              <p:tags r:id="rId6"/>
            </p:custDataLst>
          </p:nvPr>
        </p:nvSpPr>
        <p:spPr>
          <a:xfrm>
            <a:off x="4394200" y="2743200"/>
            <a:ext cx="3390900"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全面漏洞扫描 (Advanced Scan)</a:t>
            </a:r>
            <a:endParaRPr lang="en-US" sz="1100"/>
          </a:p>
        </p:txBody>
      </p:sp>
      <p:sp>
        <p:nvSpPr>
          <p:cNvPr id="10" name="AutoShape 10"/>
          <p:cNvSpPr/>
          <p:nvPr>
            <p:custDataLst>
              <p:tags r:id="rId7"/>
            </p:custDataLst>
          </p:nvPr>
        </p:nvSpPr>
        <p:spPr>
          <a:xfrm>
            <a:off x="43942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更深入的扫描策略，包含更多本地检查和Web应用初步检测，适合关键资产深度扫描。</a:t>
            </a:r>
            <a:endParaRPr lang="en-US" sz="1100"/>
          </a:p>
        </p:txBody>
      </p:sp>
      <p:sp>
        <p:nvSpPr>
          <p:cNvPr id="11" name="AutoShape 11"/>
          <p:cNvSpPr/>
          <p:nvPr>
            <p:custDataLst>
              <p:tags r:id="rId8"/>
            </p:custDataLst>
          </p:nvPr>
        </p:nvSpPr>
        <p:spPr>
          <a:xfrm>
            <a:off x="9312910" y="2006600"/>
            <a:ext cx="393700" cy="393700"/>
          </a:xfrm>
          <a:prstGeom prst="rect">
            <a:avLst/>
          </a:prstGeom>
          <a:solidFill>
            <a:srgbClr val="082F4D">
              <a:alpha val="94900"/>
            </a:srgbClr>
          </a:solidFill>
          <a:ln w="12700" cap="flat" cmpd="sng">
            <a:noFill/>
            <a:prstDash val="solid"/>
            <a:round/>
          </a:ln>
        </p:spPr>
        <p:txBody>
          <a:bodyPr vert="horz" wrap="none" lIns="63500" tIns="38100" rIns="63500" bIns="38100" rtlCol="0" anchor="ctr" anchorCtr="0"/>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custDataLst>
              <p:tags r:id="rId9"/>
            </p:custDataLst>
          </p:nvPr>
        </p:nvSpPr>
        <p:spPr>
          <a:xfrm>
            <a:off x="8051800" y="2743200"/>
            <a:ext cx="3390900" cy="13081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高风险漏洞扫描 (Malware / PCI DSS)</a:t>
            </a:r>
            <a:endParaRPr lang="en-US" sz="1100"/>
          </a:p>
        </p:txBody>
      </p:sp>
      <p:sp>
        <p:nvSpPr>
          <p:cNvPr id="13" name="AutoShape 13"/>
          <p:cNvSpPr/>
          <p:nvPr>
            <p:custDataLst>
              <p:tags r:id="rId10"/>
            </p:custDataLst>
          </p:nvPr>
        </p:nvSpPr>
        <p:spPr>
          <a:xfrm>
            <a:off x="8051800" y="4038600"/>
            <a:ext cx="3378200" cy="20193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专注于检测如MS17-010等关键高危漏洞，或专为支付卡行业设计的合规扫描，针对性极强。</a:t>
            </a:r>
            <a:endParaRPr lang="en-US" sz="1100"/>
          </a:p>
        </p:txBody>
      </p:sp>
      <p:sp>
        <p:nvSpPr>
          <p:cNvPr id="14" name="AutoShape 14"/>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4.1 预设策略</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130300"/>
            <a:ext cx="10858500" cy="4826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endParaRPr lang="en-US" sz="1100"/>
          </a:p>
        </p:txBody>
      </p:sp>
      <p:sp>
        <p:nvSpPr>
          <p:cNvPr id="3" name="AutoShape 3"/>
          <p:cNvSpPr/>
          <p:nvPr>
            <p:custDataLst>
              <p:tags r:id="rId1"/>
            </p:custDataLst>
          </p:nvPr>
        </p:nvSpPr>
        <p:spPr>
          <a:xfrm>
            <a:off x="1295400" y="24003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什么是</a:t>
            </a: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自定义</a:t>
            </a:r>
            <a:endParaRPr lang="en-US" sz="1100"/>
          </a:p>
        </p:txBody>
      </p:sp>
      <p:sp>
        <p:nvSpPr>
          <p:cNvPr id="4" name="AutoShape 4"/>
          <p:cNvSpPr/>
          <p:nvPr>
            <p:custDataLst>
              <p:tags r:id="rId2"/>
            </p:custDataLst>
          </p:nvPr>
        </p:nvSpPr>
        <p:spPr>
          <a:xfrm>
            <a:off x="1295400" y="2844800"/>
            <a:ext cx="3596005" cy="9398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用户按需配置的专属扫描规则，用于替代默认模板，实现精准、高效、低侵扰的漏洞检测。一次配置，多次复用，适配特定的业务与安全需求。</a:t>
            </a:r>
            <a:endParaRPr lang="en-US" sz="1100"/>
          </a:p>
        </p:txBody>
      </p:sp>
      <p:sp>
        <p:nvSpPr>
          <p:cNvPr id="5" name="AutoShape 5"/>
          <p:cNvSpPr/>
          <p:nvPr>
            <p:custDataLst>
              <p:tags r:id="rId3"/>
            </p:custDataLst>
          </p:nvPr>
        </p:nvSpPr>
        <p:spPr>
          <a:xfrm>
            <a:off x="1384300" y="19431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1</a:t>
            </a:r>
            <a:endParaRPr lang="en-US" sz="1100"/>
          </a:p>
        </p:txBody>
      </p:sp>
      <p:sp>
        <p:nvSpPr>
          <p:cNvPr id="6" name="AutoShape 6"/>
          <p:cNvSpPr/>
          <p:nvPr>
            <p:custDataLst>
              <p:tags r:id="rId4"/>
            </p:custDataLst>
          </p:nvPr>
        </p:nvSpPr>
        <p:spPr>
          <a:xfrm>
            <a:off x="6578600" y="24003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为什么自定义</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AutoShape 7"/>
          <p:cNvSpPr/>
          <p:nvPr>
            <p:custDataLst>
              <p:tags r:id="rId5"/>
            </p:custDataLst>
          </p:nvPr>
        </p:nvSpPr>
        <p:spPr>
          <a:xfrm>
            <a:off x="6578600" y="2844800"/>
            <a:ext cx="4292600" cy="9398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减少无效扫描：</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只选所需插件，缩短时间。</a:t>
            </a:r>
            <a:endParaRPr lang="en-US" sz="1200"/>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降低业务影响：</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控制扫描速度，保护生产环境。</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提升准确率：</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配合凭证扫描，减少误报漏报。</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场景化适配：</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满足巡检、排查等不同需求。</a:t>
            </a:r>
            <a:endParaRPr lang="en-US" sz="1100"/>
          </a:p>
        </p:txBody>
      </p:sp>
      <p:sp>
        <p:nvSpPr>
          <p:cNvPr id="8" name="AutoShape 8"/>
          <p:cNvSpPr/>
          <p:nvPr>
            <p:custDataLst>
              <p:tags r:id="rId6"/>
            </p:custDataLst>
          </p:nvPr>
        </p:nvSpPr>
        <p:spPr>
          <a:xfrm>
            <a:off x="6667500" y="19431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2</a:t>
            </a:r>
            <a:endParaRPr lang="en-US" sz="1100"/>
          </a:p>
        </p:txBody>
      </p:sp>
      <p:sp>
        <p:nvSpPr>
          <p:cNvPr id="9" name="AutoShape 9"/>
          <p:cNvSpPr/>
          <p:nvPr>
            <p:custDataLst>
              <p:tags r:id="rId7"/>
            </p:custDataLst>
          </p:nvPr>
        </p:nvSpPr>
        <p:spPr>
          <a:xfrm>
            <a:off x="1295400" y="47498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配置内容</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AutoShape 10"/>
          <p:cNvSpPr/>
          <p:nvPr>
            <p:custDataLst>
              <p:tags r:id="rId8"/>
            </p:custDataLst>
          </p:nvPr>
        </p:nvSpPr>
        <p:spPr>
          <a:xfrm>
            <a:off x="1295400" y="5194300"/>
            <a:ext cx="4292600" cy="9398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端口配置：</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灵活指定目标扫描端口范围。</a:t>
            </a:r>
            <a:endParaRPr lang="en-US" sz="1200"/>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插件选择：</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精确勾选所需漏洞检测项。</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扫描性能：</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自定义并发数与扫描速度。</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 认证配置：</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添加账号凭证实现深度检测。</a:t>
            </a:r>
            <a:endParaRPr lang="en-US" sz="1100"/>
          </a:p>
        </p:txBody>
      </p:sp>
      <p:sp>
        <p:nvSpPr>
          <p:cNvPr id="11" name="AutoShape 11"/>
          <p:cNvSpPr/>
          <p:nvPr>
            <p:custDataLst>
              <p:tags r:id="rId9"/>
            </p:custDataLst>
          </p:nvPr>
        </p:nvSpPr>
        <p:spPr>
          <a:xfrm>
            <a:off x="1384300" y="42926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3</a:t>
            </a:r>
            <a:endParaRPr lang="en-US" sz="1100"/>
          </a:p>
        </p:txBody>
      </p:sp>
      <p:sp>
        <p:nvSpPr>
          <p:cNvPr id="12" name="AutoShape 12"/>
          <p:cNvSpPr/>
          <p:nvPr>
            <p:custDataLst>
              <p:tags r:id="rId10"/>
            </p:custDataLst>
          </p:nvPr>
        </p:nvSpPr>
        <p:spPr>
          <a:xfrm>
            <a:off x="6578600" y="4749800"/>
            <a:ext cx="4292600" cy="4318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创建流程</a:t>
            </a:r>
            <a:endParaRPr lang="zh-CN" alt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AutoShape 13"/>
          <p:cNvSpPr/>
          <p:nvPr>
            <p:custDataLst>
              <p:tags r:id="rId11"/>
            </p:custDataLst>
          </p:nvPr>
        </p:nvSpPr>
        <p:spPr>
          <a:xfrm>
            <a:off x="6578600" y="5194300"/>
            <a:ext cx="4292600" cy="9398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1. </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从预设策略中复制一份作为基础。</a:t>
            </a:r>
            <a:endParaRPr lang="en-US" sz="1200"/>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2. </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修改端口范围、扫描性能等。</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3. </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启用或禁用特定的检测插件。</a:t>
            </a:r>
            <a:endParaRPr lang="en-US" sz="1200" b="0" i="0" u="none" strike="noStrike">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8000"/>
              </a:lnSpc>
            </a:pPr>
            <a:r>
              <a:rPr lang="en-US" sz="1200" b="1">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4. </a:t>
            </a:r>
            <a:r>
              <a:rPr lang="en-US" sz="120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保存策略，供扫描任务调用。</a:t>
            </a:r>
            <a:endParaRPr lang="en-US" sz="1100"/>
          </a:p>
        </p:txBody>
      </p:sp>
      <p:sp>
        <p:nvSpPr>
          <p:cNvPr id="14" name="AutoShape 14"/>
          <p:cNvSpPr/>
          <p:nvPr>
            <p:custDataLst>
              <p:tags r:id="rId12"/>
            </p:custDataLst>
          </p:nvPr>
        </p:nvSpPr>
        <p:spPr>
          <a:xfrm>
            <a:off x="6667500" y="4292600"/>
            <a:ext cx="457200" cy="4572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800" b="1" i="0" u="none" strike="noStrike">
                <a:solidFill>
                  <a:srgbClr val="2F2F2F"/>
                </a:solidFill>
                <a:latin typeface="Arial" panose="020B0604020202020204"/>
                <a:ea typeface="Arial" panose="020B0604020202020204"/>
                <a:cs typeface="Arial" panose="020B0604020202020204"/>
                <a:sym typeface="Arial" panose="020B0604020202020204"/>
              </a:rPr>
              <a:t>4</a:t>
            </a:r>
            <a:endParaRPr lang="en-US" sz="1100"/>
          </a:p>
        </p:txBody>
      </p:sp>
      <p:cxnSp>
        <p:nvCxnSpPr>
          <p:cNvPr id="15" name="Connector 15"/>
          <p:cNvCxnSpPr/>
          <p:nvPr>
            <p:custDataLst>
              <p:tags r:id="rId13"/>
            </p:custDataLst>
          </p:nvPr>
        </p:nvCxnSpPr>
        <p:spPr>
          <a:xfrm>
            <a:off x="660400" y="3975100"/>
            <a:ext cx="10858507" cy="12700"/>
          </a:xfrm>
          <a:prstGeom prst="line">
            <a:avLst/>
          </a:prstGeom>
          <a:solidFill>
            <a:srgbClr val="DEE0E3">
              <a:alpha val="100000"/>
            </a:srgbClr>
          </a:solidFill>
          <a:ln w="12700" cap="sq" cmpd="sng">
            <a:solidFill>
              <a:srgbClr val="FFFFFF">
                <a:alpha val="40000"/>
              </a:srgbClr>
            </a:solidFill>
            <a:prstDash val="solid"/>
            <a:miter lim="10000000"/>
            <a:headEnd type="none" w="med" len="med"/>
            <a:tailEnd type="none" w="med" len="med"/>
          </a:ln>
        </p:spPr>
      </p:cxnSp>
      <p:sp>
        <p:nvSpPr>
          <p:cNvPr id="16" name="AutoShape 16"/>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4.2 自定义策略</a:t>
            </a:r>
            <a:endParaRPr lang="en-US" sz="1100"/>
          </a:p>
        </p:txBody>
      </p:sp>
      <p:sp>
        <p:nvSpPr>
          <p:cNvPr id="17" name="文本框 16"/>
          <p:cNvSpPr txBox="1"/>
          <p:nvPr/>
        </p:nvSpPr>
        <p:spPr>
          <a:xfrm>
            <a:off x="661035" y="1251585"/>
            <a:ext cx="10022205" cy="361315"/>
          </a:xfrm>
          <a:prstGeom prst="rect">
            <a:avLst/>
          </a:prstGeom>
          <a:noFill/>
        </p:spPr>
        <p:txBody>
          <a:bodyPr wrap="square" rtlCol="0" anchor="t">
            <a:spAutoFit/>
          </a:bodyPr>
          <a:p>
            <a:pPr indent="0" algn="l">
              <a:lnSpc>
                <a:spcPct val="117000"/>
              </a:lnSpc>
              <a:spcBef>
                <a:spcPts val="800"/>
              </a:spcBef>
            </a:pPr>
            <a:r>
              <a:rPr lang="en-US" sz="150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支持用户针对特定资产环境，对插件、端口、扫描强度等参数进行精细化调整，</a:t>
            </a:r>
            <a:r>
              <a:rPr lang="zh-CN" altLang="en-US" sz="150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按需定制，</a:t>
            </a:r>
            <a:r>
              <a:rPr lang="en-US" sz="150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打造专属的精准扫描方案。</a:t>
            </a:r>
            <a:endParaRPr lang="en-US" altLang="en-US" sz="1500">
              <a:solidFill>
                <a:srgbClr val="FFFFFF">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4" name="AutoShape 4"/>
          <p:cNvSpPr/>
          <p:nvPr/>
        </p:nvSpPr>
        <p:spPr>
          <a:xfrm>
            <a:off x="-2689860" y="2167890"/>
            <a:ext cx="108712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 扫描结果分析</a:t>
            </a:r>
            <a:endParaRPr lang="en-US" sz="1100"/>
          </a:p>
        </p:txBody>
      </p:sp>
      <p:sp>
        <p:nvSpPr>
          <p:cNvPr id="5" name="AutoShape 5"/>
          <p:cNvSpPr/>
          <p:nvPr>
            <p:custDataLst>
              <p:tags r:id="rId2"/>
            </p:custDataLst>
          </p:nvPr>
        </p:nvSpPr>
        <p:spPr>
          <a:xfrm>
            <a:off x="762000" y="4443095"/>
            <a:ext cx="5207000" cy="1350010"/>
          </a:xfrm>
          <a:prstGeom prst="roundRect">
            <a:avLst>
              <a:gd name="adj" fmla="val 5454"/>
            </a:avLst>
          </a:prstGeom>
          <a:solidFill>
            <a:srgbClr val="0F172A">
              <a:alpha val="75000"/>
            </a:srgbClr>
          </a:solidFill>
          <a:ln w="25400" cap="flat" cmpd="sng">
            <a:solidFill>
              <a:srgbClr val="38BDF8">
                <a:alpha val="6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4824095"/>
            <a:ext cx="609600" cy="609600"/>
          </a:xfrm>
          <a:prstGeom prst="rect">
            <a:avLst/>
          </a:prstGeom>
        </p:spPr>
      </p:pic>
      <p:sp>
        <p:nvSpPr>
          <p:cNvPr id="7" name="AutoShape 7"/>
          <p:cNvSpPr/>
          <p:nvPr>
            <p:custDataLst>
              <p:tags r:id="rId6"/>
            </p:custDataLst>
          </p:nvPr>
        </p:nvSpPr>
        <p:spPr>
          <a:xfrm>
            <a:off x="1905000" y="476059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解读</a:t>
            </a: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报告核心</a:t>
            </a:r>
            <a:endParaRPr lang="en-US" sz="1100"/>
          </a:p>
        </p:txBody>
      </p:sp>
      <p:sp>
        <p:nvSpPr>
          <p:cNvPr id="8" name="AutoShape 8"/>
          <p:cNvSpPr/>
          <p:nvPr>
            <p:custDataLst>
              <p:tags r:id="rId7"/>
            </p:custDataLst>
          </p:nvPr>
        </p:nvSpPr>
        <p:spPr>
          <a:xfrm>
            <a:off x="1066800" y="4318000"/>
            <a:ext cx="4597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endParaRPr lang="en-US" sz="1100"/>
          </a:p>
        </p:txBody>
      </p:sp>
      <p:sp>
        <p:nvSpPr>
          <p:cNvPr id="9" name="AutoShape 9"/>
          <p:cNvSpPr/>
          <p:nvPr>
            <p:custDataLst>
              <p:tags r:id="rId8"/>
            </p:custDataLst>
          </p:nvPr>
        </p:nvSpPr>
        <p:spPr>
          <a:xfrm>
            <a:off x="6223000" y="4443095"/>
            <a:ext cx="5207000" cy="1350010"/>
          </a:xfrm>
          <a:prstGeom prst="roundRect">
            <a:avLst>
              <a:gd name="adj" fmla="val 5454"/>
            </a:avLst>
          </a:prstGeom>
          <a:solidFill>
            <a:srgbClr val="0F172A">
              <a:alpha val="75000"/>
            </a:srgbClr>
          </a:solidFill>
          <a:ln w="25400" cap="flat" cmpd="sng">
            <a:solidFill>
              <a:srgbClr val="F87171">
                <a:alpha val="6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27800" y="4824095"/>
            <a:ext cx="609600" cy="609600"/>
          </a:xfrm>
          <a:prstGeom prst="rect">
            <a:avLst/>
          </a:prstGeom>
        </p:spPr>
      </p:pic>
      <p:sp>
        <p:nvSpPr>
          <p:cNvPr id="11" name="AutoShape 11"/>
          <p:cNvSpPr/>
          <p:nvPr>
            <p:custDataLst>
              <p:tags r:id="rId12"/>
            </p:custDataLst>
          </p:nvPr>
        </p:nvSpPr>
        <p:spPr>
          <a:xfrm>
            <a:off x="7366000" y="4760595"/>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利用筛选聚焦关键风险</a:t>
            </a:r>
            <a:endParaRPr lang="en-US" sz="1100"/>
          </a:p>
        </p:txBody>
      </p:sp>
      <p:sp>
        <p:nvSpPr>
          <p:cNvPr id="12" name="AutoShape 12"/>
          <p:cNvSpPr/>
          <p:nvPr>
            <p:custDataLst>
              <p:tags r:id="rId13"/>
            </p:custDataLst>
          </p:nvPr>
        </p:nvSpPr>
        <p:spPr>
          <a:xfrm>
            <a:off x="6527800" y="4318000"/>
            <a:ext cx="45974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5.1 漏洞报告解读</a:t>
            </a:r>
            <a:endParaRPr lang="en-US" sz="1100"/>
          </a:p>
        </p:txBody>
      </p:sp>
      <p:sp>
        <p:nvSpPr>
          <p:cNvPr id="3" name="AutoShape 3"/>
          <p:cNvSpPr/>
          <p:nvPr>
            <p:custDataLst>
              <p:tags r:id="rId1"/>
            </p:custDataLst>
          </p:nvPr>
        </p:nvSpPr>
        <p:spPr>
          <a:xfrm>
            <a:off x="660400" y="2077085"/>
            <a:ext cx="5295900" cy="1841500"/>
          </a:xfrm>
          <a:prstGeom prst="roundRect">
            <a:avLst>
              <a:gd name="adj" fmla="val 0"/>
            </a:avLst>
          </a:prstGeom>
          <a:noFill/>
          <a:ln w="12700" cap="flat" cmpd="sng">
            <a:solidFill>
              <a:srgbClr val="FFFFFF">
                <a:alpha val="100000"/>
              </a:srgbClr>
            </a:solidFill>
            <a:prstDash val="solid"/>
            <a:miter lim="10000000"/>
          </a:ln>
        </p:spPr>
        <p:txBody>
          <a:bodyPr vert="horz" wrap="square" lIns="63500" tIns="63500" rIns="63500" bIns="63500" rtlCol="0" anchor="ctr"/>
          <a:lstStyle/>
          <a:p>
            <a:pPr algn="ctr">
              <a:defRPr/>
            </a:pPr>
          </a:p>
        </p:txBody>
      </p:sp>
      <p:sp>
        <p:nvSpPr>
          <p:cNvPr id="4" name="AutoShape 4"/>
          <p:cNvSpPr/>
          <p:nvPr>
            <p:custDataLst>
              <p:tags r:id="rId2"/>
            </p:custDataLst>
          </p:nvPr>
        </p:nvSpPr>
        <p:spPr>
          <a:xfrm>
            <a:off x="939800" y="2305685"/>
            <a:ext cx="38481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01. 漏洞风险等级</a:t>
            </a:r>
            <a:endParaRPr lang="en-US" sz="1100"/>
          </a:p>
        </p:txBody>
      </p:sp>
      <p:sp>
        <p:nvSpPr>
          <p:cNvPr id="5" name="AutoShape 5"/>
          <p:cNvSpPr/>
          <p:nvPr>
            <p:custDataLst>
              <p:tags r:id="rId3"/>
            </p:custDataLst>
          </p:nvPr>
        </p:nvSpPr>
        <p:spPr>
          <a:xfrm>
            <a:off x="965200" y="3016885"/>
            <a:ext cx="4737100" cy="901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spcAft>
                <a:spcPts val="1200"/>
              </a:spcAft>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Nessus使用颜色和分数（Critical, High, Medium, Low）来标识漏洞的风险严重性，帮助用户优先处理最危险的问题。</a:t>
            </a:r>
            <a:endParaRPr lang="en-US" sz="1100"/>
          </a:p>
        </p:txBody>
      </p:sp>
      <p:sp>
        <p:nvSpPr>
          <p:cNvPr id="6" name="AutoShape 6"/>
          <p:cNvSpPr/>
          <p:nvPr>
            <p:custDataLst>
              <p:tags r:id="rId4"/>
            </p:custDataLst>
          </p:nvPr>
        </p:nvSpPr>
        <p:spPr>
          <a:xfrm>
            <a:off x="4851400" y="1848485"/>
            <a:ext cx="469900" cy="4699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2F2F2F"/>
                </a:solidFill>
                <a:latin typeface="Arial" panose="020B0604020202020204"/>
                <a:ea typeface="Arial" panose="020B0604020202020204"/>
                <a:cs typeface="Arial" panose="020B0604020202020204"/>
                <a:sym typeface="Arial" panose="020B0604020202020204"/>
              </a:rPr>
              <a:t>01</a:t>
            </a:r>
            <a:endParaRPr lang="en-US" sz="1100"/>
          </a:p>
        </p:txBody>
      </p:sp>
      <p:sp>
        <p:nvSpPr>
          <p:cNvPr id="7" name="AutoShape 7"/>
          <p:cNvSpPr/>
          <p:nvPr>
            <p:custDataLst>
              <p:tags r:id="rId5"/>
            </p:custDataLst>
          </p:nvPr>
        </p:nvSpPr>
        <p:spPr>
          <a:xfrm>
            <a:off x="6223000" y="2077085"/>
            <a:ext cx="5295900" cy="1841500"/>
          </a:xfrm>
          <a:prstGeom prst="roundRect">
            <a:avLst>
              <a:gd name="adj" fmla="val 0"/>
            </a:avLst>
          </a:prstGeom>
          <a:noFill/>
          <a:ln w="12700" cap="flat" cmpd="sng">
            <a:solidFill>
              <a:srgbClr val="FFFFFF">
                <a:alpha val="100000"/>
              </a:srgbClr>
            </a:solidFill>
            <a:prstDash val="solid"/>
            <a:miter lim="10000000"/>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6502400" y="2305685"/>
            <a:ext cx="38481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02. CVE与插件ID</a:t>
            </a:r>
            <a:endParaRPr lang="en-US" sz="1100"/>
          </a:p>
        </p:txBody>
      </p:sp>
      <p:sp>
        <p:nvSpPr>
          <p:cNvPr id="9" name="AutoShape 9"/>
          <p:cNvSpPr/>
          <p:nvPr>
            <p:custDataLst>
              <p:tags r:id="rId7"/>
            </p:custDataLst>
          </p:nvPr>
        </p:nvSpPr>
        <p:spPr>
          <a:xfrm>
            <a:off x="6515100" y="3016885"/>
            <a:ext cx="4737100" cy="901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spcAft>
                <a:spcPts val="1200"/>
              </a:spcAft>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每个漏洞都关联了唯一的CVE编号和Nessus插件ID，可用于在互联网上查询该漏洞的详细信息。</a:t>
            </a:r>
            <a:endParaRPr lang="en-US" sz="1100"/>
          </a:p>
        </p:txBody>
      </p:sp>
      <p:sp>
        <p:nvSpPr>
          <p:cNvPr id="10" name="AutoShape 10"/>
          <p:cNvSpPr/>
          <p:nvPr>
            <p:custDataLst>
              <p:tags r:id="rId8"/>
            </p:custDataLst>
          </p:nvPr>
        </p:nvSpPr>
        <p:spPr>
          <a:xfrm>
            <a:off x="10401300" y="1848485"/>
            <a:ext cx="469900" cy="4699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2F2F2F"/>
                </a:solidFill>
                <a:latin typeface="Arial" panose="020B0604020202020204"/>
                <a:ea typeface="Arial" panose="020B0604020202020204"/>
                <a:cs typeface="Arial" panose="020B0604020202020204"/>
                <a:sym typeface="Arial" panose="020B0604020202020204"/>
              </a:rPr>
              <a:t>02</a:t>
            </a:r>
            <a:endParaRPr lang="en-US" sz="1100"/>
          </a:p>
        </p:txBody>
      </p:sp>
      <p:sp>
        <p:nvSpPr>
          <p:cNvPr id="11" name="AutoShape 11"/>
          <p:cNvSpPr/>
          <p:nvPr>
            <p:custDataLst>
              <p:tags r:id="rId9"/>
            </p:custDataLst>
          </p:nvPr>
        </p:nvSpPr>
        <p:spPr>
          <a:xfrm>
            <a:off x="660400" y="4292600"/>
            <a:ext cx="5295900" cy="1841500"/>
          </a:xfrm>
          <a:prstGeom prst="roundRect">
            <a:avLst>
              <a:gd name="adj" fmla="val 0"/>
            </a:avLst>
          </a:prstGeom>
          <a:noFill/>
          <a:ln w="12700" cap="flat" cmpd="sng">
            <a:solidFill>
              <a:srgbClr val="FFFFFF">
                <a:alpha val="100000"/>
              </a:srgbClr>
            </a:solidFill>
            <a:prstDash val="solid"/>
            <a:miter lim="10000000"/>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939800" y="4419600"/>
            <a:ext cx="38481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03. 漏洞描述</a:t>
            </a:r>
            <a:endParaRPr lang="en-US" sz="1100"/>
          </a:p>
        </p:txBody>
      </p:sp>
      <p:sp>
        <p:nvSpPr>
          <p:cNvPr id="13" name="AutoShape 13"/>
          <p:cNvSpPr/>
          <p:nvPr>
            <p:custDataLst>
              <p:tags r:id="rId11"/>
            </p:custDataLst>
          </p:nvPr>
        </p:nvSpPr>
        <p:spPr>
          <a:xfrm>
            <a:off x="965200" y="5105400"/>
            <a:ext cx="4737100" cy="901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spcAft>
                <a:spcPts val="1200"/>
              </a:spcAft>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报告中会详细说明漏洞的成因、影响版本以及潜在的危害，帮助用户准确理解漏洞的本质。</a:t>
            </a:r>
            <a:endParaRPr lang="en-US" sz="1100"/>
          </a:p>
        </p:txBody>
      </p:sp>
      <p:sp>
        <p:nvSpPr>
          <p:cNvPr id="14" name="AutoShape 14"/>
          <p:cNvSpPr/>
          <p:nvPr>
            <p:custDataLst>
              <p:tags r:id="rId12"/>
            </p:custDataLst>
          </p:nvPr>
        </p:nvSpPr>
        <p:spPr>
          <a:xfrm>
            <a:off x="4851400" y="4064000"/>
            <a:ext cx="469900" cy="4699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2F2F2F"/>
                </a:solidFill>
                <a:latin typeface="Arial" panose="020B0604020202020204"/>
                <a:ea typeface="Arial" panose="020B0604020202020204"/>
                <a:cs typeface="Arial" panose="020B0604020202020204"/>
                <a:sym typeface="Arial" panose="020B0604020202020204"/>
              </a:rPr>
              <a:t>03</a:t>
            </a:r>
            <a:endParaRPr lang="en-US" sz="1100"/>
          </a:p>
        </p:txBody>
      </p:sp>
      <p:sp>
        <p:nvSpPr>
          <p:cNvPr id="15" name="AutoShape 15"/>
          <p:cNvSpPr/>
          <p:nvPr>
            <p:custDataLst>
              <p:tags r:id="rId13"/>
            </p:custDataLst>
          </p:nvPr>
        </p:nvSpPr>
        <p:spPr>
          <a:xfrm>
            <a:off x="6223000" y="4292600"/>
            <a:ext cx="5295900" cy="1841500"/>
          </a:xfrm>
          <a:prstGeom prst="roundRect">
            <a:avLst>
              <a:gd name="adj" fmla="val 0"/>
            </a:avLst>
          </a:prstGeom>
          <a:noFill/>
          <a:ln w="12700" cap="flat" cmpd="sng">
            <a:solidFill>
              <a:srgbClr val="FFFFFF">
                <a:alpha val="100000"/>
              </a:srgbClr>
            </a:solidFill>
            <a:prstDash val="solid"/>
            <a:miter lim="10000000"/>
          </a:ln>
        </p:spPr>
        <p:txBody>
          <a:bodyPr vert="horz" wrap="square" lIns="63500" tIns="63500" rIns="63500" bIns="63500" rtlCol="0" anchor="ctr"/>
          <a:lstStyle/>
          <a:p>
            <a:pPr algn="ctr">
              <a:defRPr/>
            </a:pPr>
          </a:p>
        </p:txBody>
      </p:sp>
      <p:sp>
        <p:nvSpPr>
          <p:cNvPr id="16" name="AutoShape 16"/>
          <p:cNvSpPr/>
          <p:nvPr>
            <p:custDataLst>
              <p:tags r:id="rId14"/>
            </p:custDataLst>
          </p:nvPr>
        </p:nvSpPr>
        <p:spPr>
          <a:xfrm>
            <a:off x="6502400" y="4419600"/>
            <a:ext cx="38481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04. 修复建议</a:t>
            </a:r>
            <a:endParaRPr lang="en-US" sz="1100"/>
          </a:p>
        </p:txBody>
      </p:sp>
      <p:sp>
        <p:nvSpPr>
          <p:cNvPr id="17" name="AutoShape 17"/>
          <p:cNvSpPr/>
          <p:nvPr>
            <p:custDataLst>
              <p:tags r:id="rId15"/>
            </p:custDataLst>
          </p:nvPr>
        </p:nvSpPr>
        <p:spPr>
          <a:xfrm>
            <a:off x="6515100" y="5105400"/>
            <a:ext cx="4737100" cy="9017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spcAft>
                <a:spcPts val="1200"/>
              </a:spcAft>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针对每个漏洞，Nessus通常会提供相应的修复或缓解措施，如安装补丁、修改配置等，为修复工作提供直接指导。</a:t>
            </a:r>
            <a:endParaRPr lang="en-US" sz="1100"/>
          </a:p>
        </p:txBody>
      </p:sp>
      <p:sp>
        <p:nvSpPr>
          <p:cNvPr id="18" name="AutoShape 18"/>
          <p:cNvSpPr/>
          <p:nvPr>
            <p:custDataLst>
              <p:tags r:id="rId16"/>
            </p:custDataLst>
          </p:nvPr>
        </p:nvSpPr>
        <p:spPr>
          <a:xfrm>
            <a:off x="10401300" y="4064000"/>
            <a:ext cx="469900" cy="469900"/>
          </a:xfrm>
          <a:prstGeom prst="rect">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1600" b="1" i="0" u="none" strike="noStrike">
                <a:solidFill>
                  <a:srgbClr val="2F2F2F"/>
                </a:solidFill>
                <a:latin typeface="Arial" panose="020B0604020202020204"/>
                <a:ea typeface="Arial" panose="020B0604020202020204"/>
                <a:cs typeface="Arial" panose="020B0604020202020204"/>
                <a:sym typeface="Arial" panose="020B0604020202020204"/>
              </a:rPr>
              <a:t>04</a:t>
            </a:r>
            <a:endParaRPr lang="en-US" sz="1100"/>
          </a:p>
        </p:txBody>
      </p:sp>
      <p:sp>
        <p:nvSpPr>
          <p:cNvPr id="19" name="文本框 18"/>
          <p:cNvSpPr txBox="1"/>
          <p:nvPr/>
        </p:nvSpPr>
        <p:spPr>
          <a:xfrm>
            <a:off x="660400" y="1123315"/>
            <a:ext cx="10858500" cy="631190"/>
          </a:xfrm>
          <a:prstGeom prst="rect">
            <a:avLst/>
          </a:prstGeom>
          <a:noFill/>
        </p:spPr>
        <p:txBody>
          <a:bodyPr wrap="square" rtlCol="0" anchor="t">
            <a:spAutoFit/>
          </a:bodyPr>
          <a:p>
            <a:pPr indent="0" algn="l">
              <a:lnSpc>
                <a:spcPct val="117000"/>
              </a:lnSpc>
              <a:defRPr/>
            </a:pPr>
            <a:r>
              <a:rPr 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扫描完成后，海量数据将生成一份综合报告。</a:t>
            </a:r>
            <a:r>
              <a:rPr lang="zh-CN" alt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使用者</a:t>
            </a:r>
            <a:r>
              <a:rPr 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需要快速识别报告中的关键要素，理解风险评分的含义，区分误报与真实漏洞，</a:t>
            </a:r>
            <a:r>
              <a:rPr lang="zh-CN" alt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以方便</a:t>
            </a:r>
            <a:r>
              <a:rPr 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后续处理。</a:t>
            </a:r>
            <a:endParaRPr lang="en-US" alt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5.2 结果数据筛选</a:t>
            </a:r>
            <a:endParaRPr lang="en-US" sz="1100"/>
          </a:p>
        </p:txBody>
      </p:sp>
      <p:sp>
        <p:nvSpPr>
          <p:cNvPr id="3" name="AutoShape 3"/>
          <p:cNvSpPr/>
          <p:nvPr/>
        </p:nvSpPr>
        <p:spPr>
          <a:xfrm>
            <a:off x="660400" y="1130300"/>
            <a:ext cx="10858500" cy="5715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endParaRPr lang="en-US" sz="1100"/>
          </a:p>
        </p:txBody>
      </p:sp>
      <p:sp>
        <p:nvSpPr>
          <p:cNvPr id="4" name="AutoShape 4"/>
          <p:cNvSpPr/>
          <p:nvPr>
            <p:custDataLst>
              <p:tags r:id="rId1"/>
            </p:custDataLst>
          </p:nvPr>
        </p:nvSpPr>
        <p:spPr>
          <a:xfrm>
            <a:off x="660400" y="2435225"/>
            <a:ext cx="2552700" cy="3632835"/>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825500" y="2193925"/>
            <a:ext cx="508000" cy="508000"/>
          </a:xfrm>
          <a:prstGeom prst="roundRect">
            <a:avLst>
              <a:gd name="adj" fmla="val 10000"/>
            </a:avLst>
          </a:pr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3"/>
            </p:custDataLst>
          </p:nvPr>
        </p:nvSpPr>
        <p:spPr>
          <a:xfrm>
            <a:off x="825500" y="2193925"/>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7" name="AutoShape 7"/>
          <p:cNvSpPr/>
          <p:nvPr>
            <p:custDataLst>
              <p:tags r:id="rId4"/>
            </p:custDataLst>
          </p:nvPr>
        </p:nvSpPr>
        <p:spPr>
          <a:xfrm>
            <a:off x="736600" y="2790825"/>
            <a:ext cx="2413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8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按风险级别筛选</a:t>
            </a:r>
            <a:endParaRPr lang="en-US" sz="1100"/>
          </a:p>
        </p:txBody>
      </p:sp>
      <p:sp>
        <p:nvSpPr>
          <p:cNvPr id="8" name="AutoShape 8"/>
          <p:cNvSpPr/>
          <p:nvPr>
            <p:custDataLst>
              <p:tags r:id="rId5"/>
            </p:custDataLst>
          </p:nvPr>
        </p:nvSpPr>
        <p:spPr>
          <a:xfrm>
            <a:off x="736600" y="4117340"/>
            <a:ext cx="2413000" cy="2667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300" b="0" i="0" u="none" strike="noStrike">
                <a:solidFill>
                  <a:srgbClr val="E5E7EB"/>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可以只显示高危或中危以上的漏洞，让安全焦点不被低风险问题干扰，从而集中精力处理最紧迫的安全威胁。</a:t>
            </a:r>
            <a:endParaRPr lang="en-US" sz="1100"/>
          </a:p>
        </p:txBody>
      </p:sp>
      <p:sp>
        <p:nvSpPr>
          <p:cNvPr id="9" name="AutoShape 9"/>
          <p:cNvSpPr/>
          <p:nvPr>
            <p:custDataLst>
              <p:tags r:id="rId6"/>
            </p:custDataLst>
          </p:nvPr>
        </p:nvSpPr>
        <p:spPr>
          <a:xfrm>
            <a:off x="3429000" y="2435225"/>
            <a:ext cx="2552700" cy="3633470"/>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
        <p:nvSpPr>
          <p:cNvPr id="10" name="AutoShape 10"/>
          <p:cNvSpPr/>
          <p:nvPr>
            <p:custDataLst>
              <p:tags r:id="rId7"/>
            </p:custDataLst>
          </p:nvPr>
        </p:nvSpPr>
        <p:spPr>
          <a:xfrm>
            <a:off x="3606800" y="2193925"/>
            <a:ext cx="508000" cy="508000"/>
          </a:xfrm>
          <a:prstGeom prst="roundRect">
            <a:avLst>
              <a:gd name="adj" fmla="val 10000"/>
            </a:avLst>
          </a:pr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8"/>
            </p:custDataLst>
          </p:nvPr>
        </p:nvSpPr>
        <p:spPr>
          <a:xfrm>
            <a:off x="3606800" y="2193925"/>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2" name="AutoShape 12"/>
          <p:cNvSpPr/>
          <p:nvPr>
            <p:custDataLst>
              <p:tags r:id="rId9"/>
            </p:custDataLst>
          </p:nvPr>
        </p:nvSpPr>
        <p:spPr>
          <a:xfrm>
            <a:off x="3505200" y="2790825"/>
            <a:ext cx="2413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8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按插件名称筛选</a:t>
            </a:r>
            <a:endParaRPr lang="en-US" sz="1100"/>
          </a:p>
        </p:txBody>
      </p:sp>
      <p:sp>
        <p:nvSpPr>
          <p:cNvPr id="13" name="AutoShape 13"/>
          <p:cNvSpPr/>
          <p:nvPr>
            <p:custDataLst>
              <p:tags r:id="rId10"/>
            </p:custDataLst>
          </p:nvPr>
        </p:nvSpPr>
        <p:spPr>
          <a:xfrm>
            <a:off x="3505200" y="4117340"/>
            <a:ext cx="2413000" cy="2667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300" b="0" i="0" u="none" strike="noStrike">
                <a:solidFill>
                  <a:srgbClr val="E5E7EB"/>
                </a:solidFill>
                <a:latin typeface="微软雅黑" panose="020B0503020204020204" charset="-122"/>
                <a:ea typeface="微软雅黑" panose="020B0503020204020204" charset="-122"/>
                <a:cs typeface="微软雅黑" panose="020B0503020204020204" charset="-122"/>
                <a:sym typeface="微软雅黑" panose="020B0503020204020204" charset="-122"/>
              </a:rPr>
              <a:t>如果只想查看某类特定漏洞（如FTP匿名访问、弱口令检测），可以通过输入插件名称或关键词进行快速过滤，精准定位。</a:t>
            </a:r>
            <a:endParaRPr lang="en-US" sz="1100"/>
          </a:p>
        </p:txBody>
      </p:sp>
      <p:sp>
        <p:nvSpPr>
          <p:cNvPr id="14" name="AutoShape 14"/>
          <p:cNvSpPr/>
          <p:nvPr>
            <p:custDataLst>
              <p:tags r:id="rId11"/>
            </p:custDataLst>
          </p:nvPr>
        </p:nvSpPr>
        <p:spPr>
          <a:xfrm>
            <a:off x="6197600" y="2435225"/>
            <a:ext cx="2552700" cy="3632200"/>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6375400" y="2193925"/>
            <a:ext cx="508000" cy="508000"/>
          </a:xfrm>
          <a:prstGeom prst="roundRect">
            <a:avLst>
              <a:gd name="adj" fmla="val 10000"/>
            </a:avLst>
          </a:pr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3"/>
            </p:custDataLst>
          </p:nvPr>
        </p:nvSpPr>
        <p:spPr>
          <a:xfrm>
            <a:off x="6375400" y="2193925"/>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17" name="AutoShape 17"/>
          <p:cNvSpPr/>
          <p:nvPr>
            <p:custDataLst>
              <p:tags r:id="rId14"/>
            </p:custDataLst>
          </p:nvPr>
        </p:nvSpPr>
        <p:spPr>
          <a:xfrm>
            <a:off x="6273800" y="2790825"/>
            <a:ext cx="2413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8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按主机筛选</a:t>
            </a:r>
            <a:endParaRPr lang="en-US" sz="1100"/>
          </a:p>
        </p:txBody>
      </p:sp>
      <p:sp>
        <p:nvSpPr>
          <p:cNvPr id="18" name="AutoShape 18"/>
          <p:cNvSpPr/>
          <p:nvPr>
            <p:custDataLst>
              <p:tags r:id="rId15"/>
            </p:custDataLst>
          </p:nvPr>
        </p:nvSpPr>
        <p:spPr>
          <a:xfrm>
            <a:off x="6273800" y="4117340"/>
            <a:ext cx="2413000" cy="2667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300" b="0" i="0" u="none" strike="noStrike">
                <a:solidFill>
                  <a:srgbClr val="E5E7EB"/>
                </a:solidFill>
                <a:latin typeface="微软雅黑" panose="020B0503020204020204" charset="-122"/>
                <a:ea typeface="微软雅黑" panose="020B0503020204020204" charset="-122"/>
                <a:cs typeface="微软雅黑" panose="020B0503020204020204" charset="-122"/>
                <a:sym typeface="微软雅黑" panose="020B0503020204020204" charset="-122"/>
              </a:rPr>
              <a:t>可以选择特定IP地址的主机，单独查看该主机上发现的所有漏洞，便于针对特定业务服务器进行单点问题排查与修复。</a:t>
            </a:r>
            <a:endParaRPr lang="en-US" sz="1100"/>
          </a:p>
        </p:txBody>
      </p:sp>
      <p:sp>
        <p:nvSpPr>
          <p:cNvPr id="19" name="AutoShape 19"/>
          <p:cNvSpPr/>
          <p:nvPr>
            <p:custDataLst>
              <p:tags r:id="rId16"/>
            </p:custDataLst>
          </p:nvPr>
        </p:nvSpPr>
        <p:spPr>
          <a:xfrm>
            <a:off x="8966200" y="2435225"/>
            <a:ext cx="2552700" cy="3632835"/>
          </a:xfrm>
          <a:prstGeom prst="roundRect">
            <a:avLst>
              <a:gd name="adj" fmla="val 3980"/>
            </a:avLst>
          </a:prstGeom>
          <a:noFill/>
          <a:ln w="12700" cap="flat" cmpd="sng">
            <a:solidFill>
              <a:srgbClr val="FFFFFF">
                <a:alpha val="50000"/>
              </a:srgbClr>
            </a:solidFill>
            <a:prstDash val="solid"/>
            <a:miter lim="10000000"/>
          </a:ln>
        </p:spPr>
        <p:txBody>
          <a:bodyPr vert="horz" wrap="square" lIns="63500" tIns="63500" rIns="63500" bIns="63500" rtlCol="0" anchor="ctr"/>
          <a:lstStyle/>
          <a:p>
            <a:pPr algn="ctr">
              <a:defRPr/>
            </a:pPr>
          </a:p>
        </p:txBody>
      </p:sp>
      <p:sp>
        <p:nvSpPr>
          <p:cNvPr id="20" name="AutoShape 20"/>
          <p:cNvSpPr/>
          <p:nvPr>
            <p:custDataLst>
              <p:tags r:id="rId17"/>
            </p:custDataLst>
          </p:nvPr>
        </p:nvSpPr>
        <p:spPr>
          <a:xfrm>
            <a:off x="9144000" y="2193925"/>
            <a:ext cx="508000" cy="508000"/>
          </a:xfrm>
          <a:prstGeom prst="roundRect">
            <a:avLst>
              <a:gd name="adj" fmla="val 10000"/>
            </a:avLst>
          </a:pr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custDataLst>
              <p:tags r:id="rId18"/>
            </p:custDataLst>
          </p:nvPr>
        </p:nvSpPr>
        <p:spPr>
          <a:xfrm>
            <a:off x="9144000" y="2193925"/>
            <a:ext cx="50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22" name="AutoShape 22"/>
          <p:cNvSpPr/>
          <p:nvPr>
            <p:custDataLst>
              <p:tags r:id="rId19"/>
            </p:custDataLst>
          </p:nvPr>
        </p:nvSpPr>
        <p:spPr>
          <a:xfrm>
            <a:off x="9042400" y="2790825"/>
            <a:ext cx="2413000" cy="7620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8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生成表格视图</a:t>
            </a:r>
            <a:endParaRPr lang="en-US" sz="1100"/>
          </a:p>
        </p:txBody>
      </p:sp>
      <p:sp>
        <p:nvSpPr>
          <p:cNvPr id="23" name="AutoShape 23"/>
          <p:cNvSpPr/>
          <p:nvPr>
            <p:custDataLst>
              <p:tags r:id="rId20"/>
            </p:custDataLst>
          </p:nvPr>
        </p:nvSpPr>
        <p:spPr>
          <a:xfrm>
            <a:off x="9042400" y="4117340"/>
            <a:ext cx="2413000" cy="26670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300" b="0" i="0" u="none" strike="noStrike">
                <a:solidFill>
                  <a:srgbClr val="E5E7EB"/>
                </a:solidFill>
                <a:latin typeface="微软雅黑" panose="020B0503020204020204" charset="-122"/>
                <a:ea typeface="微软雅黑" panose="020B0503020204020204" charset="-122"/>
                <a:cs typeface="微软雅黑" panose="020B0503020204020204" charset="-122"/>
                <a:sym typeface="微软雅黑" panose="020B0503020204020204" charset="-122"/>
              </a:rPr>
              <a:t>将筛选后的结果切换为表格视图，结构化展示数据，可以更清晰地看到漏洞与主机、端口、风险等级等信息的对应关系，方便整理报告。</a:t>
            </a:r>
            <a:endParaRPr lang="en-US" sz="1100"/>
          </a:p>
        </p:txBody>
      </p:sp>
      <p:sp>
        <p:nvSpPr>
          <p:cNvPr id="25" name="文本框 24"/>
          <p:cNvSpPr txBox="1"/>
          <p:nvPr/>
        </p:nvSpPr>
        <p:spPr>
          <a:xfrm>
            <a:off x="660400" y="1298575"/>
            <a:ext cx="10859135" cy="631190"/>
          </a:xfrm>
          <a:prstGeom prst="rect">
            <a:avLst/>
          </a:prstGeom>
          <a:noFill/>
        </p:spPr>
        <p:txBody>
          <a:bodyPr wrap="square" rtlCol="0" anchor="t">
            <a:spAutoFit/>
          </a:bodyPr>
          <a:p>
            <a:pPr indent="0" algn="l">
              <a:lnSpc>
                <a:spcPct val="117000"/>
              </a:lnSpc>
              <a:defRPr/>
            </a:pPr>
            <a:r>
              <a:rPr 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面对复杂的漏洞列表，精准的筛选至关重要。掌握按风险等级、资产位置、漏洞类型等维度的筛选技巧，能够帮助</a:t>
            </a:r>
            <a:r>
              <a:rPr lang="zh-CN" alt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使用者</a:t>
            </a:r>
            <a:r>
              <a:rPr 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迅速锁定“高危且易被利用”的关键风险，优先分配资源进行修复。</a:t>
            </a:r>
            <a:endParaRPr lang="en-US" altLang="en-US" sz="1500">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2693EA">
                <a:alpha val="100000"/>
              </a:srgbClr>
            </a:gs>
          </a:gsLst>
          <a:lin ang="18900000"/>
        </a:gra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2" b="22"/>
          <a:stretch>
            <a:fillRect/>
          </a:stretch>
        </p:blipFill>
        <p:spPr>
          <a:xfrm rot="10800000" flipV="1">
            <a:off x="2451100" y="0"/>
            <a:ext cx="9740900" cy="6858000"/>
          </a:xfrm>
          <a:prstGeom prst="rect">
            <a:avLst/>
          </a:prstGeom>
          <a:noFill/>
          <a:ln w="25400" cap="flat" cmpd="sng">
            <a:noFill/>
            <a:prstDash val="solid"/>
            <a:round/>
          </a:ln>
        </p:spPr>
      </p:pic>
      <p:sp>
        <p:nvSpPr>
          <p:cNvPr id="3" name="Freeform 3"/>
          <p:cNvSpPr/>
          <p:nvPr/>
        </p:nvSpPr>
        <p:spPr>
          <a:xfrm rot="10800000" flipV="1">
            <a:off x="2451100" y="0"/>
            <a:ext cx="9742308" cy="6857999"/>
          </a:xfrm>
          <a:custGeom>
            <a:avLst/>
            <a:gdLst/>
            <a:ahLst/>
            <a:cxnLst/>
            <a:rect l="l" t="t" r="r" b="b"/>
            <a:pathLst>
              <a:path w="9742308" h="6857999">
                <a:moveTo>
                  <a:pt x="3053131" y="6857999"/>
                </a:moveTo>
                <a:lnTo>
                  <a:pt x="0" y="6857999"/>
                </a:lnTo>
                <a:lnTo>
                  <a:pt x="0" y="4300186"/>
                </a:lnTo>
                <a:lnTo>
                  <a:pt x="4209404" y="0"/>
                </a:lnTo>
                <a:lnTo>
                  <a:pt x="9742308" y="0"/>
                </a:lnTo>
                <a:lnTo>
                  <a:pt x="3053131" y="6857999"/>
                </a:lnTo>
                <a:close/>
              </a:path>
            </a:pathLst>
          </a:custGeom>
          <a:solidFill>
            <a:srgbClr val="2F2F2F">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close/>
              </a:path>
            </a:pathLst>
          </a:custGeom>
          <a:solidFill>
            <a:srgbClr val="082F4D">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rot="10800000" flipV="1">
            <a:off x="2451100" y="0"/>
            <a:ext cx="4539692" cy="3743852"/>
          </a:xfrm>
          <a:custGeom>
            <a:avLst/>
            <a:gdLst/>
            <a:ahLst/>
            <a:cxnLst/>
            <a:rect l="l" t="t" r="r" b="b"/>
            <a:pathLst>
              <a:path w="4539692" h="3743852">
                <a:moveTo>
                  <a:pt x="4539692" y="0"/>
                </a:moveTo>
                <a:lnTo>
                  <a:pt x="2760665" y="0"/>
                </a:lnTo>
                <a:lnTo>
                  <a:pt x="888740" y="1916828"/>
                </a:lnTo>
                <a:lnTo>
                  <a:pt x="888740" y="1916828"/>
                </a:lnTo>
                <a:lnTo>
                  <a:pt x="0" y="2830340"/>
                </a:lnTo>
                <a:lnTo>
                  <a:pt x="885642" y="3743852"/>
                </a:lnTo>
                <a:lnTo>
                  <a:pt x="4539692" y="0"/>
                </a:lnTo>
                <a:close/>
              </a:path>
            </a:pathLst>
          </a:custGeom>
          <a:solidFill>
            <a:srgbClr val="1E91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rot="10800000" flipV="1">
            <a:off x="6096000" y="0"/>
            <a:ext cx="3641663" cy="2830340"/>
          </a:xfrm>
          <a:custGeom>
            <a:avLst/>
            <a:gdLst/>
            <a:ahLst/>
            <a:cxnLst/>
            <a:rect l="l" t="t" r="r" b="b"/>
            <a:pathLst>
              <a:path w="3641663" h="2830340">
                <a:moveTo>
                  <a:pt x="1779026" y="0"/>
                </a:moveTo>
                <a:lnTo>
                  <a:pt x="0" y="0"/>
                </a:lnTo>
                <a:lnTo>
                  <a:pt x="2752924" y="2830340"/>
                </a:lnTo>
                <a:lnTo>
                  <a:pt x="2752924" y="2830340"/>
                </a:lnTo>
                <a:lnTo>
                  <a:pt x="2749827" y="2830340"/>
                </a:lnTo>
                <a:lnTo>
                  <a:pt x="3641663" y="1916828"/>
                </a:lnTo>
                <a:lnTo>
                  <a:pt x="1779026" y="0"/>
                </a:lnTo>
                <a:close/>
              </a:path>
            </a:pathLst>
          </a:custGeom>
          <a:solidFill>
            <a:srgbClr val="0A3E6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rot="10800000" flipV="1">
            <a:off x="2489200" y="25400"/>
            <a:ext cx="9706244" cy="6832611"/>
          </a:xfrm>
          <a:custGeom>
            <a:avLst/>
            <a:gdLst/>
            <a:ahLst/>
            <a:cxnLst/>
            <a:rect l="l" t="t" r="r" b="b"/>
            <a:pathLst>
              <a:path w="9706244" h="6832611">
                <a:moveTo>
                  <a:pt x="3041829" y="6832611"/>
                </a:moveTo>
                <a:lnTo>
                  <a:pt x="0" y="6832611"/>
                </a:lnTo>
                <a:lnTo>
                  <a:pt x="0" y="4284266"/>
                </a:lnTo>
                <a:lnTo>
                  <a:pt x="4193821" y="0"/>
                </a:lnTo>
                <a:lnTo>
                  <a:pt x="9706244" y="0"/>
                </a:lnTo>
                <a:lnTo>
                  <a:pt x="3041829" y="683261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flipV="1">
            <a:off x="7988300" y="0"/>
            <a:ext cx="4206516" cy="4296961"/>
          </a:xfrm>
          <a:custGeom>
            <a:avLst/>
            <a:gdLst/>
            <a:ahLst/>
            <a:cxnLst/>
            <a:rect l="l" t="t" r="r" b="b"/>
            <a:pathLst>
              <a:path w="4206516" h="4296961">
                <a:moveTo>
                  <a:pt x="0" y="4296961"/>
                </a:moveTo>
                <a:lnTo>
                  <a:pt x="0" y="0"/>
                </a:lnTo>
                <a:lnTo>
                  <a:pt x="4206516" y="0"/>
                </a:lnTo>
                <a:lnTo>
                  <a:pt x="0" y="429696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584200" y="2286000"/>
            <a:ext cx="6096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6. 应用与实践</a:t>
            </a:r>
            <a:endParaRPr lang="en-US" sz="1100"/>
          </a:p>
        </p:txBody>
      </p:sp>
      <p:sp>
        <p:nvSpPr>
          <p:cNvPr id="10" name="AutoShape 10"/>
          <p:cNvSpPr/>
          <p:nvPr/>
        </p:nvSpPr>
        <p:spPr>
          <a:xfrm>
            <a:off x="584200" y="4297045"/>
            <a:ext cx="5715000" cy="2286000"/>
          </a:xfrm>
          <a:prstGeom prst="rect">
            <a:avLst/>
          </a:prstGeom>
          <a:noFill/>
          <a:ln w="12700" cap="flat" cmpd="sng">
            <a:noFill/>
            <a:prstDash val="solid"/>
            <a:round/>
          </a:ln>
        </p:spPr>
        <p:txBody>
          <a:bodyPr vert="horz" wrap="square" lIns="0" tIns="0" rIns="0" bIns="0" rtlCol="0" anchor="t" anchorCtr="0"/>
          <a:lstStyle/>
          <a:p>
            <a:pPr algn="l">
              <a:lnSpc>
                <a:spcPct val="125000"/>
              </a:lnSpc>
              <a:buSzTx/>
              <a:defRPr/>
            </a:pPr>
            <a:r>
              <a:rPr lang="en-US" sz="18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Nessus 主要用于日常安全巡检、漏洞评估、合规检查，通过规范流程实现高效、安全、可落地的安全检测。</a:t>
            </a:r>
            <a:endParaRPr lang="en-US" sz="18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46" name="AutoShape 3"/>
          <p:cNvSpPr/>
          <p:nvPr/>
        </p:nvSpPr>
        <p:spPr>
          <a:xfrm>
            <a:off x="4444365" y="1117600"/>
            <a:ext cx="3013075" cy="143510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4"/>
          <p:cNvSpPr/>
          <p:nvPr/>
        </p:nvSpPr>
        <p:spPr>
          <a:xfrm>
            <a:off x="4514850" y="127000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日常安全巡检</a:t>
            </a:r>
            <a:endParaRPr lang="en-US" sz="1100"/>
          </a:p>
        </p:txBody>
      </p:sp>
      <p:sp>
        <p:nvSpPr>
          <p:cNvPr id="48" name="AutoShape 5"/>
          <p:cNvSpPr/>
          <p:nvPr/>
        </p:nvSpPr>
        <p:spPr>
          <a:xfrm>
            <a:off x="4514850" y="1714500"/>
            <a:ext cx="2827655"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0" i="0" u="none" strike="noStrike">
                <a:solidFill>
                  <a:srgbClr val="434343"/>
                </a:solidFill>
                <a:latin typeface="微软雅黑" panose="020B0503020204020204" charset="-122"/>
                <a:ea typeface="微软雅黑" panose="020B0503020204020204" charset="-122"/>
                <a:cs typeface="微软雅黑" panose="020B0503020204020204" charset="-122"/>
                <a:sym typeface="微软雅黑" panose="020B0503020204020204" charset="-122"/>
              </a:rPr>
              <a:t>对服务器、PC、网络设备等资产进行周期性扫描，自动发现弱口令、高危漏洞、配置风险，形成常态化安全检查机制。</a:t>
            </a:r>
            <a:endParaRPr lang="en-US" sz="1100"/>
          </a:p>
        </p:txBody>
      </p:sp>
      <p:sp>
        <p:nvSpPr>
          <p:cNvPr id="49" name="AutoShape 6"/>
          <p:cNvSpPr/>
          <p:nvPr/>
        </p:nvSpPr>
        <p:spPr>
          <a:xfrm>
            <a:off x="3980180" y="1016000"/>
            <a:ext cx="825500" cy="901700"/>
          </a:xfrm>
          <a:prstGeom prst="rect">
            <a:avLst/>
          </a:prstGeom>
          <a:noFill/>
          <a:ln w="12700" cap="flat" cmpd="sng">
            <a:noFill/>
            <a:prstDash val="solid"/>
            <a:round/>
          </a:ln>
        </p:spPr>
        <p:txBody>
          <a:bodyPr vert="horz" wrap="none" lIns="88900" tIns="50800" rIns="88900" bIns="50800" rtlCol="0" anchor="ctr" anchorCtr="0"/>
          <a:lstStyle/>
          <a:p>
            <a:pPr indent="0" algn="l">
              <a:lnSpc>
                <a:spcPct val="100000"/>
              </a:lnSpc>
              <a:defRPr/>
            </a:pPr>
            <a:endParaRPr lang="en-US" sz="1100"/>
          </a:p>
        </p:txBody>
      </p:sp>
      <p:sp>
        <p:nvSpPr>
          <p:cNvPr id="51" name="AutoShape 8"/>
          <p:cNvSpPr/>
          <p:nvPr/>
        </p:nvSpPr>
        <p:spPr>
          <a:xfrm>
            <a:off x="1097915" y="2673350"/>
            <a:ext cx="2965450" cy="143510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2" name="AutoShape 9"/>
          <p:cNvSpPr/>
          <p:nvPr/>
        </p:nvSpPr>
        <p:spPr>
          <a:xfrm>
            <a:off x="1250315" y="282575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等级保护/合规审计</a:t>
            </a:r>
            <a:endParaRPr lang="en-US" sz="1100"/>
          </a:p>
        </p:txBody>
      </p:sp>
      <p:sp>
        <p:nvSpPr>
          <p:cNvPr id="53" name="AutoShape 10"/>
          <p:cNvSpPr/>
          <p:nvPr/>
        </p:nvSpPr>
        <p:spPr>
          <a:xfrm>
            <a:off x="1250315" y="3270250"/>
            <a:ext cx="2655570"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0" i="0" u="none" strike="noStrike">
                <a:solidFill>
                  <a:srgbClr val="434343"/>
                </a:solidFill>
                <a:latin typeface="微软雅黑" panose="020B0503020204020204" charset="-122"/>
                <a:ea typeface="微软雅黑" panose="020B0503020204020204" charset="-122"/>
                <a:cs typeface="微软雅黑" panose="020B0503020204020204" charset="-122"/>
                <a:sym typeface="微软雅黑" panose="020B0503020204020204" charset="-122"/>
              </a:rPr>
              <a:t>内置合规模板，支持等保、PCI DSS、HIPAA等要求，可直接生成合规报告，满足检查与留存证据需求。</a:t>
            </a:r>
            <a:endParaRPr lang="en-US" sz="1100"/>
          </a:p>
        </p:txBody>
      </p:sp>
      <p:sp>
        <p:nvSpPr>
          <p:cNvPr id="56" name="AutoShape 13"/>
          <p:cNvSpPr/>
          <p:nvPr/>
        </p:nvSpPr>
        <p:spPr>
          <a:xfrm>
            <a:off x="7752715" y="2654300"/>
            <a:ext cx="2976245" cy="143510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7" name="AutoShape 14"/>
          <p:cNvSpPr/>
          <p:nvPr/>
        </p:nvSpPr>
        <p:spPr>
          <a:xfrm>
            <a:off x="7917815" y="279781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上线前安全检测</a:t>
            </a:r>
            <a:endParaRPr lang="en-US" sz="1100"/>
          </a:p>
        </p:txBody>
      </p:sp>
      <p:sp>
        <p:nvSpPr>
          <p:cNvPr id="58" name="AutoShape 15"/>
          <p:cNvSpPr/>
          <p:nvPr/>
        </p:nvSpPr>
        <p:spPr>
          <a:xfrm>
            <a:off x="7917815" y="3251200"/>
            <a:ext cx="2663825"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0" i="0" u="none" strike="noStrike">
                <a:solidFill>
                  <a:srgbClr val="434343"/>
                </a:solidFill>
                <a:latin typeface="微软雅黑" panose="020B0503020204020204" charset="-122"/>
                <a:ea typeface="微软雅黑" panose="020B0503020204020204" charset="-122"/>
                <a:cs typeface="微软雅黑" panose="020B0503020204020204" charset="-122"/>
                <a:sym typeface="微软雅黑" panose="020B0503020204020204" charset="-122"/>
              </a:rPr>
              <a:t>新系统、新设备、新网段接入前先扫描，把漏洞拦截在上线之前，降低生产环境安全隐患。</a:t>
            </a:r>
            <a:endParaRPr lang="en-US" sz="1100"/>
          </a:p>
        </p:txBody>
      </p:sp>
      <p:sp>
        <p:nvSpPr>
          <p:cNvPr id="61" name="AutoShape 18"/>
          <p:cNvSpPr/>
          <p:nvPr/>
        </p:nvSpPr>
        <p:spPr>
          <a:xfrm>
            <a:off x="2270125" y="4711700"/>
            <a:ext cx="2907030" cy="143510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19"/>
          <p:cNvSpPr/>
          <p:nvPr/>
        </p:nvSpPr>
        <p:spPr>
          <a:xfrm>
            <a:off x="2423160" y="486410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渗透测试前置评估</a:t>
            </a:r>
            <a:endParaRPr lang="en-US" sz="1100"/>
          </a:p>
        </p:txBody>
      </p:sp>
      <p:sp>
        <p:nvSpPr>
          <p:cNvPr id="63" name="AutoShape 20"/>
          <p:cNvSpPr/>
          <p:nvPr/>
        </p:nvSpPr>
        <p:spPr>
          <a:xfrm>
            <a:off x="2423160" y="5308600"/>
            <a:ext cx="2753995"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0" i="0" u="none" strike="noStrike">
                <a:solidFill>
                  <a:srgbClr val="434343"/>
                </a:solidFill>
                <a:latin typeface="微软雅黑" panose="020B0503020204020204" charset="-122"/>
                <a:ea typeface="微软雅黑" panose="020B0503020204020204" charset="-122"/>
                <a:cs typeface="微软雅黑" panose="020B0503020204020204" charset="-122"/>
                <a:sym typeface="微软雅黑" panose="020B0503020204020204" charset="-122"/>
              </a:rPr>
              <a:t>先通过Nessus快速定位高危入口点（如永恒之蓝、远程代码执行），为渗透测试提供精准目标与方向。</a:t>
            </a:r>
            <a:endParaRPr lang="en-US" sz="1100"/>
          </a:p>
        </p:txBody>
      </p:sp>
      <p:sp>
        <p:nvSpPr>
          <p:cNvPr id="66" name="AutoShape 23"/>
          <p:cNvSpPr/>
          <p:nvPr/>
        </p:nvSpPr>
        <p:spPr>
          <a:xfrm>
            <a:off x="6664325" y="4711700"/>
            <a:ext cx="2915920" cy="1435100"/>
          </a:xfrm>
          <a:prstGeom prst="roundRect">
            <a:avLst>
              <a:gd name="adj" fmla="val 16814"/>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7" name="AutoShape 24"/>
          <p:cNvSpPr/>
          <p:nvPr/>
        </p:nvSpPr>
        <p:spPr>
          <a:xfrm>
            <a:off x="6829425" y="4864100"/>
            <a:ext cx="3873500" cy="3683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持续安全监控</a:t>
            </a:r>
            <a:endParaRPr lang="en-US" sz="1100"/>
          </a:p>
        </p:txBody>
      </p:sp>
      <p:sp>
        <p:nvSpPr>
          <p:cNvPr id="68" name="AutoShape 25"/>
          <p:cNvSpPr/>
          <p:nvPr/>
        </p:nvSpPr>
        <p:spPr>
          <a:xfrm>
            <a:off x="6829425" y="5308600"/>
            <a:ext cx="2647315" cy="927100"/>
          </a:xfrm>
          <a:prstGeom prst="rect">
            <a:avLst/>
          </a:prstGeom>
          <a:noFill/>
          <a:ln w="12700" cap="flat" cmpd="sng">
            <a:noFill/>
            <a:prstDash val="solid"/>
            <a:round/>
          </a:ln>
        </p:spPr>
        <p:txBody>
          <a:bodyPr vert="horz" wrap="square" lIns="88900" tIns="50800" rIns="88900" bIns="50800" rtlCol="0" anchor="t" anchorCtr="0"/>
          <a:lstStyle/>
          <a:p>
            <a:pPr indent="0" algn="l">
              <a:lnSpc>
                <a:spcPct val="108000"/>
              </a:lnSpc>
              <a:defRPr/>
            </a:pPr>
            <a:r>
              <a:rPr lang="en-US" sz="1200" b="0" i="0" u="none" strike="noStrike">
                <a:solidFill>
                  <a:srgbClr val="434343"/>
                </a:solidFill>
                <a:latin typeface="微软雅黑" panose="020B0503020204020204" charset="-122"/>
                <a:ea typeface="微软雅黑" panose="020B0503020204020204" charset="-122"/>
                <a:cs typeface="微软雅黑" panose="020B0503020204020204" charset="-122"/>
                <a:sym typeface="微软雅黑" panose="020B0503020204020204" charset="-122"/>
              </a:rPr>
              <a:t>配置定时/循环扫描，自动发现新增资产、非法服务、漏洞复现问题，实现风险动态跟踪。</a:t>
            </a:r>
            <a:endParaRPr lang="en-US" sz="1100"/>
          </a:p>
        </p:txBody>
      </p:sp>
      <p:sp>
        <p:nvSpPr>
          <p:cNvPr id="70" name="AutoShape 27"/>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6.1 Nessus的应用场景</a:t>
            </a:r>
            <a:endParaRPr lang="en-US" sz="1100"/>
          </a:p>
        </p:txBody>
      </p:sp>
      <p:sp>
        <p:nvSpPr>
          <p:cNvPr id="71" name="AutoShape 28"/>
          <p:cNvSpPr/>
          <p:nvPr/>
        </p:nvSpPr>
        <p:spPr>
          <a:xfrm>
            <a:off x="6527800" y="1143000"/>
            <a:ext cx="5372100" cy="1511300"/>
          </a:xfrm>
          <a:prstGeom prst="rect">
            <a:avLst/>
          </a:prstGeom>
          <a:noFill/>
          <a:ln w="12700" cap="flat" cmpd="sng">
            <a:noFill/>
            <a:prstDash val="solid"/>
            <a:round/>
          </a:ln>
        </p:spPr>
        <p:txBody>
          <a:bodyPr vert="horz" wrap="square" lIns="88900" tIns="50800" rIns="88900" bIns="50800" rtlCol="0" anchor="ctr" anchorCtr="0"/>
          <a:lstStyle/>
          <a:p>
            <a:pPr indent="0" algn="l">
              <a:lnSpc>
                <a:spcPct val="100000"/>
              </a:lnSpc>
              <a:defRPr/>
            </a:pP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130300"/>
            <a:ext cx="10858500" cy="7239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遵循最佳实践，能让扫描更高效、结果更准确</a:t>
            </a:r>
            <a:endParaRPr lang="en-US" sz="1100"/>
          </a:p>
        </p:txBody>
      </p:sp>
      <p:sp>
        <p:nvSpPr>
          <p:cNvPr id="3" name="AutoShape 3"/>
          <p:cNvSpPr/>
          <p:nvPr>
            <p:custDataLst>
              <p:tags r:id="rId1"/>
            </p:custDataLst>
          </p:nvPr>
        </p:nvSpPr>
        <p:spPr>
          <a:xfrm>
            <a:off x="660400" y="2286000"/>
            <a:ext cx="3556000" cy="6477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规划扫描时间</a:t>
            </a:r>
            <a:endParaRPr lang="en-US" sz="1100"/>
          </a:p>
        </p:txBody>
      </p:sp>
      <p:sp>
        <p:nvSpPr>
          <p:cNvPr id="4" name="AutoShape 4"/>
          <p:cNvSpPr/>
          <p:nvPr>
            <p:custDataLst>
              <p:tags r:id="rId2"/>
            </p:custDataLst>
          </p:nvPr>
        </p:nvSpPr>
        <p:spPr>
          <a:xfrm>
            <a:off x="660400" y="2933700"/>
            <a:ext cx="3556000" cy="11176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对生产环境进行大规模扫描时，应尽量安排在业务低峰期（如夜间），避免影响正常业务。</a:t>
            </a:r>
            <a:endParaRPr lang="en-US" sz="1100"/>
          </a:p>
        </p:txBody>
      </p:sp>
      <p:sp>
        <p:nvSpPr>
          <p:cNvPr id="6" name="AutoShape 6"/>
          <p:cNvSpPr/>
          <p:nvPr>
            <p:custDataLst>
              <p:tags r:id="rId3"/>
            </p:custDataLst>
          </p:nvPr>
        </p:nvSpPr>
        <p:spPr>
          <a:xfrm>
            <a:off x="7962900" y="2286000"/>
            <a:ext cx="35560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合理利用策略</a:t>
            </a:r>
            <a:endParaRPr lang="en-US" sz="1100"/>
          </a:p>
        </p:txBody>
      </p:sp>
      <p:sp>
        <p:nvSpPr>
          <p:cNvPr id="7" name="AutoShape 7"/>
          <p:cNvSpPr/>
          <p:nvPr>
            <p:custDataLst>
              <p:tags r:id="rId4"/>
            </p:custDataLst>
          </p:nvPr>
        </p:nvSpPr>
        <p:spPr>
          <a:xfrm>
            <a:off x="7962900" y="2933700"/>
            <a:ext cx="3556000" cy="11176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根据不同场景（如日常巡检、入网前评估）选择或创建合适的扫描策略，避免“一刀切”带来的效率低下或信息过载。</a:t>
            </a:r>
            <a:endParaRPr lang="en-US" sz="1100"/>
          </a:p>
        </p:txBody>
      </p:sp>
      <p:sp>
        <p:nvSpPr>
          <p:cNvPr id="9" name="AutoShape 9"/>
          <p:cNvSpPr/>
          <p:nvPr>
            <p:custDataLst>
              <p:tags r:id="rId5"/>
            </p:custDataLst>
          </p:nvPr>
        </p:nvSpPr>
        <p:spPr>
          <a:xfrm>
            <a:off x="660400" y="4191000"/>
            <a:ext cx="3556000" cy="6477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善用资产分组</a:t>
            </a:r>
            <a:endParaRPr lang="en-US" sz="1100"/>
          </a:p>
        </p:txBody>
      </p:sp>
      <p:sp>
        <p:nvSpPr>
          <p:cNvPr id="10" name="AutoShape 10"/>
          <p:cNvSpPr/>
          <p:nvPr>
            <p:custDataLst>
              <p:tags r:id="rId6"/>
            </p:custDataLst>
          </p:nvPr>
        </p:nvSpPr>
        <p:spPr>
          <a:xfrm>
            <a:off x="660400" y="4838700"/>
            <a:ext cx="3556000" cy="11176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将不同部门、不同区域的资产进行逻辑隔离和分组管理，有助于实现精细化的权限控制和报告分发。</a:t>
            </a:r>
            <a:endParaRPr lang="en-US" sz="1100"/>
          </a:p>
        </p:txBody>
      </p:sp>
      <p:sp>
        <p:nvSpPr>
          <p:cNvPr id="11" name="AutoShape 11"/>
          <p:cNvSpPr/>
          <p:nvPr>
            <p:custDataLst>
              <p:tags r:id="rId7"/>
            </p:custDataLst>
          </p:nvPr>
        </p:nvSpPr>
        <p:spPr>
          <a:xfrm>
            <a:off x="4546600" y="4191000"/>
            <a:ext cx="1485900" cy="1485900"/>
          </a:xfrm>
          <a:prstGeom prst="roundRect">
            <a:avLst>
              <a:gd name="adj" fmla="val 19938"/>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3200" b="1" i="0" u="none" strike="noStrike">
                <a:solidFill>
                  <a:srgbClr val="2F2F2F"/>
                </a:solidFill>
                <a:latin typeface="Arial" panose="020B0604020202020204"/>
                <a:ea typeface="Arial" panose="020B0604020202020204"/>
                <a:cs typeface="Arial" panose="020B0604020202020204"/>
                <a:sym typeface="Arial" panose="020B0604020202020204"/>
              </a:rPr>
              <a:t>03</a:t>
            </a:r>
            <a:endParaRPr lang="en-US" sz="1100"/>
          </a:p>
        </p:txBody>
      </p:sp>
      <p:sp>
        <p:nvSpPr>
          <p:cNvPr id="12" name="AutoShape 12"/>
          <p:cNvSpPr/>
          <p:nvPr>
            <p:custDataLst>
              <p:tags r:id="rId8"/>
            </p:custDataLst>
          </p:nvPr>
        </p:nvSpPr>
        <p:spPr>
          <a:xfrm>
            <a:off x="7962900" y="4191000"/>
            <a:ext cx="3556000" cy="647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定期更新插件</a:t>
            </a:r>
            <a:endParaRPr lang="en-US" sz="1100"/>
          </a:p>
        </p:txBody>
      </p:sp>
      <p:sp>
        <p:nvSpPr>
          <p:cNvPr id="13" name="AutoShape 13"/>
          <p:cNvSpPr/>
          <p:nvPr>
            <p:custDataLst>
              <p:tags r:id="rId9"/>
            </p:custDataLst>
          </p:nvPr>
        </p:nvSpPr>
        <p:spPr>
          <a:xfrm>
            <a:off x="7962900" y="4838700"/>
            <a:ext cx="3556000" cy="11176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Nessus的服务端需要定期联网更新插件库，以确保能够检测到最新的安全漏洞，保持防护状态有效。</a:t>
            </a:r>
            <a:endParaRPr lang="en-US" sz="1100"/>
          </a:p>
        </p:txBody>
      </p:sp>
      <p:sp>
        <p:nvSpPr>
          <p:cNvPr id="14" name="AutoShape 14"/>
          <p:cNvSpPr/>
          <p:nvPr>
            <p:custDataLst>
              <p:tags r:id="rId10"/>
            </p:custDataLst>
          </p:nvPr>
        </p:nvSpPr>
        <p:spPr>
          <a:xfrm rot="10800000" flipV="1">
            <a:off x="6159500" y="2565400"/>
            <a:ext cx="1485900" cy="1485900"/>
          </a:xfrm>
          <a:prstGeom prst="roundRect">
            <a:avLst>
              <a:gd name="adj" fmla="val 19938"/>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3200" b="1" i="0" u="none" strike="noStrike">
                <a:solidFill>
                  <a:srgbClr val="2F2F2F"/>
                </a:solidFill>
                <a:latin typeface="Arial" panose="020B0604020202020204"/>
                <a:ea typeface="Arial" panose="020B0604020202020204"/>
                <a:cs typeface="Arial" panose="020B0604020202020204"/>
                <a:sym typeface="Arial" panose="020B0604020202020204"/>
              </a:rPr>
              <a:t>02</a:t>
            </a:r>
            <a:endParaRPr lang="en-US" sz="1100"/>
          </a:p>
        </p:txBody>
      </p:sp>
      <p:sp>
        <p:nvSpPr>
          <p:cNvPr id="15" name="AutoShape 15"/>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6.2 扫描的最佳实践</a:t>
            </a:r>
            <a:endParaRPr lang="en-US" sz="1100"/>
          </a:p>
        </p:txBody>
      </p:sp>
      <p:sp>
        <p:nvSpPr>
          <p:cNvPr id="16" name="AutoShape 14"/>
          <p:cNvSpPr/>
          <p:nvPr>
            <p:custDataLst>
              <p:tags r:id="rId11"/>
            </p:custDataLst>
          </p:nvPr>
        </p:nvSpPr>
        <p:spPr>
          <a:xfrm rot="10800000" flipV="1">
            <a:off x="4546600" y="2565400"/>
            <a:ext cx="1485900" cy="1485900"/>
          </a:xfrm>
          <a:prstGeom prst="roundRect">
            <a:avLst>
              <a:gd name="adj" fmla="val 19938"/>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3200" b="1" i="0" u="none" strike="noStrike">
                <a:solidFill>
                  <a:srgbClr val="2F2F2F"/>
                </a:solidFill>
                <a:latin typeface="Arial" panose="020B0604020202020204"/>
                <a:ea typeface="Arial" panose="020B0604020202020204"/>
                <a:cs typeface="Arial" panose="020B0604020202020204"/>
                <a:sym typeface="Arial" panose="020B0604020202020204"/>
              </a:rPr>
              <a:t>01</a:t>
            </a:r>
            <a:endParaRPr lang="en-US" sz="1100"/>
          </a:p>
        </p:txBody>
      </p:sp>
      <p:sp>
        <p:nvSpPr>
          <p:cNvPr id="17" name="AutoShape 14"/>
          <p:cNvSpPr/>
          <p:nvPr>
            <p:custDataLst>
              <p:tags r:id="rId12"/>
            </p:custDataLst>
          </p:nvPr>
        </p:nvSpPr>
        <p:spPr>
          <a:xfrm rot="10800000" flipV="1">
            <a:off x="6159500" y="4191000"/>
            <a:ext cx="1485900" cy="1485900"/>
          </a:xfrm>
          <a:prstGeom prst="roundRect">
            <a:avLst>
              <a:gd name="adj" fmla="val 19938"/>
            </a:avLst>
          </a:prstGeom>
          <a:solidFill>
            <a:srgbClr val="FFFFFF">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3200" b="1" i="0" u="none" strike="noStrike">
                <a:solidFill>
                  <a:srgbClr val="2F2F2F"/>
                </a:solidFill>
                <a:latin typeface="Arial" panose="020B0604020202020204"/>
                <a:ea typeface="Arial" panose="020B0604020202020204"/>
                <a:cs typeface="Arial" panose="020B0604020202020204"/>
                <a:sym typeface="Arial" panose="020B0604020202020204"/>
              </a:rPr>
              <a:t>04</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82F4D">
                <a:alpha val="100000"/>
              </a:srgbClr>
            </a:gs>
            <a:gs pos="72000">
              <a:srgbClr val="051F34">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660400" y="1155700"/>
            <a:ext cx="10858500" cy="457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endParaRPr lang="en-US" sz="1100"/>
          </a:p>
        </p:txBody>
      </p:sp>
      <p:sp>
        <p:nvSpPr>
          <p:cNvPr id="3" name="AutoShape 3"/>
          <p:cNvSpPr/>
          <p:nvPr/>
        </p:nvSpPr>
        <p:spPr>
          <a:xfrm>
            <a:off x="7556500" y="1483360"/>
            <a:ext cx="3962400" cy="4699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01. 什么是持续扫描</a:t>
            </a:r>
            <a:endParaRPr lang="en-US" sz="1100"/>
          </a:p>
        </p:txBody>
      </p:sp>
      <p:sp>
        <p:nvSpPr>
          <p:cNvPr id="4" name="AutoShape 4"/>
          <p:cNvSpPr/>
          <p:nvPr/>
        </p:nvSpPr>
        <p:spPr>
          <a:xfrm>
            <a:off x="7556500" y="1953260"/>
            <a:ext cx="3962400" cy="10922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持续扫描是一种定期运行的扫描任务，它会按照预设的时间间隔（如每周）自动对目标网络进行扫描，以监控资产和漏洞的变化。</a:t>
            </a:r>
            <a:endParaRPr lang="en-US" sz="1100"/>
          </a:p>
        </p:txBody>
      </p:sp>
      <p:sp>
        <p:nvSpPr>
          <p:cNvPr id="5" name="AutoShape 5"/>
          <p:cNvSpPr/>
          <p:nvPr/>
        </p:nvSpPr>
        <p:spPr>
          <a:xfrm>
            <a:off x="685800" y="2639060"/>
            <a:ext cx="3898900" cy="4699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1800" b="1"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02. 启用持续扫描</a:t>
            </a:r>
            <a:endParaRPr lang="en-US" sz="1100"/>
          </a:p>
        </p:txBody>
      </p:sp>
      <p:sp>
        <p:nvSpPr>
          <p:cNvPr id="6" name="AutoShape 6"/>
          <p:cNvSpPr/>
          <p:nvPr/>
        </p:nvSpPr>
        <p:spPr>
          <a:xfrm>
            <a:off x="685800" y="3108960"/>
            <a:ext cx="3898900" cy="10922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2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在创建扫描任务的策略设置中，可以找到“持续扫描”选项并启用它，同时配置好扫描频率和持续时间。</a:t>
            </a:r>
            <a:endParaRPr lang="en-US" sz="1100"/>
          </a:p>
        </p:txBody>
      </p:sp>
      <p:sp>
        <p:nvSpPr>
          <p:cNvPr id="7" name="AutoShape 7"/>
          <p:cNvSpPr/>
          <p:nvPr/>
        </p:nvSpPr>
        <p:spPr>
          <a:xfrm>
            <a:off x="7556500" y="3655060"/>
            <a:ext cx="3962400" cy="4699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1800" b="1"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03. 监控资产变化</a:t>
            </a:r>
            <a:endParaRPr lang="en-US" sz="1100"/>
          </a:p>
        </p:txBody>
      </p:sp>
      <p:sp>
        <p:nvSpPr>
          <p:cNvPr id="8" name="AutoShape 8"/>
          <p:cNvSpPr/>
          <p:nvPr/>
        </p:nvSpPr>
        <p:spPr>
          <a:xfrm>
            <a:off x="7556500" y="4137660"/>
            <a:ext cx="3962400" cy="11176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2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通过持续扫描，可以及时发现网络中新增的资产（如临时接入的测试机），防止出现安全监控盲区。</a:t>
            </a:r>
            <a:endParaRPr lang="en-US" sz="1100"/>
          </a:p>
        </p:txBody>
      </p:sp>
      <p:sp>
        <p:nvSpPr>
          <p:cNvPr id="9" name="AutoShape 9"/>
          <p:cNvSpPr/>
          <p:nvPr/>
        </p:nvSpPr>
        <p:spPr>
          <a:xfrm>
            <a:off x="685800" y="4556760"/>
            <a:ext cx="3898900" cy="4699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1800" b="1"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04. 追踪漏洞修复</a:t>
            </a:r>
            <a:endParaRPr lang="en-US" sz="1100"/>
          </a:p>
        </p:txBody>
      </p:sp>
      <p:sp>
        <p:nvSpPr>
          <p:cNvPr id="10" name="AutoShape 10"/>
          <p:cNvSpPr/>
          <p:nvPr/>
        </p:nvSpPr>
        <p:spPr>
          <a:xfrm>
            <a:off x="685800" y="5039360"/>
            <a:ext cx="3898900" cy="1016000"/>
          </a:xfrm>
          <a:prstGeom prst="rect">
            <a:avLst/>
          </a:prstGeom>
          <a:noFill/>
          <a:ln w="12700" cap="flat" cmpd="sng">
            <a:noFill/>
            <a:prstDash val="solid"/>
            <a:round/>
          </a:ln>
        </p:spPr>
        <p:txBody>
          <a:bodyPr vert="horz" wrap="square" lIns="88900" tIns="50800" rIns="88900" bIns="50800" rtlCol="0" anchor="t" anchorCtr="0"/>
          <a:lstStyle/>
          <a:p>
            <a:pPr indent="0" algn="r">
              <a:lnSpc>
                <a:spcPct val="117000"/>
              </a:lnSpc>
              <a:defRPr/>
            </a:pPr>
            <a:r>
              <a:rPr lang="en-US" sz="1200" b="0" i="0" u="none" strike="noStrike">
                <a:solidFill>
                  <a:srgbClr val="FFFFFF">
                    <a:alpha val="7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持续扫描能帮助验证修复操作的有效性。如果某个漏洞在修复后仍然被扫描出来，则说明修复措施可能未成功实施。</a:t>
            </a:r>
            <a:endParaRPr lang="en-US" sz="1100"/>
          </a:p>
        </p:txBody>
      </p:sp>
      <p:cxnSp>
        <p:nvCxnSpPr>
          <p:cNvPr id="11" name="Connector 11"/>
          <p:cNvCxnSpPr/>
          <p:nvPr/>
        </p:nvCxnSpPr>
        <p:spPr>
          <a:xfrm rot="5380242">
            <a:off x="3892541" y="3521719"/>
            <a:ext cx="4419618" cy="12700"/>
          </a:xfrm>
          <a:prstGeom prst="line">
            <a:avLst/>
          </a:prstGeom>
          <a:solidFill>
            <a:srgbClr val="DEE0E3">
              <a:alpha val="100000"/>
            </a:srgbClr>
          </a:solidFill>
          <a:ln w="12700" cap="sq" cmpd="sng">
            <a:solidFill>
              <a:srgbClr val="0A3E67">
                <a:alpha val="15000"/>
              </a:srgbClr>
            </a:solidFill>
            <a:prstDash val="solid"/>
            <a:miter lim="10000000"/>
            <a:headEnd type="none" w="med" len="med"/>
            <a:tailEnd type="arrow" w="med" len="med"/>
          </a:ln>
        </p:spPr>
      </p:cxnSp>
      <p:sp>
        <p:nvSpPr>
          <p:cNvPr id="12" name="AutoShape 12"/>
          <p:cNvSpPr/>
          <p:nvPr/>
        </p:nvSpPr>
        <p:spPr>
          <a:xfrm>
            <a:off x="6616700" y="1546860"/>
            <a:ext cx="508000" cy="508000"/>
          </a:xfrm>
          <a:prstGeom prst="rect">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01</a:t>
            </a:r>
            <a:endParaRPr lang="en-US" sz="1100"/>
          </a:p>
        </p:txBody>
      </p:sp>
      <p:cxnSp>
        <p:nvCxnSpPr>
          <p:cNvPr id="13" name="Connector 13"/>
          <p:cNvCxnSpPr/>
          <p:nvPr/>
        </p:nvCxnSpPr>
        <p:spPr>
          <a:xfrm rot="24">
            <a:off x="6096000" y="1788162"/>
            <a:ext cx="520855" cy="12700"/>
          </a:xfrm>
          <a:prstGeom prst="line">
            <a:avLst/>
          </a:prstGeom>
          <a:solidFill>
            <a:srgbClr val="DEE0E3">
              <a:alpha val="100000"/>
            </a:srgbClr>
          </a:solidFill>
          <a:ln w="12700" cap="sq" cmpd="sng">
            <a:solidFill>
              <a:srgbClr val="0A3E67">
                <a:alpha val="100000"/>
              </a:srgbClr>
            </a:solidFill>
            <a:prstDash val="solid"/>
            <a:miter lim="10000000"/>
            <a:headEnd type="oval" w="med" len="med"/>
            <a:tailEnd type="none" w="med" len="med"/>
          </a:ln>
        </p:spPr>
      </p:cxnSp>
      <p:sp>
        <p:nvSpPr>
          <p:cNvPr id="14" name="AutoShape 14"/>
          <p:cNvSpPr/>
          <p:nvPr/>
        </p:nvSpPr>
        <p:spPr>
          <a:xfrm>
            <a:off x="5003800" y="2702560"/>
            <a:ext cx="508000" cy="508000"/>
          </a:xfrm>
          <a:prstGeom prst="rect">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02</a:t>
            </a:r>
            <a:endParaRPr lang="en-US" sz="1100"/>
          </a:p>
        </p:txBody>
      </p:sp>
      <p:cxnSp>
        <p:nvCxnSpPr>
          <p:cNvPr id="15" name="Connector 15"/>
          <p:cNvCxnSpPr/>
          <p:nvPr/>
        </p:nvCxnSpPr>
        <p:spPr>
          <a:xfrm rot="-76381">
            <a:off x="5511871" y="2937510"/>
            <a:ext cx="571500"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oval" w="med" len="med"/>
          </a:ln>
        </p:spPr>
      </p:cxnSp>
      <p:sp>
        <p:nvSpPr>
          <p:cNvPr id="16" name="AutoShape 16"/>
          <p:cNvSpPr/>
          <p:nvPr/>
        </p:nvSpPr>
        <p:spPr>
          <a:xfrm>
            <a:off x="6616700" y="3731260"/>
            <a:ext cx="508000" cy="508000"/>
          </a:xfrm>
          <a:prstGeom prst="rect">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03</a:t>
            </a:r>
            <a:endParaRPr lang="en-US" sz="1100"/>
          </a:p>
        </p:txBody>
      </p:sp>
      <p:cxnSp>
        <p:nvCxnSpPr>
          <p:cNvPr id="17" name="Connector 17"/>
          <p:cNvCxnSpPr/>
          <p:nvPr/>
        </p:nvCxnSpPr>
        <p:spPr>
          <a:xfrm rot="24">
            <a:off x="6096000" y="3972562"/>
            <a:ext cx="520855" cy="12700"/>
          </a:xfrm>
          <a:prstGeom prst="line">
            <a:avLst/>
          </a:prstGeom>
          <a:solidFill>
            <a:srgbClr val="DEE0E3">
              <a:alpha val="100000"/>
            </a:srgbClr>
          </a:solidFill>
          <a:ln w="12700" cap="sq" cmpd="sng">
            <a:solidFill>
              <a:srgbClr val="0A3E67">
                <a:alpha val="100000"/>
              </a:srgbClr>
            </a:solidFill>
            <a:prstDash val="solid"/>
            <a:miter lim="10000000"/>
            <a:headEnd type="oval" w="med" len="med"/>
            <a:tailEnd type="none" w="med" len="med"/>
          </a:ln>
        </p:spPr>
      </p:cxnSp>
      <p:sp>
        <p:nvSpPr>
          <p:cNvPr id="18" name="AutoShape 18"/>
          <p:cNvSpPr/>
          <p:nvPr/>
        </p:nvSpPr>
        <p:spPr>
          <a:xfrm>
            <a:off x="5003800" y="4848860"/>
            <a:ext cx="508000" cy="508000"/>
          </a:xfrm>
          <a:prstGeom prst="rect">
            <a:avLst/>
          </a:prstGeom>
          <a:solidFill>
            <a:srgbClr val="0A3E67">
              <a:alpha val="100000"/>
            </a:srgbClr>
          </a:solidFill>
          <a:ln w="12700" cap="flat" cmpd="sng">
            <a:noFill/>
            <a:prstDash val="solid"/>
            <a:round/>
          </a:ln>
        </p:spPr>
        <p:txBody>
          <a:bodyPr vert="horz" wrap="none" lIns="88900" tIns="50800" rIns="88900" bIns="50800" rtlCol="0" anchor="ctr" anchorCtr="0"/>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04</a:t>
            </a:r>
            <a:endParaRPr lang="en-US" sz="1100"/>
          </a:p>
        </p:txBody>
      </p:sp>
      <p:cxnSp>
        <p:nvCxnSpPr>
          <p:cNvPr id="19" name="Connector 19"/>
          <p:cNvCxnSpPr/>
          <p:nvPr/>
        </p:nvCxnSpPr>
        <p:spPr>
          <a:xfrm rot="-76381">
            <a:off x="5511871" y="5083810"/>
            <a:ext cx="571500" cy="12700"/>
          </a:xfrm>
          <a:prstGeom prst="line">
            <a:avLst/>
          </a:prstGeom>
          <a:solidFill>
            <a:srgbClr val="DEE0E3">
              <a:alpha val="100000"/>
            </a:srgbClr>
          </a:solidFill>
          <a:ln w="12700" cap="sq" cmpd="sng">
            <a:solidFill>
              <a:srgbClr val="0A3E67">
                <a:alpha val="100000"/>
              </a:srgbClr>
            </a:solidFill>
            <a:prstDash val="solid"/>
            <a:miter lim="10000000"/>
            <a:headEnd type="none" w="med" len="med"/>
            <a:tailEnd type="oval" w="med" len="med"/>
          </a:ln>
        </p:spPr>
      </p:cxnSp>
      <p:sp>
        <p:nvSpPr>
          <p:cNvPr id="20" name="AutoShape 20"/>
          <p:cNvSpPr/>
          <p:nvPr/>
        </p:nvSpPr>
        <p:spPr>
          <a:xfrm>
            <a:off x="660400" y="127000"/>
            <a:ext cx="10858500" cy="901700"/>
          </a:xfrm>
          <a:prstGeom prst="rect">
            <a:avLst/>
          </a:prstGeom>
          <a:noFill/>
          <a:ln w="12700" cap="flat" cmpd="sng">
            <a:noFill/>
            <a:prstDash val="solid"/>
            <a:round/>
          </a:ln>
        </p:spPr>
        <p:txBody>
          <a:bodyPr vert="horz" wrap="square" lIns="88900" tIns="50800" rIns="88900" bIns="50800" rtlCol="0" anchor="b" anchorCtr="0"/>
          <a:lstStyle/>
          <a:p>
            <a:pPr indent="0" algn="l">
              <a:lnSpc>
                <a:spcPct val="100000"/>
              </a:lnSpc>
              <a:defRPr/>
            </a:pPr>
            <a:r>
              <a:rPr lang="en-US" sz="28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6.3 持续扫描与监控</a:t>
            </a:r>
            <a:endParaRPr lang="en-US" sz="1100"/>
          </a:p>
        </p:txBody>
      </p:sp>
      <p:sp>
        <p:nvSpPr>
          <p:cNvPr id="21" name="文本框 20"/>
          <p:cNvSpPr txBox="1"/>
          <p:nvPr/>
        </p:nvSpPr>
        <p:spPr>
          <a:xfrm>
            <a:off x="635000" y="1318260"/>
            <a:ext cx="4953000" cy="398780"/>
          </a:xfrm>
          <a:prstGeom prst="rect">
            <a:avLst/>
          </a:prstGeom>
          <a:noFill/>
        </p:spPr>
        <p:txBody>
          <a:bodyPr wrap="square" rtlCol="0" anchor="t">
            <a:spAutoFit/>
          </a:bodyPr>
          <a:p>
            <a:pPr algn="l">
              <a:buSzTx/>
              <a:defRPr/>
            </a:pPr>
            <a:r>
              <a:rPr lang="en-US" sz="2000" b="1">
                <a:solidFill>
                  <a:srgbClr val="FFFFFF"/>
                </a:solidFill>
                <a:latin typeface="微软雅黑" panose="020B0503020204020204" charset="-122"/>
                <a:ea typeface="微软雅黑" panose="020B0503020204020204" charset="-122"/>
                <a:cs typeface="微软雅黑" panose="020B0503020204020204" charset="-122"/>
                <a:sym typeface="+mn-ea"/>
              </a:rPr>
              <a:t>从一次性评估到持续性安全监控的转变</a:t>
            </a:r>
            <a:endParaRPr 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0">
          <a:gsLst>
            <a:gs pos="22000">
              <a:srgbClr val="0A3E67">
                <a:alpha val="100000"/>
              </a:srgbClr>
            </a:gs>
            <a:gs pos="100000">
              <a:srgbClr val="2693EA">
                <a:alpha val="100000"/>
              </a:srgbClr>
            </a:gs>
          </a:gsLst>
          <a:lin ang="13500000"/>
        </a:gradFill>
        <a:effectLst/>
      </p:bgPr>
    </p:bg>
    <p:spTree>
      <p:nvGrpSpPr>
        <p:cNvPr id="1" name=""/>
        <p:cNvGrpSpPr/>
        <p:nvPr/>
      </p:nvGrpSpPr>
      <p:grpSpPr>
        <a:xfrm>
          <a:off x="0" y="0"/>
          <a:ext cx="0" cy="0"/>
          <a:chOff x="0" y="0"/>
          <a:chExt cx="0" cy="0"/>
        </a:xfrm>
      </p:grpSpPr>
      <p:sp>
        <p:nvSpPr>
          <p:cNvPr id="2" name="Freeform 2"/>
          <p:cNvSpPr/>
          <p:nvPr/>
        </p:nvSpPr>
        <p:spPr>
          <a:xfrm>
            <a:off x="0" y="0"/>
            <a:ext cx="4206516" cy="4296961"/>
          </a:xfrm>
          <a:custGeom>
            <a:avLst/>
            <a:gdLst/>
            <a:ahLst/>
            <a:cxnLst/>
            <a:rect l="l" t="t" r="r" b="b"/>
            <a:pathLst>
              <a:path w="4206516" h="4296961">
                <a:moveTo>
                  <a:pt x="0" y="4296961"/>
                </a:moveTo>
                <a:lnTo>
                  <a:pt x="0" y="0"/>
                </a:lnTo>
                <a:lnTo>
                  <a:pt x="4206516" y="0"/>
                </a:lnTo>
                <a:lnTo>
                  <a:pt x="0" y="4296961"/>
                </a:lnTo>
                <a:close/>
              </a:path>
            </a:pathLst>
          </a:custGeom>
          <a:gradFill rotWithShape="0">
            <a:gsLst>
              <a:gs pos="0">
                <a:srgbClr val="0A3E67">
                  <a:alpha val="100000"/>
                </a:srgbClr>
              </a:gs>
              <a:gs pos="31000">
                <a:srgbClr val="2693EA">
                  <a:alpha val="100000"/>
                </a:srgbClr>
              </a:gs>
            </a:gsLst>
            <a:lin ang="2700000"/>
          </a:gra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533400" y="0"/>
            <a:ext cx="9742308" cy="6857999"/>
          </a:xfrm>
          <a:custGeom>
            <a:avLst/>
            <a:gdLst/>
            <a:ahLst/>
            <a:cxnLst/>
            <a:rect l="l" t="t" r="r" b="b"/>
            <a:pathLst>
              <a:path w="9742308" h="6857999">
                <a:moveTo>
                  <a:pt x="3053131" y="6857999"/>
                </a:moveTo>
                <a:lnTo>
                  <a:pt x="0" y="6857999"/>
                </a:lnTo>
                <a:lnTo>
                  <a:pt x="0" y="4300186"/>
                </a:lnTo>
                <a:lnTo>
                  <a:pt x="4209404" y="0"/>
                </a:lnTo>
                <a:lnTo>
                  <a:pt x="9742308" y="0"/>
                </a:lnTo>
                <a:lnTo>
                  <a:pt x="3053131" y="6857999"/>
                </a:lnTo>
                <a:close/>
              </a:path>
            </a:pathLst>
          </a:custGeom>
          <a:gradFill rotWithShape="0">
            <a:gsLst>
              <a:gs pos="0">
                <a:srgbClr val="6EB7F1">
                  <a:alpha val="100000"/>
                </a:srgbClr>
              </a:gs>
              <a:gs pos="100000">
                <a:srgbClr val="6EB7F1">
                  <a:alpha val="0"/>
                </a:srgbClr>
              </a:gs>
            </a:gsLst>
            <a:lin ang="13500000"/>
          </a:gra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2" b="22"/>
          <a:stretch>
            <a:fillRect/>
          </a:stretch>
        </p:blipFill>
        <p:spPr>
          <a:xfrm>
            <a:off x="0" y="0"/>
            <a:ext cx="9740900" cy="6858000"/>
          </a:xfrm>
          <a:prstGeom prst="rect">
            <a:avLst/>
          </a:prstGeom>
          <a:noFill/>
          <a:ln w="25400" cap="flat" cmpd="sng">
            <a:noFill/>
            <a:prstDash val="solid"/>
            <a:round/>
          </a:ln>
        </p:spPr>
      </p:pic>
      <p:sp>
        <p:nvSpPr>
          <p:cNvPr id="5" name="Freeform 5"/>
          <p:cNvSpPr/>
          <p:nvPr/>
        </p:nvSpPr>
        <p:spPr>
          <a:xfrm>
            <a:off x="5207000" y="0"/>
            <a:ext cx="4539692" cy="3743852"/>
          </a:xfrm>
          <a:custGeom>
            <a:avLst/>
            <a:gdLst/>
            <a:ahLst/>
            <a:cxnLst/>
            <a:rect l="l" t="t" r="r" b="b"/>
            <a:pathLst>
              <a:path w="4539692" h="3743852">
                <a:moveTo>
                  <a:pt x="4539692" y="0"/>
                </a:moveTo>
                <a:lnTo>
                  <a:pt x="2760665" y="0"/>
                </a:lnTo>
                <a:lnTo>
                  <a:pt x="888740" y="1916828"/>
                </a:lnTo>
                <a:lnTo>
                  <a:pt x="888740" y="1916828"/>
                </a:lnTo>
                <a:lnTo>
                  <a:pt x="0" y="2830340"/>
                </a:lnTo>
                <a:lnTo>
                  <a:pt x="885642" y="3743852"/>
                </a:lnTo>
                <a:lnTo>
                  <a:pt x="4539692" y="0"/>
                </a:lnTo>
                <a:close/>
              </a:path>
            </a:pathLst>
          </a:custGeom>
          <a:gradFill rotWithShape="0">
            <a:gsLst>
              <a:gs pos="0">
                <a:srgbClr val="2693EA">
                  <a:alpha val="10000"/>
                </a:srgbClr>
              </a:gs>
              <a:gs pos="100000">
                <a:srgbClr val="0A3E67">
                  <a:alpha val="100000"/>
                </a:srgbClr>
              </a:gs>
            </a:gsLst>
            <a:lin ang="16200000"/>
          </a:gra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2451100" y="0"/>
            <a:ext cx="3641663" cy="2830340"/>
          </a:xfrm>
          <a:custGeom>
            <a:avLst/>
            <a:gdLst/>
            <a:ahLst/>
            <a:cxnLst/>
            <a:rect l="l" t="t" r="r" b="b"/>
            <a:pathLst>
              <a:path w="3641663" h="2830340">
                <a:moveTo>
                  <a:pt x="1779026" y="0"/>
                </a:moveTo>
                <a:lnTo>
                  <a:pt x="0" y="0"/>
                </a:lnTo>
                <a:lnTo>
                  <a:pt x="2752924" y="2830340"/>
                </a:lnTo>
                <a:lnTo>
                  <a:pt x="2752924" y="2830340"/>
                </a:lnTo>
                <a:lnTo>
                  <a:pt x="2749827" y="2830340"/>
                </a:lnTo>
                <a:lnTo>
                  <a:pt x="3641663" y="1916828"/>
                </a:lnTo>
                <a:lnTo>
                  <a:pt x="1779026" y="0"/>
                </a:lnTo>
                <a:close/>
              </a:path>
            </a:pathLst>
          </a:custGeom>
          <a:gradFill rotWithShape="0">
            <a:gsLst>
              <a:gs pos="0">
                <a:srgbClr val="2693EA">
                  <a:alpha val="0"/>
                </a:srgbClr>
              </a:gs>
              <a:gs pos="100000">
                <a:srgbClr val="0A3E67">
                  <a:alpha val="100000"/>
                </a:srgbClr>
              </a:gs>
            </a:gsLst>
            <a:lin ang="13500000"/>
          </a:gra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25400"/>
            <a:ext cx="9706244" cy="6832611"/>
          </a:xfrm>
          <a:custGeom>
            <a:avLst/>
            <a:gdLst/>
            <a:ahLst/>
            <a:cxnLst/>
            <a:rect l="l" t="t" r="r" b="b"/>
            <a:pathLst>
              <a:path w="9706244" h="6832611">
                <a:moveTo>
                  <a:pt x="3041829" y="6832611"/>
                </a:moveTo>
                <a:lnTo>
                  <a:pt x="0" y="6832611"/>
                </a:lnTo>
                <a:lnTo>
                  <a:pt x="0" y="4284266"/>
                </a:lnTo>
                <a:lnTo>
                  <a:pt x="4193821" y="0"/>
                </a:lnTo>
                <a:lnTo>
                  <a:pt x="9706244" y="0"/>
                </a:lnTo>
                <a:lnTo>
                  <a:pt x="3041829" y="683261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0" y="0"/>
            <a:ext cx="4206516" cy="4296961"/>
          </a:xfrm>
          <a:custGeom>
            <a:avLst/>
            <a:gdLst/>
            <a:ahLst/>
            <a:cxnLst/>
            <a:rect l="l" t="t" r="r" b="b"/>
            <a:pathLst>
              <a:path w="4206516" h="4296961">
                <a:moveTo>
                  <a:pt x="0" y="4296961"/>
                </a:moveTo>
                <a:lnTo>
                  <a:pt x="0" y="0"/>
                </a:lnTo>
                <a:lnTo>
                  <a:pt x="4206516" y="0"/>
                </a:lnTo>
                <a:lnTo>
                  <a:pt x="0" y="4296961"/>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6776700" y="1092200"/>
            <a:ext cx="4654550" cy="3838575"/>
          </a:xfrm>
          <a:custGeom>
            <a:avLst/>
            <a:gdLst/>
            <a:ahLst/>
            <a:cxnLst/>
            <a:rect l="l" t="t" r="r" b="b"/>
            <a:pathLst>
              <a:path w="4654550" h="3838575">
                <a:moveTo>
                  <a:pt x="4654550" y="0"/>
                </a:moveTo>
                <a:lnTo>
                  <a:pt x="2830512" y="0"/>
                </a:lnTo>
                <a:lnTo>
                  <a:pt x="911225" y="1965325"/>
                </a:lnTo>
                <a:lnTo>
                  <a:pt x="911225" y="1965325"/>
                </a:lnTo>
                <a:lnTo>
                  <a:pt x="0" y="2901950"/>
                </a:lnTo>
                <a:lnTo>
                  <a:pt x="908050" y="3838575"/>
                </a:lnTo>
                <a:lnTo>
                  <a:pt x="4654550" y="0"/>
                </a:lnTo>
              </a:path>
            </a:pathLst>
          </a:custGeom>
          <a:no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7594600" y="1219200"/>
            <a:ext cx="3975100" cy="2032000"/>
          </a:xfrm>
          <a:prstGeom prst="rect">
            <a:avLst/>
          </a:prstGeom>
          <a:noFill/>
          <a:ln w="12700" cap="flat" cmpd="sng">
            <a:noFill/>
            <a:prstDash val="solid"/>
            <a:round/>
          </a:ln>
        </p:spPr>
        <p:txBody>
          <a:bodyPr vert="horz" wrap="square" lIns="88900" tIns="50800" rIns="88900" bIns="50800" rtlCol="0" anchor="b" anchorCtr="0"/>
          <a:lstStyle/>
          <a:p>
            <a:pPr indent="0" algn="r">
              <a:lnSpc>
                <a:spcPct val="100000"/>
              </a:lnSpc>
              <a:defRPr/>
            </a:pPr>
            <a:r>
              <a:rPr lang="en-US" sz="6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谢谢观看</a:t>
            </a:r>
            <a:endParaRPr lang="en-US" sz="1100"/>
          </a:p>
        </p:txBody>
      </p:sp>
      <p:sp>
        <p:nvSpPr>
          <p:cNvPr id="11" name="AutoShape 11"/>
          <p:cNvSpPr/>
          <p:nvPr/>
        </p:nvSpPr>
        <p:spPr>
          <a:xfrm>
            <a:off x="6832600" y="3517900"/>
            <a:ext cx="4737100" cy="9779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spcBef>
                <a:spcPts val="1000"/>
              </a:spcBef>
              <a:defRPr/>
            </a:pPr>
            <a:r>
              <a:rPr lang="en-US" sz="2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汇报人：李韩、张欣悦</a:t>
            </a:r>
            <a:endParaRPr lang="en-US" sz="1100"/>
          </a:p>
        </p:txBody>
      </p:sp>
      <p:sp>
        <p:nvSpPr>
          <p:cNvPr id="12" name="AutoShape 12"/>
          <p:cNvSpPr/>
          <p:nvPr/>
        </p:nvSpPr>
        <p:spPr>
          <a:xfrm>
            <a:off x="6591300" y="4826000"/>
            <a:ext cx="4927600" cy="1016000"/>
          </a:xfrm>
          <a:prstGeom prst="rect">
            <a:avLst/>
          </a:prstGeom>
          <a:noFill/>
          <a:ln w="12700" cap="flat" cmpd="sng">
            <a:noFill/>
            <a:prstDash val="solid"/>
            <a:round/>
          </a:ln>
        </p:spPr>
        <p:txBody>
          <a:bodyPr vert="horz" wrap="none" lIns="88900" tIns="50800" rIns="88900" bIns="50800" rtlCol="0" anchor="t" anchorCtr="0"/>
          <a:lstStyle/>
          <a:p>
            <a:pPr indent="0" algn="r">
              <a:lnSpc>
                <a:spcPct val="100000"/>
              </a:lnSpc>
              <a:spcBef>
                <a:spcPts val="1000"/>
              </a:spcBef>
              <a:defRPr/>
            </a:pPr>
            <a:r>
              <a:rPr lang="en-US" sz="28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2026.5.19</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241,&quot;left&quot;:0,&quot;top&quot;:190,&quot;width&quot;:960}"/>
</p:tagLst>
</file>

<file path=ppt/tags/tag2.xml><?xml version="1.0" encoding="utf-8"?>
<p:tagLst xmlns:p="http://schemas.openxmlformats.org/presentationml/2006/main">
  <p:tag name="KSO_WM_DIAGRAM_VIRTUALLY_FRAME" val="{&quot;height&quot;:241,&quot;left&quot;:0,&quot;top&quot;:190,&quot;width&quot;:960}"/>
</p:tagLst>
</file>

<file path=ppt/tags/tag3.xml><?xml version="1.0" encoding="utf-8"?>
<p:tagLst xmlns:p="http://schemas.openxmlformats.org/presentationml/2006/main">
  <p:tag name="KSO_WM_DIAGRAM_VIRTUALLY_FRAME" val="{&quot;height&quot;:241,&quot;left&quot;:0,&quot;top&quot;:190,&quot;width&quot;:960}"/>
</p:tagLst>
</file>

<file path=ppt/tags/tag4.xml><?xml version="1.0" encoding="utf-8"?>
<p:tagLst xmlns:p="http://schemas.openxmlformats.org/presentationml/2006/main">
  <p:tag name="KSO_WM_DIAGRAM_VIRTUALLY_FRAME" val="{&quot;height&quot;:241,&quot;left&quot;:0,&quot;top&quot;:190,&quot;width&quot;:960}"/>
</p:tagLst>
</file>

<file path=ppt/tags/tag5.xml><?xml version="1.0" encoding="utf-8"?>
<p:tagLst xmlns:p="http://schemas.openxmlformats.org/presentationml/2006/main">
  <p:tag name="KSO_WM_DIAGRAM_VIRTUALLY_FRAME" val="{&quot;height&quot;:241,&quot;left&quot;:0,&quot;top&quot;:190,&quot;width&quot;:960}"/>
</p:tagLst>
</file>

<file path=ppt/tags/tag6.xml><?xml version="1.0" encoding="utf-8"?>
<p:tagLst xmlns:p="http://schemas.openxmlformats.org/presentationml/2006/main">
  <p:tag name="KSO_WM_DIAGRAM_VIRTUALLY_FRAME" val="{&quot;height&quot;:241,&quot;left&quot;:0,&quot;top&quot;:190,&quot;width&quot;:960}"/>
</p:tagLst>
</file>

<file path=ppt/tags/tag7.xml><?xml version="1.0" encoding="utf-8"?>
<p:tagLst xmlns:p="http://schemas.openxmlformats.org/presentationml/2006/main">
  <p:tag name="KSO_WM_DIAGRAM_VIRTUALLY_FRAME" val="{&quot;height&quot;:241,&quot;left&quot;:0,&quot;top&quot;:190,&quot;width&quot;:960}"/>
</p:tagLst>
</file>

<file path=ppt/tags/tag8.xml><?xml version="1.0" encoding="utf-8"?>
<p:tagLst xmlns:p="http://schemas.openxmlformats.org/presentationml/2006/main">
  <p:tag name="KSO_WM_DIAGRAM_VIRTUALLY_FRAME" val="{&quot;height&quot;:241,&quot;left&quot;:0,&quot;top&quot;:190,&quot;width&quot;:960}"/>
</p:tagLst>
</file>

<file path=ppt/tags/tag9.xml><?xml version="1.0" encoding="utf-8"?>
<p:tagLst xmlns:p="http://schemas.openxmlformats.org/presentationml/2006/main">
  <p:tag name="KSO_WM_DIAGRAM_VIRTUALLY_FRAME" val="{&quot;height&quot;:241,&quot;left&quot;:0,&quot;top&quot;:190,&quot;width&quot;:960}"/>
</p:tagLst>
</file>

<file path=ppt/tags/tag10.xml><?xml version="1.0" encoding="utf-8"?>
<p:tagLst xmlns:p="http://schemas.openxmlformats.org/presentationml/2006/main">
  <p:tag name="KSO_WM_DIAGRAM_VIRTUALLY_FRAME" val="{&quot;height&quot;:241,&quot;left&quot;:0,&quot;top&quot;:190,&quot;width&quot;:960}"/>
</p:tagLst>
</file>

<file path=ppt/tags/tag11.xml><?xml version="1.0" encoding="utf-8"?>
<p:tagLst xmlns:p="http://schemas.openxmlformats.org/presentationml/2006/main">
  <p:tag name="KSO_WM_DIAGRAM_VIRTUALLY_FRAME" val="{&quot;height&quot;:241,&quot;left&quot;:0,&quot;top&quot;:190,&quot;width&quot;:960}"/>
</p:tagLst>
</file>

<file path=ppt/tags/tag12.xml><?xml version="1.0" encoding="utf-8"?>
<p:tagLst xmlns:p="http://schemas.openxmlformats.org/presentationml/2006/main">
  <p:tag name="KSO_WM_DIAGRAM_VIRTUALLY_FRAME" val="{&quot;height&quot;:241,&quot;left&quot;:0,&quot;top&quot;:190,&quot;width&quot;:960}"/>
</p:tagLst>
</file>

<file path=ppt/tags/tag13.xml><?xml version="1.0" encoding="utf-8"?>
<p:tagLst xmlns:p="http://schemas.openxmlformats.org/presentationml/2006/main">
  <p:tag name="KSO_WM_DIAGRAM_VIRTUALLY_FRAME" val="{&quot;height&quot;:241,&quot;left&quot;:0,&quot;top&quot;:190,&quot;width&quot;:960}"/>
</p:tagLst>
</file>

<file path=ppt/tags/tag14.xml><?xml version="1.0" encoding="utf-8"?>
<p:tagLst xmlns:p="http://schemas.openxmlformats.org/presentationml/2006/main">
  <p:tag name="KSO_WM_DIAGRAM_VIRTUALLY_FRAME" val="{&quot;height&quot;:241,&quot;left&quot;:0,&quot;top&quot;:190,&quot;width&quot;:960}"/>
</p:tagLst>
</file>

<file path=ppt/tags/tag15.xml><?xml version="1.0" encoding="utf-8"?>
<p:tagLst xmlns:p="http://schemas.openxmlformats.org/presentationml/2006/main">
  <p:tag name="KSO_WM_DIAGRAM_VIRTUALLY_FRAME" val="{&quot;height&quot;:241,&quot;left&quot;:0,&quot;top&quot;:190,&quot;width&quot;:960}"/>
</p:tagLst>
</file>

<file path=ppt/tags/tag16.xml><?xml version="1.0" encoding="utf-8"?>
<p:tagLst xmlns:p="http://schemas.openxmlformats.org/presentationml/2006/main">
  <p:tag name="KSO_WM_DIAGRAM_VIRTUALLY_FRAME" val="{&quot;height&quot;:241,&quot;left&quot;:0,&quot;top&quot;:190,&quot;width&quot;:960}"/>
</p:tagLst>
</file>

<file path=ppt/tags/tag17.xml><?xml version="1.0" encoding="utf-8"?>
<p:tagLst xmlns:p="http://schemas.openxmlformats.org/presentationml/2006/main">
  <p:tag name="KSO_WM_DIAGRAM_VIRTUALLY_FRAME" val="{&quot;height&quot;:241,&quot;left&quot;:0,&quot;top&quot;:190,&quot;width&quot;:960}"/>
</p:tagLst>
</file>

<file path=ppt/tags/tag18.xml><?xml version="1.0" encoding="utf-8"?>
<p:tagLst xmlns:p="http://schemas.openxmlformats.org/presentationml/2006/main">
  <p:tag name="KSO_WM_DIAGRAM_VIRTUALLY_FRAME" val="{&quot;height&quot;:241,&quot;left&quot;:0,&quot;top&quot;:190,&quot;width&quot;:960}"/>
</p:tagLst>
</file>

<file path=ppt/tags/tag19.xml><?xml version="1.0" encoding="utf-8"?>
<p:tagLst xmlns:p="http://schemas.openxmlformats.org/presentationml/2006/main">
  <p:tag name="KSO_WM_DIAGRAM_VIRTUALLY_FRAME" val="{&quot;height&quot;:241,&quot;left&quot;:0,&quot;top&quot;:190,&quot;width&quot;:960}"/>
</p:tagLst>
</file>

<file path=ppt/tags/tag20.xml><?xml version="1.0" encoding="utf-8"?>
<p:tagLst xmlns:p="http://schemas.openxmlformats.org/presentationml/2006/main">
  <p:tag name="KSO_WM_DIAGRAM_VIRTUALLY_FRAME" val="{&quot;height&quot;:241,&quot;left&quot;:0,&quot;top&quot;:190,&quot;width&quot;:960}"/>
</p:tagLst>
</file>

<file path=ppt/tags/tag21.xml><?xml version="1.0" encoding="utf-8"?>
<p:tagLst xmlns:p="http://schemas.openxmlformats.org/presentationml/2006/main">
  <p:tag name="KSO_WM_DIAGRAM_VIRTUALLY_FRAME" val="{&quot;height&quot;:280,&quot;left&quot;:60,&quot;top&quot;:200,&quot;width&quot;:840}"/>
</p:tagLst>
</file>

<file path=ppt/tags/tag22.xml><?xml version="1.0" encoding="utf-8"?>
<p:tagLst xmlns:p="http://schemas.openxmlformats.org/presentationml/2006/main">
  <p:tag name="KSO_WM_DIAGRAM_VIRTUALLY_FRAME" val="{&quot;height&quot;:280,&quot;left&quot;:60,&quot;top&quot;:200,&quot;width&quot;:840}"/>
</p:tagLst>
</file>

<file path=ppt/tags/tag23.xml><?xml version="1.0" encoding="utf-8"?>
<p:tagLst xmlns:p="http://schemas.openxmlformats.org/presentationml/2006/main">
  <p:tag name="KSO_WM_DIAGRAM_VIRTUALLY_FRAME" val="{&quot;height&quot;:280,&quot;left&quot;:60,&quot;top&quot;:200,&quot;width&quot;:840}"/>
</p:tagLst>
</file>

<file path=ppt/tags/tag24.xml><?xml version="1.0" encoding="utf-8"?>
<p:tagLst xmlns:p="http://schemas.openxmlformats.org/presentationml/2006/main">
  <p:tag name="KSO_WM_DIAGRAM_VIRTUALLY_FRAME" val="{&quot;height&quot;:280,&quot;left&quot;:60,&quot;top&quot;:200,&quot;width&quot;:840}"/>
</p:tagLst>
</file>

<file path=ppt/tags/tag25.xml><?xml version="1.0" encoding="utf-8"?>
<p:tagLst xmlns:p="http://schemas.openxmlformats.org/presentationml/2006/main">
  <p:tag name="KSO_WM_DIAGRAM_VIRTUALLY_FRAME" val="{&quot;height&quot;:280,&quot;left&quot;:60,&quot;top&quot;:200,&quot;width&quot;:840}"/>
</p:tagLst>
</file>

<file path=ppt/tags/tag26.xml><?xml version="1.0" encoding="utf-8"?>
<p:tagLst xmlns:p="http://schemas.openxmlformats.org/presentationml/2006/main">
  <p:tag name="KSO_WM_DIAGRAM_VIRTUALLY_FRAME" val="{&quot;height&quot;:280,&quot;left&quot;:60,&quot;top&quot;:200,&quot;width&quot;:840}"/>
</p:tagLst>
</file>

<file path=ppt/tags/tag27.xml><?xml version="1.0" encoding="utf-8"?>
<p:tagLst xmlns:p="http://schemas.openxmlformats.org/presentationml/2006/main">
  <p:tag name="KSO_WM_DIAGRAM_VIRTUALLY_FRAME" val="{&quot;height&quot;:280,&quot;left&quot;:60,&quot;top&quot;:200,&quot;width&quot;:840}"/>
</p:tagLst>
</file>

<file path=ppt/tags/tag28.xml><?xml version="1.0" encoding="utf-8"?>
<p:tagLst xmlns:p="http://schemas.openxmlformats.org/presentationml/2006/main">
  <p:tag name="KSO_WM_DIAGRAM_VIRTUALLY_FRAME" val="{&quot;height&quot;:280,&quot;left&quot;:60,&quot;top&quot;:200,&quot;width&quot;:840}"/>
</p:tagLst>
</file>

<file path=ppt/tags/tag29.xml><?xml version="1.0" encoding="utf-8"?>
<p:tagLst xmlns:p="http://schemas.openxmlformats.org/presentationml/2006/main">
  <p:tag name="KSO_WM_DIAGRAM_VIRTUALLY_FRAME" val="{&quot;height&quot;:280,&quot;left&quot;:60,&quot;top&quot;:200,&quot;width&quot;:840}"/>
</p:tagLst>
</file>

<file path=ppt/tags/tag30.xml><?xml version="1.0" encoding="utf-8"?>
<p:tagLst xmlns:p="http://schemas.openxmlformats.org/presentationml/2006/main">
  <p:tag name="KSO_WM_DIAGRAM_VIRTUALLY_FRAME" val="{&quot;height&quot;:280,&quot;left&quot;:60,&quot;top&quot;:200,&quot;width&quot;:840}"/>
</p:tagLst>
</file>

<file path=ppt/tags/tag31.xml><?xml version="1.0" encoding="utf-8"?>
<p:tagLst xmlns:p="http://schemas.openxmlformats.org/presentationml/2006/main">
  <p:tag name="KSO_WM_DIAGRAM_VIRTUALLY_FRAME" val="{&quot;height&quot;:280,&quot;left&quot;:60,&quot;top&quot;:200,&quot;width&quot;:840}"/>
</p:tagLst>
</file>

<file path=ppt/tags/tag32.xml><?xml version="1.0" encoding="utf-8"?>
<p:tagLst xmlns:p="http://schemas.openxmlformats.org/presentationml/2006/main">
  <p:tag name="KSO_WM_DIAGRAM_VIRTUALLY_FRAME" val="{&quot;height&quot;:280,&quot;left&quot;:60,&quot;top&quot;:200,&quot;width&quot;:840}"/>
</p:tagLst>
</file>

<file path=ppt/tags/tag33.xml><?xml version="1.0" encoding="utf-8"?>
<p:tagLst xmlns:p="http://schemas.openxmlformats.org/presentationml/2006/main">
  <p:tag name="KSO_WM_DIAGRAM_VIRTUALLY_FRAME" val="{&quot;height&quot;:335,&quot;left&quot;:53,&quot;top&quot;:148,&quot;width&quot;:855}"/>
</p:tagLst>
</file>

<file path=ppt/tags/tag34.xml><?xml version="1.0" encoding="utf-8"?>
<p:tagLst xmlns:p="http://schemas.openxmlformats.org/presentationml/2006/main">
  <p:tag name="KSO_WM_DIAGRAM_VIRTUALLY_FRAME" val="{&quot;height&quot;:335,&quot;left&quot;:53,&quot;top&quot;:148,&quot;width&quot;:855}"/>
</p:tagLst>
</file>

<file path=ppt/tags/tag35.xml><?xml version="1.0" encoding="utf-8"?>
<p:tagLst xmlns:p="http://schemas.openxmlformats.org/presentationml/2006/main">
  <p:tag name="KSO_WM_DIAGRAM_VIRTUALLY_FRAME" val="{&quot;height&quot;:335,&quot;left&quot;:53,&quot;top&quot;:148,&quot;width&quot;:855}"/>
</p:tagLst>
</file>

<file path=ppt/tags/tag36.xml><?xml version="1.0" encoding="utf-8"?>
<p:tagLst xmlns:p="http://schemas.openxmlformats.org/presentationml/2006/main">
  <p:tag name="KSO_WM_DIAGRAM_VIRTUALLY_FRAME" val="{&quot;height&quot;:335,&quot;left&quot;:53,&quot;top&quot;:148,&quot;width&quot;:855}"/>
</p:tagLst>
</file>

<file path=ppt/tags/tag37.xml><?xml version="1.0" encoding="utf-8"?>
<p:tagLst xmlns:p="http://schemas.openxmlformats.org/presentationml/2006/main">
  <p:tag name="KSO_WM_DIAGRAM_VIRTUALLY_FRAME" val="{&quot;height&quot;:335,&quot;left&quot;:53,&quot;top&quot;:148,&quot;width&quot;:855}"/>
</p:tagLst>
</file>

<file path=ppt/tags/tag38.xml><?xml version="1.0" encoding="utf-8"?>
<p:tagLst xmlns:p="http://schemas.openxmlformats.org/presentationml/2006/main">
  <p:tag name="KSO_WM_DIAGRAM_VIRTUALLY_FRAME" val="{&quot;height&quot;:335,&quot;left&quot;:53,&quot;top&quot;:148,&quot;width&quot;:855}"/>
</p:tagLst>
</file>

<file path=ppt/tags/tag39.xml><?xml version="1.0" encoding="utf-8"?>
<p:tagLst xmlns:p="http://schemas.openxmlformats.org/presentationml/2006/main">
  <p:tag name="KSO_WM_DIAGRAM_VIRTUALLY_FRAME" val="{&quot;height&quot;:335,&quot;left&quot;:53,&quot;top&quot;:148,&quot;width&quot;:855}"/>
</p:tagLst>
</file>

<file path=ppt/tags/tag40.xml><?xml version="1.0" encoding="utf-8"?>
<p:tagLst xmlns:p="http://schemas.openxmlformats.org/presentationml/2006/main">
  <p:tag name="KSO_WM_DIAGRAM_VIRTUALLY_FRAME" val="{&quot;height&quot;:335,&quot;left&quot;:53,&quot;top&quot;:148,&quot;width&quot;:855}"/>
</p:tagLst>
</file>

<file path=ppt/tags/tag41.xml><?xml version="1.0" encoding="utf-8"?>
<p:tagLst xmlns:p="http://schemas.openxmlformats.org/presentationml/2006/main">
  <p:tag name="KSO_WM_DIAGRAM_VIRTUALLY_FRAME" val="{&quot;height&quot;:335,&quot;left&quot;:53,&quot;top&quot;:148,&quot;width&quot;:855}"/>
</p:tagLst>
</file>

<file path=ppt/tags/tag42.xml><?xml version="1.0" encoding="utf-8"?>
<p:tagLst xmlns:p="http://schemas.openxmlformats.org/presentationml/2006/main">
  <p:tag name="KSO_WM_DIAGRAM_VIRTUALLY_FRAME" val="{&quot;height&quot;:335,&quot;left&quot;:53,&quot;top&quot;:148,&quot;width&quot;:855}"/>
</p:tagLst>
</file>

<file path=ppt/tags/tag43.xml><?xml version="1.0" encoding="utf-8"?>
<p:tagLst xmlns:p="http://schemas.openxmlformats.org/presentationml/2006/main">
  <p:tag name="KSO_WM_DIAGRAM_VIRTUALLY_FRAME" val="{&quot;height&quot;:335,&quot;left&quot;:53,&quot;top&quot;:148,&quot;width&quot;:855}"/>
</p:tagLst>
</file>

<file path=ppt/tags/tag44.xml><?xml version="1.0" encoding="utf-8"?>
<p:tagLst xmlns:p="http://schemas.openxmlformats.org/presentationml/2006/main">
  <p:tag name="KSO_WM_DIAGRAM_VIRTUALLY_FRAME" val="{&quot;height&quot;:335,&quot;left&quot;:53,&quot;top&quot;:148,&quot;width&quot;:855}"/>
</p:tagLst>
</file>

<file path=ppt/tags/tag45.xml><?xml version="1.0" encoding="utf-8"?>
<p:tagLst xmlns:p="http://schemas.openxmlformats.org/presentationml/2006/main">
  <p:tag name="KSO_WM_DIAGRAM_VIRTUALLY_FRAME" val="{&quot;height&quot;:296,&quot;left&quot;:97,&quot;top&quot;:180,&quot;width&quot;:765.0006299212598}"/>
</p:tagLst>
</file>

<file path=ppt/tags/tag46.xml><?xml version="1.0" encoding="utf-8"?>
<p:tagLst xmlns:p="http://schemas.openxmlformats.org/presentationml/2006/main">
  <p:tag name="KSO_WM_DIAGRAM_VIRTUALLY_FRAME" val="{&quot;height&quot;:296,&quot;left&quot;:97,&quot;top&quot;:180,&quot;width&quot;:765.0006299212598}"/>
</p:tagLst>
</file>

<file path=ppt/tags/tag47.xml><?xml version="1.0" encoding="utf-8"?>
<p:tagLst xmlns:p="http://schemas.openxmlformats.org/presentationml/2006/main">
  <p:tag name="KSO_WM_DIAGRAM_VIRTUALLY_FRAME" val="{&quot;height&quot;:296,&quot;left&quot;:97,&quot;top&quot;:180,&quot;width&quot;:765.0006299212598}"/>
</p:tagLst>
</file>

<file path=ppt/tags/tag48.xml><?xml version="1.0" encoding="utf-8"?>
<p:tagLst xmlns:p="http://schemas.openxmlformats.org/presentationml/2006/main">
  <p:tag name="KSO_WM_DIAGRAM_VIRTUALLY_FRAME" val="{&quot;height&quot;:296,&quot;left&quot;:97,&quot;top&quot;:180,&quot;width&quot;:765.0006299212598}"/>
</p:tagLst>
</file>

<file path=ppt/tags/tag49.xml><?xml version="1.0" encoding="utf-8"?>
<p:tagLst xmlns:p="http://schemas.openxmlformats.org/presentationml/2006/main">
  <p:tag name="KSO_WM_DIAGRAM_VIRTUALLY_FRAME" val="{&quot;height&quot;:296,&quot;left&quot;:97,&quot;top&quot;:180,&quot;width&quot;:765.0006299212598}"/>
</p:tagLst>
</file>

<file path=ppt/tags/tag50.xml><?xml version="1.0" encoding="utf-8"?>
<p:tagLst xmlns:p="http://schemas.openxmlformats.org/presentationml/2006/main">
  <p:tag name="KSO_WM_DIAGRAM_VIRTUALLY_FRAME" val="{&quot;height&quot;:296,&quot;left&quot;:97,&quot;top&quot;:180,&quot;width&quot;:765.0006299212598}"/>
</p:tagLst>
</file>

<file path=ppt/tags/tag51.xml><?xml version="1.0" encoding="utf-8"?>
<p:tagLst xmlns:p="http://schemas.openxmlformats.org/presentationml/2006/main">
  <p:tag name="KSO_WM_DIAGRAM_VIRTUALLY_FRAME" val="{&quot;height&quot;:296,&quot;left&quot;:97,&quot;top&quot;:180,&quot;width&quot;:765.0006299212598}"/>
</p:tagLst>
</file>

<file path=ppt/tags/tag52.xml><?xml version="1.0" encoding="utf-8"?>
<p:tagLst xmlns:p="http://schemas.openxmlformats.org/presentationml/2006/main">
  <p:tag name="KSO_WM_DIAGRAM_VIRTUALLY_FRAME" val="{&quot;height&quot;:296,&quot;left&quot;:97,&quot;top&quot;:180,&quot;width&quot;:765.0006299212598}"/>
</p:tagLst>
</file>

<file path=ppt/tags/tag53.xml><?xml version="1.0" encoding="utf-8"?>
<p:tagLst xmlns:p="http://schemas.openxmlformats.org/presentationml/2006/main">
  <p:tag name="KSO_WM_DIAGRAM_VIRTUALLY_FRAME" val="{&quot;height&quot;:296,&quot;left&quot;:97,&quot;top&quot;:180,&quot;width&quot;:765.0006299212598}"/>
</p:tagLst>
</file>

<file path=ppt/tags/tag54.xml><?xml version="1.0" encoding="utf-8"?>
<p:tagLst xmlns:p="http://schemas.openxmlformats.org/presentationml/2006/main">
  <p:tag name="KSO_WM_DIAGRAM_VIRTUALLY_FRAME" val="{&quot;height&quot;:296,&quot;left&quot;:97,&quot;top&quot;:180,&quot;width&quot;:765.0006299212598}"/>
</p:tagLst>
</file>

<file path=ppt/tags/tag55.xml><?xml version="1.0" encoding="utf-8"?>
<p:tagLst xmlns:p="http://schemas.openxmlformats.org/presentationml/2006/main">
  <p:tag name="KSO_WM_DIAGRAM_VIRTUALLY_FRAME" val="{&quot;height&quot;:296,&quot;left&quot;:97,&quot;top&quot;:180,&quot;width&quot;:765.0006299212598}"/>
</p:tagLst>
</file>

<file path=ppt/tags/tag56.xml><?xml version="1.0" encoding="utf-8"?>
<p:tagLst xmlns:p="http://schemas.openxmlformats.org/presentationml/2006/main">
  <p:tag name="KSO_WM_DIAGRAM_VIRTUALLY_FRAME" val="{&quot;height&quot;:296,&quot;left&quot;:97,&quot;top&quot;:180,&quot;width&quot;:765.0006299212598}"/>
</p:tagLst>
</file>

<file path=ppt/tags/tag57.xml><?xml version="1.0" encoding="utf-8"?>
<p:tagLst xmlns:p="http://schemas.openxmlformats.org/presentationml/2006/main">
  <p:tag name="KSO_WM_DIAGRAM_VIRTUALLY_FRAME" val="{&quot;height&quot;:296,&quot;left&quot;:97,&quot;top&quot;:180,&quot;width&quot;:765.0006299212598}"/>
</p:tagLst>
</file>

<file path=ppt/tags/tag58.xml><?xml version="1.0" encoding="utf-8"?>
<p:tagLst xmlns:p="http://schemas.openxmlformats.org/presentationml/2006/main">
  <p:tag name="KSO_WM_DIAGRAM_VIRTUALLY_FRAME" val="{&quot;height&quot;:296,&quot;left&quot;:97,&quot;top&quot;:180,&quot;width&quot;:765.0006299212598}"/>
</p:tagLst>
</file>

<file path=ppt/tags/tag59.xml><?xml version="1.0" encoding="utf-8"?>
<p:tagLst xmlns:p="http://schemas.openxmlformats.org/presentationml/2006/main">
  <p:tag name="KSO_WM_DIAGRAM_VIRTUALLY_FRAME" val="{&quot;height&quot;:296,&quot;left&quot;:97,&quot;top&quot;:180,&quot;width&quot;:765.0006299212598}"/>
</p:tagLst>
</file>

<file path=ppt/tags/tag60.xml><?xml version="1.0" encoding="utf-8"?>
<p:tagLst xmlns:p="http://schemas.openxmlformats.org/presentationml/2006/main">
  <p:tag name="KSO_WM_DIAGRAM_VIRTUALLY_FRAME" val="{&quot;height&quot;:413.55,&quot;left&quot;:52,&quot;top&quot;:120.65,&quot;width&quot;:855}"/>
</p:tagLst>
</file>

<file path=ppt/tags/tag61.xml><?xml version="1.0" encoding="utf-8"?>
<p:tagLst xmlns:p="http://schemas.openxmlformats.org/presentationml/2006/main">
  <p:tag name="KSO_WM_DIAGRAM_VIRTUALLY_FRAME" val="{&quot;height&quot;:413.55,&quot;left&quot;:52,&quot;top&quot;:120.65,&quot;width&quot;:855}"/>
</p:tagLst>
</file>

<file path=ppt/tags/tag62.xml><?xml version="1.0" encoding="utf-8"?>
<p:tagLst xmlns:p="http://schemas.openxmlformats.org/presentationml/2006/main">
  <p:tag name="KSO_WM_DIAGRAM_VIRTUALLY_FRAME" val="{&quot;height&quot;:413.55,&quot;left&quot;:52,&quot;top&quot;:120.65,&quot;width&quot;:855}"/>
</p:tagLst>
</file>

<file path=ppt/tags/tag63.xml><?xml version="1.0" encoding="utf-8"?>
<p:tagLst xmlns:p="http://schemas.openxmlformats.org/presentationml/2006/main">
  <p:tag name="KSO_WM_DIAGRAM_VIRTUALLY_FRAME" val="{&quot;height&quot;:413.55,&quot;left&quot;:52,&quot;top&quot;:120.65,&quot;width&quot;:855}"/>
</p:tagLst>
</file>

<file path=ppt/tags/tag64.xml><?xml version="1.0" encoding="utf-8"?>
<p:tagLst xmlns:p="http://schemas.openxmlformats.org/presentationml/2006/main">
  <p:tag name="KSO_WM_DIAGRAM_VIRTUALLY_FRAME" val="{&quot;height&quot;:413.55,&quot;left&quot;:52,&quot;top&quot;:120.65,&quot;width&quot;:855}"/>
</p:tagLst>
</file>

<file path=ppt/tags/tag65.xml><?xml version="1.0" encoding="utf-8"?>
<p:tagLst xmlns:p="http://schemas.openxmlformats.org/presentationml/2006/main">
  <p:tag name="KSO_WM_DIAGRAM_VIRTUALLY_FRAME" val="{&quot;height&quot;:413.55,&quot;left&quot;:52,&quot;top&quot;:120.65,&quot;width&quot;:855}"/>
</p:tagLst>
</file>

<file path=ppt/tags/tag66.xml><?xml version="1.0" encoding="utf-8"?>
<p:tagLst xmlns:p="http://schemas.openxmlformats.org/presentationml/2006/main">
  <p:tag name="KSO_WM_DIAGRAM_VIRTUALLY_FRAME" val="{&quot;height&quot;:413.55,&quot;left&quot;:52,&quot;top&quot;:120.65,&quot;width&quot;:855}"/>
</p:tagLst>
</file>

<file path=ppt/tags/tag67.xml><?xml version="1.0" encoding="utf-8"?>
<p:tagLst xmlns:p="http://schemas.openxmlformats.org/presentationml/2006/main">
  <p:tag name="KSO_WM_DIAGRAM_VIRTUALLY_FRAME" val="{&quot;height&quot;:413.55,&quot;left&quot;:52,&quot;top&quot;:120.65,&quot;width&quot;:855}"/>
</p:tagLst>
</file>

<file path=ppt/tags/tag68.xml><?xml version="1.0" encoding="utf-8"?>
<p:tagLst xmlns:p="http://schemas.openxmlformats.org/presentationml/2006/main">
  <p:tag name="KSO_WM_DIAGRAM_VIRTUALLY_FRAME" val="{&quot;height&quot;:413.55,&quot;left&quot;:52,&quot;top&quot;:120.65,&quot;width&quot;:855}"/>
</p:tagLst>
</file>

<file path=ppt/tags/tag69.xml><?xml version="1.0" encoding="utf-8"?>
<p:tagLst xmlns:p="http://schemas.openxmlformats.org/presentationml/2006/main">
  <p:tag name="KSO_WM_DIAGRAM_VIRTUALLY_FRAME" val="{&quot;height&quot;:413.55,&quot;left&quot;:52,&quot;top&quot;:120.65,&quot;width&quot;:855}"/>
</p:tagLst>
</file>

<file path=ppt/tags/tag70.xml><?xml version="1.0" encoding="utf-8"?>
<p:tagLst xmlns:p="http://schemas.openxmlformats.org/presentationml/2006/main">
  <p:tag name="KSO_WM_DIAGRAM_VIRTUALLY_FRAME" val="{&quot;height&quot;:413.55,&quot;left&quot;:52,&quot;top&quot;:120.65,&quot;width&quot;:855}"/>
</p:tagLst>
</file>

<file path=ppt/tags/tag71.xml><?xml version="1.0" encoding="utf-8"?>
<p:tagLst xmlns:p="http://schemas.openxmlformats.org/presentationml/2006/main">
  <p:tag name="KSO_WM_DIAGRAM_VIRTUALLY_FRAME" val="{&quot;height&quot;:238,&quot;left&quot;:52,&quot;top&quot;:245,&quot;width&quot;:855}"/>
</p:tagLst>
</file>

<file path=ppt/tags/tag72.xml><?xml version="1.0" encoding="utf-8"?>
<p:tagLst xmlns:p="http://schemas.openxmlformats.org/presentationml/2006/main">
  <p:tag name="KSO_WM_DIAGRAM_VIRTUALLY_FRAME" val="{&quot;height&quot;:238,&quot;left&quot;:52,&quot;top&quot;:245,&quot;width&quot;:855}"/>
</p:tagLst>
</file>

<file path=ppt/tags/tag73.xml><?xml version="1.0" encoding="utf-8"?>
<p:tagLst xmlns:p="http://schemas.openxmlformats.org/presentationml/2006/main">
  <p:tag name="KSO_WM_DIAGRAM_VIRTUALLY_FRAME" val="{&quot;height&quot;:238,&quot;left&quot;:52,&quot;top&quot;:245,&quot;width&quot;:855}"/>
</p:tagLst>
</file>

<file path=ppt/tags/tag74.xml><?xml version="1.0" encoding="utf-8"?>
<p:tagLst xmlns:p="http://schemas.openxmlformats.org/presentationml/2006/main">
  <p:tag name="KSO_WM_DIAGRAM_VIRTUALLY_FRAME" val="{&quot;height&quot;:238,&quot;left&quot;:52,&quot;top&quot;:245,&quot;width&quot;:855}"/>
</p:tagLst>
</file>

<file path=ppt/tags/tag75.xml><?xml version="1.0" encoding="utf-8"?>
<p:tagLst xmlns:p="http://schemas.openxmlformats.org/presentationml/2006/main">
  <p:tag name="KSO_WM_DIAGRAM_VIRTUALLY_FRAME" val="{&quot;height&quot;:238,&quot;left&quot;:52,&quot;top&quot;:245,&quot;width&quot;:855}"/>
</p:tagLst>
</file>

<file path=ppt/tags/tag76.xml><?xml version="1.0" encoding="utf-8"?>
<p:tagLst xmlns:p="http://schemas.openxmlformats.org/presentationml/2006/main">
  <p:tag name="KSO_WM_DIAGRAM_VIRTUALLY_FRAME" val="{&quot;height&quot;:238,&quot;left&quot;:52,&quot;top&quot;:245,&quot;width&quot;:855}"/>
</p:tagLst>
</file>

<file path=ppt/tags/tag77.xml><?xml version="1.0" encoding="utf-8"?>
<p:tagLst xmlns:p="http://schemas.openxmlformats.org/presentationml/2006/main">
  <p:tag name="KSO_WM_DIAGRAM_VIRTUALLY_FRAME" val="{&quot;height&quot;:238,&quot;left&quot;:52,&quot;top&quot;:245,&quot;width&quot;:855}"/>
</p:tagLst>
</file>

<file path=ppt/tags/tag78.xml><?xml version="1.0" encoding="utf-8"?>
<p:tagLst xmlns:p="http://schemas.openxmlformats.org/presentationml/2006/main">
  <p:tag name="KSO_WM_DIAGRAM_VIRTUALLY_FRAME" val="{&quot;height&quot;:238,&quot;left&quot;:52,&quot;top&quot;:245,&quot;width&quot;:855}"/>
</p:tagLst>
</file>

<file path=ppt/tags/tag79.xml><?xml version="1.0" encoding="utf-8"?>
<p:tagLst xmlns:p="http://schemas.openxmlformats.org/presentationml/2006/main">
  <p:tag name="KSO_WM_DIAGRAM_VIRTUALLY_FRAME" val="{&quot;height&quot;:238,&quot;left&quot;:52,&quot;top&quot;:245,&quot;width&quot;:855}"/>
</p:tagLst>
</file>

<file path=ppt/tags/tag80.xml><?xml version="1.0" encoding="utf-8"?>
<p:tagLst xmlns:p="http://schemas.openxmlformats.org/presentationml/2006/main">
  <p:tag name="KSO_WM_DIAGRAM_VIRTUALLY_FRAME" val="{&quot;height&quot;:238,&quot;left&quot;:52,&quot;top&quot;:245,&quot;width&quot;:855}"/>
</p:tagLst>
</file>

<file path=ppt/tags/tag81.xml><?xml version="1.0" encoding="utf-8"?>
<p:tagLst xmlns:p="http://schemas.openxmlformats.org/presentationml/2006/main">
  <p:tag name="KSO_WM_DIAGRAM_VIRTUALLY_FRAME" val="{&quot;height&quot;:238,&quot;left&quot;:52,&quot;top&quot;:245,&quot;width&quot;:855}"/>
</p:tagLst>
</file>

<file path=ppt/tags/tag82.xml><?xml version="1.0" encoding="utf-8"?>
<p:tagLst xmlns:p="http://schemas.openxmlformats.org/presentationml/2006/main">
  <p:tag name="KSO_WM_DIAGRAM_VIRTUALLY_FRAME" val="{&quot;height&quot;:238,&quot;left&quot;:52,&quot;top&quot;:245,&quot;width&quot;:855}"/>
</p:tagLst>
</file>

<file path=ppt/tags/tag83.xml><?xml version="1.0" encoding="utf-8"?>
<p:tagLst xmlns:p="http://schemas.openxmlformats.org/presentationml/2006/main">
  <p:tag name="KSO_WM_DIAGRAM_VIRTUALLY_FRAME" val="{&quot;height&quot;:238,&quot;left&quot;:52,&quot;top&quot;:245,&quot;width&quot;:855}"/>
</p:tagLst>
</file>

<file path=ppt/tags/tag84.xml><?xml version="1.0" encoding="utf-8"?>
<p:tagLst xmlns:p="http://schemas.openxmlformats.org/presentationml/2006/main">
  <p:tag name="KSO_WM_DIAGRAM_VIRTUALLY_FRAME" val="{&quot;height&quot;:238,&quot;left&quot;:52,&quot;top&quot;:245,&quot;width&quot;:855}"/>
</p:tagLst>
</file>

<file path=ppt/tags/tag85.xml><?xml version="1.0" encoding="utf-8"?>
<p:tagLst xmlns:p="http://schemas.openxmlformats.org/presentationml/2006/main">
  <p:tag name="KSO_WM_DIAGRAM_VIRTUALLY_FRAME" val="{&quot;height&quot;:238,&quot;left&quot;:52,&quot;top&quot;:245,&quot;width&quot;:855}"/>
</p:tagLst>
</file>

<file path=ppt/tags/tag86.xml><?xml version="1.0" encoding="utf-8"?>
<p:tagLst xmlns:p="http://schemas.openxmlformats.org/presentationml/2006/main">
  <p:tag name="KSO_WM_DIAGRAM_VIRTUALLY_FRAME" val="{&quot;height&quot;:501.35,&quot;left&quot;:52,&quot;top&quot;:71.3,&quot;width&quot;:1027.9}"/>
</p:tagLst>
</file>

<file path=ppt/tags/tag87.xml><?xml version="1.0" encoding="utf-8"?>
<p:tagLst xmlns:p="http://schemas.openxmlformats.org/presentationml/2006/main">
  <p:tag name="KSO_WM_DIAGRAM_VIRTUALLY_FRAME" val="{&quot;height&quot;:501.35,&quot;left&quot;:52,&quot;top&quot;:71.3,&quot;width&quot;:1027.9}"/>
</p:tagLst>
</file>

<file path=ppt/tags/tag88.xml><?xml version="1.0" encoding="utf-8"?>
<p:tagLst xmlns:p="http://schemas.openxmlformats.org/presentationml/2006/main">
  <p:tag name="KSO_WM_DIAGRAM_VIRTUALLY_FRAME" val="{&quot;height&quot;:501.35,&quot;left&quot;:52,&quot;top&quot;:71.3,&quot;width&quot;:1027.9}"/>
</p:tagLst>
</file>

<file path=ppt/tags/tag89.xml><?xml version="1.0" encoding="utf-8"?>
<p:tagLst xmlns:p="http://schemas.openxmlformats.org/presentationml/2006/main">
  <p:tag name="KSO_WM_DIAGRAM_VIRTUALLY_FRAME" val="{&quot;height&quot;:501.35,&quot;left&quot;:52,&quot;top&quot;:71.3,&quot;width&quot;:1027.9}"/>
</p:tagLst>
</file>

<file path=ppt/tags/tag90.xml><?xml version="1.0" encoding="utf-8"?>
<p:tagLst xmlns:p="http://schemas.openxmlformats.org/presentationml/2006/main">
  <p:tag name="KSO_WM_DIAGRAM_VIRTUALLY_FRAME" val="{&quot;height&quot;:501.35,&quot;left&quot;:52,&quot;top&quot;:71.3,&quot;width&quot;:1027.9}"/>
</p:tagLst>
</file>

<file path=ppt/tags/tag91.xml><?xml version="1.0" encoding="utf-8"?>
<p:tagLst xmlns:p="http://schemas.openxmlformats.org/presentationml/2006/main">
  <p:tag name="KSO_WM_DIAGRAM_VIRTUALLY_FRAME" val="{&quot;height&quot;:501.35,&quot;left&quot;:52,&quot;top&quot;:71.3,&quot;width&quot;:1027.9}"/>
</p:tagLst>
</file>

<file path=ppt/tags/tag92.xml><?xml version="1.0" encoding="utf-8"?>
<p:tagLst xmlns:p="http://schemas.openxmlformats.org/presentationml/2006/main">
  <p:tag name="KSO_WM_DIAGRAM_VIRTUALLY_FRAME" val="{&quot;height&quot;:501.35,&quot;left&quot;:52,&quot;top&quot;:71.3,&quot;width&quot;:1027.9}"/>
</p:tagLst>
</file>

<file path=ppt/tags/tag93.xml><?xml version="1.0" encoding="utf-8"?>
<p:tagLst xmlns:p="http://schemas.openxmlformats.org/presentationml/2006/main">
  <p:tag name="KSO_WM_DIAGRAM_VIRTUALLY_FRAME" val="{&quot;height&quot;:501.35,&quot;left&quot;:52,&quot;top&quot;:71.3,&quot;width&quot;:1027.9}"/>
</p:tagLst>
</file>

<file path=ppt/tags/tag94.xml><?xml version="1.0" encoding="utf-8"?>
<p:tagLst xmlns:p="http://schemas.openxmlformats.org/presentationml/2006/main">
  <p:tag name="KSO_WM_DIAGRAM_VIRTUALLY_FRAME" val="{&quot;height&quot;:501.35,&quot;left&quot;:52,&quot;top&quot;:71.3,&quot;width&quot;:1027.9}"/>
</p:tagLst>
</file>

<file path=ppt/tags/tag95.xml><?xml version="1.0" encoding="utf-8"?>
<p:tagLst xmlns:p="http://schemas.openxmlformats.org/presentationml/2006/main">
  <p:tag name="KSO_WM_DIAGRAM_VIRTUALLY_FRAME" val="{&quot;height&quot;:501.35,&quot;left&quot;:52,&quot;top&quot;:71.3,&quot;width&quot;:1027.9}"/>
</p:tagLst>
</file>

<file path=ppt/tags/tag96.xml><?xml version="1.0" encoding="utf-8"?>
<p:tagLst xmlns:p="http://schemas.openxmlformats.org/presentationml/2006/main">
  <p:tag name="KSO_WM_DIAGRAM_VIRTUALLY_FRAME" val="{&quot;height&quot;:501.35,&quot;left&quot;:52,&quot;top&quot;:71.3,&quot;width&quot;:1027.9}"/>
</p:tagLst>
</file>

<file path=ppt/tags/tag97.xml><?xml version="1.0" encoding="utf-8"?>
<p:tagLst xmlns:p="http://schemas.openxmlformats.org/presentationml/2006/main">
  <p:tag name="KSO_WM_DIAGRAM_VIRTUALLY_FRAME" val="{&quot;height&quot;:501.35,&quot;left&quot;:52,&quot;top&quot;:71.3,&quot;width&quot;:1027.9}"/>
</p:tagLst>
</file>

<file path=ppt/tags/tag98.xml><?xml version="1.0" encoding="utf-8"?>
<p:tagLst xmlns:p="http://schemas.openxmlformats.org/presentationml/2006/main">
  <p:tag name="KSO_WM_DIAGRAM_VIRTUALLY_FRAME" val="{&quot;height&quot;:501.35,&quot;left&quot;:52,&quot;top&quot;:71.3,&quot;width&quot;:1027.9}"/>
</p:tagLst>
</file>

<file path=ppt/tags/tag99.xml><?xml version="1.0" encoding="utf-8"?>
<p:tagLst xmlns:p="http://schemas.openxmlformats.org/presentationml/2006/main">
  <p:tag name="KSO_WM_DIAGRAM_VIRTUALLY_FRAME" val="{&quot;height&quot;:394.078031496063,&quot;left&quot;:51.999921259842516,&quot;top&quot;:89,&quot;width&quot;:855.0000787401575}"/>
</p:tagLst>
</file>

<file path=ppt/tags/tag100.xml><?xml version="1.0" encoding="utf-8"?>
<p:tagLst xmlns:p="http://schemas.openxmlformats.org/presentationml/2006/main">
  <p:tag name="KSO_WM_DIAGRAM_VIRTUALLY_FRAME" val="{&quot;height&quot;:394.078031496063,&quot;left&quot;:51.999921259842516,&quot;top&quot;:89,&quot;width&quot;:855.0000787401575}"/>
</p:tagLst>
</file>

<file path=ppt/tags/tag101.xml><?xml version="1.0" encoding="utf-8"?>
<p:tagLst xmlns:p="http://schemas.openxmlformats.org/presentationml/2006/main">
  <p:tag name="KSO_WM_DIAGRAM_VIRTUALLY_FRAME" val="{&quot;height&quot;:394.078031496063,&quot;left&quot;:51.999921259842516,&quot;top&quot;:89,&quot;width&quot;:855.0000787401575}"/>
</p:tagLst>
</file>

<file path=ppt/tags/tag102.xml><?xml version="1.0" encoding="utf-8"?>
<p:tagLst xmlns:p="http://schemas.openxmlformats.org/presentationml/2006/main">
  <p:tag name="KSO_WM_DIAGRAM_VIRTUALLY_FRAME" val="{&quot;height&quot;:394.078031496063,&quot;left&quot;:51.999921259842516,&quot;top&quot;:89,&quot;width&quot;:855.0000787401575}"/>
</p:tagLst>
</file>

<file path=ppt/tags/tag103.xml><?xml version="1.0" encoding="utf-8"?>
<p:tagLst xmlns:p="http://schemas.openxmlformats.org/presentationml/2006/main">
  <p:tag name="KSO_WM_DIAGRAM_VIRTUALLY_FRAME" val="{&quot;height&quot;:394.078031496063,&quot;left&quot;:51.999921259842516,&quot;top&quot;:89,&quot;width&quot;:855.0000787401575}"/>
</p:tagLst>
</file>

<file path=ppt/tags/tag104.xml><?xml version="1.0" encoding="utf-8"?>
<p:tagLst xmlns:p="http://schemas.openxmlformats.org/presentationml/2006/main">
  <p:tag name="KSO_WM_DIAGRAM_VIRTUALLY_FRAME" val="{&quot;height&quot;:394.078031496063,&quot;left&quot;:51.999921259842516,&quot;top&quot;:89,&quot;width&quot;:855.0000787401575}"/>
</p:tagLst>
</file>

<file path=ppt/tags/tag105.xml><?xml version="1.0" encoding="utf-8"?>
<p:tagLst xmlns:p="http://schemas.openxmlformats.org/presentationml/2006/main">
  <p:tag name="KSO_WM_DIAGRAM_VIRTUALLY_FRAME" val="{&quot;height&quot;:394.078031496063,&quot;left&quot;:51.999921259842516,&quot;top&quot;:89,&quot;width&quot;:855.0000787401575}"/>
</p:tagLst>
</file>

<file path=ppt/tags/tag106.xml><?xml version="1.0" encoding="utf-8"?>
<p:tagLst xmlns:p="http://schemas.openxmlformats.org/presentationml/2006/main">
  <p:tag name="KSO_WM_DIAGRAM_VIRTUALLY_FRAME" val="{&quot;height&quot;:394.078031496063,&quot;left&quot;:51.999921259842516,&quot;top&quot;:89,&quot;width&quot;:855.0000787401575}"/>
</p:tagLst>
</file>

<file path=ppt/tags/tag107.xml><?xml version="1.0" encoding="utf-8"?>
<p:tagLst xmlns:p="http://schemas.openxmlformats.org/presentationml/2006/main">
  <p:tag name="KSO_WM_DIAGRAM_VIRTUALLY_FRAME" val="{&quot;height&quot;:394.078031496063,&quot;left&quot;:51.999921259842516,&quot;top&quot;:89,&quot;width&quot;:855.0000787401575}"/>
</p:tagLst>
</file>

<file path=ppt/tags/tag108.xml><?xml version="1.0" encoding="utf-8"?>
<p:tagLst xmlns:p="http://schemas.openxmlformats.org/presentationml/2006/main">
  <p:tag name="KSO_WM_DIAGRAM_VIRTUALLY_FRAME" val="{&quot;height&quot;:394.078031496063,&quot;left&quot;:51.999921259842516,&quot;top&quot;:89,&quot;width&quot;:855.0000787401575}"/>
</p:tagLst>
</file>

<file path=ppt/tags/tag109.xml><?xml version="1.0" encoding="utf-8"?>
<p:tagLst xmlns:p="http://schemas.openxmlformats.org/presentationml/2006/main">
  <p:tag name="KSO_WM_DIAGRAM_VIRTUALLY_FRAME" val="{&quot;height&quot;:394.078031496063,&quot;left&quot;:51.999921259842516,&quot;top&quot;:89,&quot;width&quot;:855.0000787401575}"/>
</p:tagLst>
</file>

<file path=ppt/tags/tag110.xml><?xml version="1.0" encoding="utf-8"?>
<p:tagLst xmlns:p="http://schemas.openxmlformats.org/presentationml/2006/main">
  <p:tag name="KSO_WM_DIAGRAM_VIRTUALLY_FRAME" val="{&quot;height&quot;:394.078031496063,&quot;left&quot;:51.999921259842516,&quot;top&quot;:89,&quot;width&quot;:855.0000787401575}"/>
</p:tagLst>
</file>

<file path=ppt/tags/tag111.xml><?xml version="1.0" encoding="utf-8"?>
<p:tagLst xmlns:p="http://schemas.openxmlformats.org/presentationml/2006/main">
  <p:tag name="KSO_WM_DIAGRAM_VIRTUALLY_FRAME" val="{&quot;height&quot;:394.078031496063,&quot;left&quot;:51.999921259842516,&quot;top&quot;:89,&quot;width&quot;:855.0000787401575}"/>
</p:tagLst>
</file>

<file path=ppt/tags/tag112.xml><?xml version="1.0" encoding="utf-8"?>
<p:tagLst xmlns:p="http://schemas.openxmlformats.org/presentationml/2006/main">
  <p:tag name="KSO_WM_DIAGRAM_VIRTUALLY_FRAME" val="{&quot;height&quot;:394.078031496063,&quot;left&quot;:51.999921259842516,&quot;top&quot;:89,&quot;width&quot;:855.0000787401575}"/>
</p:tagLst>
</file>

<file path=ppt/tags/tag113.xml><?xml version="1.0" encoding="utf-8"?>
<p:tagLst xmlns:p="http://schemas.openxmlformats.org/presentationml/2006/main">
  <p:tag name="KSO_WM_DIAGRAM_VIRTUALLY_FRAME" val="{&quot;height&quot;:394.078031496063,&quot;left&quot;:51.999921259842516,&quot;top&quot;:89,&quot;width&quot;:855.0000787401575}"/>
</p:tagLst>
</file>

<file path=ppt/tags/tag114.xml><?xml version="1.0" encoding="utf-8"?>
<p:tagLst xmlns:p="http://schemas.openxmlformats.org/presentationml/2006/main">
  <p:tag name="KSO_WM_DIAGRAM_VIRTUALLY_FRAME" val="{&quot;height&quot;:394.078031496063,&quot;left&quot;:51.999921259842516,&quot;top&quot;:89,&quot;width&quot;:855.0000787401575}"/>
</p:tagLst>
</file>

<file path=ppt/tags/tag115.xml><?xml version="1.0" encoding="utf-8"?>
<p:tagLst xmlns:p="http://schemas.openxmlformats.org/presentationml/2006/main">
  <p:tag name="KSO_WM_DIAGRAM_VIRTUALLY_FRAME" val="{&quot;height&quot;:394.078031496063,&quot;left&quot;:51.999921259842516,&quot;top&quot;:89,&quot;width&quot;:855.0000787401575}"/>
</p:tagLst>
</file>

<file path=ppt/tags/tag116.xml><?xml version="1.0" encoding="utf-8"?>
<p:tagLst xmlns:p="http://schemas.openxmlformats.org/presentationml/2006/main">
  <p:tag name="KSO_WM_DIAGRAM_VIRTUALLY_FRAME" val="{&quot;height&quot;:394.078031496063,&quot;left&quot;:51.999921259842516,&quot;top&quot;:89,&quot;width&quot;:855.0000787401575}"/>
</p:tagLst>
</file>

<file path=ppt/tags/tag117.xml><?xml version="1.0" encoding="utf-8"?>
<p:tagLst xmlns:p="http://schemas.openxmlformats.org/presentationml/2006/main">
  <p:tag name="KSO_WM_DIAGRAM_VIRTUALLY_FRAME" val="{&quot;height&quot;:230,&quot;left&quot;:52,&quot;top&quot;:250,&quot;width&quot;:848}"/>
</p:tagLst>
</file>

<file path=ppt/tags/tag118.xml><?xml version="1.0" encoding="utf-8"?>
<p:tagLst xmlns:p="http://schemas.openxmlformats.org/presentationml/2006/main">
  <p:tag name="KSO_WM_DIAGRAM_VIRTUALLY_FRAME" val="{&quot;height&quot;:230,&quot;left&quot;:52,&quot;top&quot;:250,&quot;width&quot;:848}"/>
</p:tagLst>
</file>

<file path=ppt/tags/tag119.xml><?xml version="1.0" encoding="utf-8"?>
<p:tagLst xmlns:p="http://schemas.openxmlformats.org/presentationml/2006/main">
  <p:tag name="KSO_WM_DIAGRAM_VIRTUALLY_FRAME" val="{&quot;height&quot;:230,&quot;left&quot;:52,&quot;top&quot;:250,&quot;width&quot;:848}"/>
</p:tagLst>
</file>

<file path=ppt/tags/tag120.xml><?xml version="1.0" encoding="utf-8"?>
<p:tagLst xmlns:p="http://schemas.openxmlformats.org/presentationml/2006/main">
  <p:tag name="KSO_WM_DIAGRAM_VIRTUALLY_FRAME" val="{&quot;height&quot;:230,&quot;left&quot;:52,&quot;top&quot;:250,&quot;width&quot;:848}"/>
</p:tagLst>
</file>

<file path=ppt/tags/tag121.xml><?xml version="1.0" encoding="utf-8"?>
<p:tagLst xmlns:p="http://schemas.openxmlformats.org/presentationml/2006/main">
  <p:tag name="KSO_WM_DIAGRAM_VIRTUALLY_FRAME" val="{&quot;height&quot;:230,&quot;left&quot;:52,&quot;top&quot;:250,&quot;width&quot;:848}"/>
</p:tagLst>
</file>

<file path=ppt/tags/tag122.xml><?xml version="1.0" encoding="utf-8"?>
<p:tagLst xmlns:p="http://schemas.openxmlformats.org/presentationml/2006/main">
  <p:tag name="KSO_WM_DIAGRAM_VIRTUALLY_FRAME" val="{&quot;height&quot;:230,&quot;left&quot;:52,&quot;top&quot;:250,&quot;width&quot;:848}"/>
</p:tagLst>
</file>

<file path=ppt/tags/tag123.xml><?xml version="1.0" encoding="utf-8"?>
<p:tagLst xmlns:p="http://schemas.openxmlformats.org/presentationml/2006/main">
  <p:tag name="KSO_WM_DIAGRAM_VIRTUALLY_FRAME" val="{&quot;height&quot;:230,&quot;left&quot;:52,&quot;top&quot;:250,&quot;width&quot;:848}"/>
</p:tagLst>
</file>

<file path=ppt/tags/tag124.xml><?xml version="1.0" encoding="utf-8"?>
<p:tagLst xmlns:p="http://schemas.openxmlformats.org/presentationml/2006/main">
  <p:tag name="KSO_WM_DIAGRAM_VIRTUALLY_FRAME" val="{&quot;height&quot;:230,&quot;left&quot;:52,&quot;top&quot;:250,&quot;width&quot;:848}"/>
</p:tagLst>
</file>

<file path=ppt/tags/tag125.xml><?xml version="1.0" encoding="utf-8"?>
<p:tagLst xmlns:p="http://schemas.openxmlformats.org/presentationml/2006/main">
  <p:tag name="KSO_WM_DIAGRAM_VIRTUALLY_FRAME" val="{&quot;height&quot;:230,&quot;left&quot;:52,&quot;top&quot;:250,&quot;width&quot;:848}"/>
</p:tagLst>
</file>

<file path=ppt/tags/tag126.xml><?xml version="1.0" encoding="utf-8"?>
<p:tagLst xmlns:p="http://schemas.openxmlformats.org/presentationml/2006/main">
  <p:tag name="KSO_WM_DIAGRAM_VIRTUALLY_FRAME" val="{&quot;height&quot;:230,&quot;left&quot;:52,&quot;top&quot;:250,&quot;width&quot;:848}"/>
</p:tagLst>
</file>

<file path=ppt/tags/tag127.xml><?xml version="1.0" encoding="utf-8"?>
<p:tagLst xmlns:p="http://schemas.openxmlformats.org/presentationml/2006/main">
  <p:tag name="KSO_WM_DIAGRAM_VIRTUALLY_FRAME" val="{&quot;height&quot;:230,&quot;left&quot;:52,&quot;top&quot;:250,&quot;width&quot;:848}"/>
</p:tagLst>
</file>

<file path=ppt/tags/tag128.xml><?xml version="1.0" encoding="utf-8"?>
<p:tagLst xmlns:p="http://schemas.openxmlformats.org/presentationml/2006/main">
  <p:tag name="KSO_WM_DIAGRAM_VIRTUALLY_FRAME" val="{&quot;height&quot;:230,&quot;left&quot;:52,&quot;top&quot;:250,&quot;width&quot;:848}"/>
</p:tagLst>
</file>

<file path=ppt/tags/tag129.xml><?xml version="1.0" encoding="utf-8"?>
<p:tagLst xmlns:p="http://schemas.openxmlformats.org/presentationml/2006/main">
  <p:tag name="KSO_WM_DIAGRAM_VIRTUALLY_FRAME" val="{&quot;height&quot;:341,&quot;left&quot;:52,&quot;top&quot;:153,&quot;width&quot;:855.0005511811023}"/>
</p:tagLst>
</file>

<file path=ppt/tags/tag130.xml><?xml version="1.0" encoding="utf-8"?>
<p:tagLst xmlns:p="http://schemas.openxmlformats.org/presentationml/2006/main">
  <p:tag name="KSO_WM_DIAGRAM_VIRTUALLY_FRAME" val="{&quot;height&quot;:341,&quot;left&quot;:52,&quot;top&quot;:153,&quot;width&quot;:855.0005511811023}"/>
</p:tagLst>
</file>

<file path=ppt/tags/tag131.xml><?xml version="1.0" encoding="utf-8"?>
<p:tagLst xmlns:p="http://schemas.openxmlformats.org/presentationml/2006/main">
  <p:tag name="KSO_WM_DIAGRAM_VIRTUALLY_FRAME" val="{&quot;height&quot;:341,&quot;left&quot;:52,&quot;top&quot;:153,&quot;width&quot;:855.0005511811023}"/>
</p:tagLst>
</file>

<file path=ppt/tags/tag132.xml><?xml version="1.0" encoding="utf-8"?>
<p:tagLst xmlns:p="http://schemas.openxmlformats.org/presentationml/2006/main">
  <p:tag name="KSO_WM_DIAGRAM_VIRTUALLY_FRAME" val="{&quot;height&quot;:341,&quot;left&quot;:52,&quot;top&quot;:153,&quot;width&quot;:855.0005511811023}"/>
</p:tagLst>
</file>

<file path=ppt/tags/tag133.xml><?xml version="1.0" encoding="utf-8"?>
<p:tagLst xmlns:p="http://schemas.openxmlformats.org/presentationml/2006/main">
  <p:tag name="KSO_WM_DIAGRAM_VIRTUALLY_FRAME" val="{&quot;height&quot;:341,&quot;left&quot;:52,&quot;top&quot;:153,&quot;width&quot;:855.0005511811023}"/>
</p:tagLst>
</file>

<file path=ppt/tags/tag134.xml><?xml version="1.0" encoding="utf-8"?>
<p:tagLst xmlns:p="http://schemas.openxmlformats.org/presentationml/2006/main">
  <p:tag name="KSO_WM_DIAGRAM_VIRTUALLY_FRAME" val="{&quot;height&quot;:341,&quot;left&quot;:52,&quot;top&quot;:153,&quot;width&quot;:855.0005511811023}"/>
</p:tagLst>
</file>

<file path=ppt/tags/tag135.xml><?xml version="1.0" encoding="utf-8"?>
<p:tagLst xmlns:p="http://schemas.openxmlformats.org/presentationml/2006/main">
  <p:tag name="KSO_WM_DIAGRAM_VIRTUALLY_FRAME" val="{&quot;height&quot;:341,&quot;left&quot;:52,&quot;top&quot;:153,&quot;width&quot;:855.0005511811023}"/>
</p:tagLst>
</file>

<file path=ppt/tags/tag136.xml><?xml version="1.0" encoding="utf-8"?>
<p:tagLst xmlns:p="http://schemas.openxmlformats.org/presentationml/2006/main">
  <p:tag name="KSO_WM_DIAGRAM_VIRTUALLY_FRAME" val="{&quot;height&quot;:341,&quot;left&quot;:52,&quot;top&quot;:153,&quot;width&quot;:855.0005511811023}"/>
</p:tagLst>
</file>

<file path=ppt/tags/tag137.xml><?xml version="1.0" encoding="utf-8"?>
<p:tagLst xmlns:p="http://schemas.openxmlformats.org/presentationml/2006/main">
  <p:tag name="KSO_WM_DIAGRAM_VIRTUALLY_FRAME" val="{&quot;height&quot;:341,&quot;left&quot;:52,&quot;top&quot;:153,&quot;width&quot;:855.0005511811023}"/>
</p:tagLst>
</file>

<file path=ppt/tags/tag138.xml><?xml version="1.0" encoding="utf-8"?>
<p:tagLst xmlns:p="http://schemas.openxmlformats.org/presentationml/2006/main">
  <p:tag name="KSO_WM_DIAGRAM_VIRTUALLY_FRAME" val="{&quot;height&quot;:341,&quot;left&quot;:52,&quot;top&quot;:153,&quot;width&quot;:855.0005511811023}"/>
</p:tagLst>
</file>

<file path=ppt/tags/tag139.xml><?xml version="1.0" encoding="utf-8"?>
<p:tagLst xmlns:p="http://schemas.openxmlformats.org/presentationml/2006/main">
  <p:tag name="KSO_WM_DIAGRAM_VIRTUALLY_FRAME" val="{&quot;height&quot;:341,&quot;left&quot;:52,&quot;top&quot;:153,&quot;width&quot;:855.0005511811023}"/>
</p:tagLst>
</file>

<file path=ppt/tags/tag140.xml><?xml version="1.0" encoding="utf-8"?>
<p:tagLst xmlns:p="http://schemas.openxmlformats.org/presentationml/2006/main">
  <p:tag name="KSO_WM_DIAGRAM_VIRTUALLY_FRAME" val="{&quot;height&quot;:341,&quot;left&quot;:52,&quot;top&quot;:153,&quot;width&quot;:855.0005511811023}"/>
</p:tagLst>
</file>

<file path=ppt/tags/tag141.xml><?xml version="1.0" encoding="utf-8"?>
<p:tagLst xmlns:p="http://schemas.openxmlformats.org/presentationml/2006/main">
  <p:tag name="KSO_WM_DIAGRAM_VIRTUALLY_FRAME" val="{&quot;height&quot;:341,&quot;left&quot;:52,&quot;top&quot;:153,&quot;width&quot;:855.0005511811023}"/>
</p:tagLst>
</file>

<file path=ppt/tags/tag142.xml><?xml version="1.0" encoding="utf-8"?>
<p:tagLst xmlns:p="http://schemas.openxmlformats.org/presentationml/2006/main">
  <p:tag name="KSO_WM_DIAGRAM_VIRTUALLY_FRAME" val="{&quot;height&quot;:409,&quot;left&quot;:348,&quot;top&quot;:89,&quot;width&quot;:568.75}"/>
</p:tagLst>
</file>

<file path=ppt/tags/tag143.xml><?xml version="1.0" encoding="utf-8"?>
<p:tagLst xmlns:p="http://schemas.openxmlformats.org/presentationml/2006/main">
  <p:tag name="KSO_WM_DIAGRAM_VIRTUALLY_FRAME" val="{&quot;height&quot;:409,&quot;left&quot;:348,&quot;top&quot;:89,&quot;width&quot;:568.75}"/>
</p:tagLst>
</file>

<file path=ppt/tags/tag144.xml><?xml version="1.0" encoding="utf-8"?>
<p:tagLst xmlns:p="http://schemas.openxmlformats.org/presentationml/2006/main">
  <p:tag name="KSO_WM_DIAGRAM_VIRTUALLY_FRAME" val="{&quot;height&quot;:409,&quot;left&quot;:348,&quot;top&quot;:89,&quot;width&quot;:568.75}"/>
</p:tagLst>
</file>

<file path=ppt/tags/tag145.xml><?xml version="1.0" encoding="utf-8"?>
<p:tagLst xmlns:p="http://schemas.openxmlformats.org/presentationml/2006/main">
  <p:tag name="KSO_WM_DIAGRAM_VIRTUALLY_FRAME" val="{&quot;height&quot;:409,&quot;left&quot;:348,&quot;top&quot;:89,&quot;width&quot;:568.75}"/>
</p:tagLst>
</file>

<file path=ppt/tags/tag146.xml><?xml version="1.0" encoding="utf-8"?>
<p:tagLst xmlns:p="http://schemas.openxmlformats.org/presentationml/2006/main">
  <p:tag name="KSO_WM_DIAGRAM_VIRTUALLY_FRAME" val="{&quot;height&quot;:409,&quot;left&quot;:348,&quot;top&quot;:89,&quot;width&quot;:568.75}"/>
</p:tagLst>
</file>

<file path=ppt/tags/tag147.xml><?xml version="1.0" encoding="utf-8"?>
<p:tagLst xmlns:p="http://schemas.openxmlformats.org/presentationml/2006/main">
  <p:tag name="KSO_WM_DIAGRAM_VIRTUALLY_FRAME" val="{&quot;height&quot;:409,&quot;left&quot;:348,&quot;top&quot;:89,&quot;width&quot;:568.75}"/>
</p:tagLst>
</file>

<file path=ppt/tags/tag148.xml><?xml version="1.0" encoding="utf-8"?>
<p:tagLst xmlns:p="http://schemas.openxmlformats.org/presentationml/2006/main">
  <p:tag name="KSO_WM_DIAGRAM_VIRTUALLY_FRAME" val="{&quot;height&quot;:409,&quot;left&quot;:348,&quot;top&quot;:89,&quot;width&quot;:568.75}"/>
</p:tagLst>
</file>

<file path=ppt/tags/tag149.xml><?xml version="1.0" encoding="utf-8"?>
<p:tagLst xmlns:p="http://schemas.openxmlformats.org/presentationml/2006/main">
  <p:tag name="KSO_WM_DIAGRAM_VIRTUALLY_FRAME" val="{&quot;height&quot;:409,&quot;left&quot;:348,&quot;top&quot;:89,&quot;width&quot;:568.75}"/>
</p:tagLst>
</file>

<file path=ppt/tags/tag150.xml><?xml version="1.0" encoding="utf-8"?>
<p:tagLst xmlns:p="http://schemas.openxmlformats.org/presentationml/2006/main">
  <p:tag name="KSO_WM_DIAGRAM_VIRTUALLY_FRAME" val="{&quot;height&quot;:409,&quot;left&quot;:348,&quot;top&quot;:89,&quot;width&quot;:568.75}"/>
</p:tagLst>
</file>

<file path=ppt/tags/tag151.xml><?xml version="1.0" encoding="utf-8"?>
<p:tagLst xmlns:p="http://schemas.openxmlformats.org/presentationml/2006/main">
  <p:tag name="KSO_WM_DIAGRAM_VIRTUALLY_FRAME" val="{&quot;height&quot;:409,&quot;left&quot;:348,&quot;top&quot;:89,&quot;width&quot;:568.75}"/>
</p:tagLst>
</file>

<file path=ppt/tags/tag152.xml><?xml version="1.0" encoding="utf-8"?>
<p:tagLst xmlns:p="http://schemas.openxmlformats.org/presentationml/2006/main">
  <p:tag name="KSO_WM_DIAGRAM_VIRTUALLY_FRAME" val="{&quot;height&quot;:409,&quot;left&quot;:348,&quot;top&quot;:89,&quot;width&quot;:568.75}"/>
</p:tagLst>
</file>

<file path=ppt/tags/tag153.xml><?xml version="1.0" encoding="utf-8"?>
<p:tagLst xmlns:p="http://schemas.openxmlformats.org/presentationml/2006/main">
  <p:tag name="KSO_WM_DIAGRAM_VIRTUALLY_FRAME" val="{&quot;height&quot;:409,&quot;left&quot;:348,&quot;top&quot;:89,&quot;width&quot;:568.75}"/>
</p:tagLst>
</file>

<file path=ppt/tags/tag154.xml><?xml version="1.0" encoding="utf-8"?>
<p:tagLst xmlns:p="http://schemas.openxmlformats.org/presentationml/2006/main">
  <p:tag name="KSO_WM_DIAGRAM_VIRTUALLY_FRAME" val="{&quot;height&quot;:319,&quot;left&quot;:59,&quot;top&quot;:158,&quot;width&quot;:842}"/>
</p:tagLst>
</file>

<file path=ppt/tags/tag155.xml><?xml version="1.0" encoding="utf-8"?>
<p:tagLst xmlns:p="http://schemas.openxmlformats.org/presentationml/2006/main">
  <p:tag name="KSO_WM_DIAGRAM_VIRTUALLY_FRAME" val="{&quot;height&quot;:319,&quot;left&quot;:59,&quot;top&quot;:158,&quot;width&quot;:842}"/>
</p:tagLst>
</file>

<file path=ppt/tags/tag156.xml><?xml version="1.0" encoding="utf-8"?>
<p:tagLst xmlns:p="http://schemas.openxmlformats.org/presentationml/2006/main">
  <p:tag name="KSO_WM_DIAGRAM_VIRTUALLY_FRAME" val="{&quot;height&quot;:319,&quot;left&quot;:59,&quot;top&quot;:158,&quot;width&quot;:842}"/>
</p:tagLst>
</file>

<file path=ppt/tags/tag157.xml><?xml version="1.0" encoding="utf-8"?>
<p:tagLst xmlns:p="http://schemas.openxmlformats.org/presentationml/2006/main">
  <p:tag name="KSO_WM_DIAGRAM_VIRTUALLY_FRAME" val="{&quot;height&quot;:319,&quot;left&quot;:59,&quot;top&quot;:158,&quot;width&quot;:842}"/>
</p:tagLst>
</file>

<file path=ppt/tags/tag158.xml><?xml version="1.0" encoding="utf-8"?>
<p:tagLst xmlns:p="http://schemas.openxmlformats.org/presentationml/2006/main">
  <p:tag name="KSO_WM_DIAGRAM_VIRTUALLY_FRAME" val="{&quot;height&quot;:319,&quot;left&quot;:59,&quot;top&quot;:158,&quot;width&quot;:842}"/>
</p:tagLst>
</file>

<file path=ppt/tags/tag159.xml><?xml version="1.0" encoding="utf-8"?>
<p:tagLst xmlns:p="http://schemas.openxmlformats.org/presentationml/2006/main">
  <p:tag name="KSO_WM_DIAGRAM_VIRTUALLY_FRAME" val="{&quot;height&quot;:319,&quot;left&quot;:59,&quot;top&quot;:158,&quot;width&quot;:842}"/>
</p:tagLst>
</file>

<file path=ppt/tags/tag160.xml><?xml version="1.0" encoding="utf-8"?>
<p:tagLst xmlns:p="http://schemas.openxmlformats.org/presentationml/2006/main">
  <p:tag name="KSO_WM_DIAGRAM_VIRTUALLY_FRAME" val="{&quot;height&quot;:319,&quot;left&quot;:59,&quot;top&quot;:158,&quot;width&quot;:842}"/>
</p:tagLst>
</file>

<file path=ppt/tags/tag161.xml><?xml version="1.0" encoding="utf-8"?>
<p:tagLst xmlns:p="http://schemas.openxmlformats.org/presentationml/2006/main">
  <p:tag name="KSO_WM_DIAGRAM_VIRTUALLY_FRAME" val="{&quot;height&quot;:319,&quot;left&quot;:59,&quot;top&quot;:158,&quot;width&quot;:842}"/>
</p:tagLst>
</file>

<file path=ppt/tags/tag162.xml><?xml version="1.0" encoding="utf-8"?>
<p:tagLst xmlns:p="http://schemas.openxmlformats.org/presentationml/2006/main">
  <p:tag name="KSO_WM_DIAGRAM_VIRTUALLY_FRAME" val="{&quot;height&quot;:319,&quot;left&quot;:59,&quot;top&quot;:158,&quot;width&quot;:842}"/>
</p:tagLst>
</file>

<file path=ppt/tags/tag163.xml><?xml version="1.0" encoding="utf-8"?>
<p:tagLst xmlns:p="http://schemas.openxmlformats.org/presentationml/2006/main">
  <p:tag name="KSO_WM_DIAGRAM_VIRTUALLY_FRAME" val="{&quot;height&quot;:319,&quot;left&quot;:59,&quot;top&quot;:158,&quot;width&quot;:842}"/>
</p:tagLst>
</file>

<file path=ppt/tags/tag164.xml><?xml version="1.0" encoding="utf-8"?>
<p:tagLst xmlns:p="http://schemas.openxmlformats.org/presentationml/2006/main">
  <p:tag name="KSO_WM_DIAGRAM_VIRTUALLY_FRAME" val="{&quot;height&quot;:330,&quot;left&quot;:52,&quot;top&quot;:153,&quot;width&quot;:855.0005511811023}"/>
</p:tagLst>
</file>

<file path=ppt/tags/tag165.xml><?xml version="1.0" encoding="utf-8"?>
<p:tagLst xmlns:p="http://schemas.openxmlformats.org/presentationml/2006/main">
  <p:tag name="KSO_WM_DIAGRAM_VIRTUALLY_FRAME" val="{&quot;height&quot;:330,&quot;left&quot;:52,&quot;top&quot;:153,&quot;width&quot;:855.0005511811023}"/>
</p:tagLst>
</file>

<file path=ppt/tags/tag166.xml><?xml version="1.0" encoding="utf-8"?>
<p:tagLst xmlns:p="http://schemas.openxmlformats.org/presentationml/2006/main">
  <p:tag name="KSO_WM_DIAGRAM_VIRTUALLY_FRAME" val="{&quot;height&quot;:330,&quot;left&quot;:52,&quot;top&quot;:153,&quot;width&quot;:855.0005511811023}"/>
</p:tagLst>
</file>

<file path=ppt/tags/tag167.xml><?xml version="1.0" encoding="utf-8"?>
<p:tagLst xmlns:p="http://schemas.openxmlformats.org/presentationml/2006/main">
  <p:tag name="KSO_WM_DIAGRAM_VIRTUALLY_FRAME" val="{&quot;height&quot;:330,&quot;left&quot;:52,&quot;top&quot;:153,&quot;width&quot;:855.0005511811023}"/>
</p:tagLst>
</file>

<file path=ppt/tags/tag168.xml><?xml version="1.0" encoding="utf-8"?>
<p:tagLst xmlns:p="http://schemas.openxmlformats.org/presentationml/2006/main">
  <p:tag name="KSO_WM_DIAGRAM_VIRTUALLY_FRAME" val="{&quot;height&quot;:330,&quot;left&quot;:52,&quot;top&quot;:153,&quot;width&quot;:855.0005511811023}"/>
</p:tagLst>
</file>

<file path=ppt/tags/tag169.xml><?xml version="1.0" encoding="utf-8"?>
<p:tagLst xmlns:p="http://schemas.openxmlformats.org/presentationml/2006/main">
  <p:tag name="KSO_WM_DIAGRAM_VIRTUALLY_FRAME" val="{&quot;height&quot;:330,&quot;left&quot;:52,&quot;top&quot;:153,&quot;width&quot;:855.0005511811023}"/>
</p:tagLst>
</file>

<file path=ppt/tags/tag170.xml><?xml version="1.0" encoding="utf-8"?>
<p:tagLst xmlns:p="http://schemas.openxmlformats.org/presentationml/2006/main">
  <p:tag name="KSO_WM_DIAGRAM_VIRTUALLY_FRAME" val="{&quot;height&quot;:330,&quot;left&quot;:52,&quot;top&quot;:153,&quot;width&quot;:855.0005511811023}"/>
</p:tagLst>
</file>

<file path=ppt/tags/tag171.xml><?xml version="1.0" encoding="utf-8"?>
<p:tagLst xmlns:p="http://schemas.openxmlformats.org/presentationml/2006/main">
  <p:tag name="KSO_WM_DIAGRAM_VIRTUALLY_FRAME" val="{&quot;height&quot;:330,&quot;left&quot;:52,&quot;top&quot;:153,&quot;width&quot;:855.0005511811023}"/>
</p:tagLst>
</file>

<file path=ppt/tags/tag172.xml><?xml version="1.0" encoding="utf-8"?>
<p:tagLst xmlns:p="http://schemas.openxmlformats.org/presentationml/2006/main">
  <p:tag name="KSO_WM_DIAGRAM_VIRTUALLY_FRAME" val="{&quot;height&quot;:330,&quot;left&quot;:52,&quot;top&quot;:153,&quot;width&quot;:855.0005511811023}"/>
</p:tagLst>
</file>

<file path=ppt/tags/tag173.xml><?xml version="1.0" encoding="utf-8"?>
<p:tagLst xmlns:p="http://schemas.openxmlformats.org/presentationml/2006/main">
  <p:tag name="KSO_WM_DIAGRAM_VIRTUALLY_FRAME" val="{&quot;height&quot;:330,&quot;left&quot;:52,&quot;top&quot;:153,&quot;width&quot;:855.0005511811023}"/>
</p:tagLst>
</file>

<file path=ppt/tags/tag174.xml><?xml version="1.0" encoding="utf-8"?>
<p:tagLst xmlns:p="http://schemas.openxmlformats.org/presentationml/2006/main">
  <p:tag name="KSO_WM_DIAGRAM_VIRTUALLY_FRAME" val="{&quot;height&quot;:330,&quot;left&quot;:52,&quot;top&quot;:153,&quot;width&quot;:855.0005511811023}"/>
</p:tagLst>
</file>

<file path=ppt/tags/tag175.xml><?xml version="1.0" encoding="utf-8"?>
<p:tagLst xmlns:p="http://schemas.openxmlformats.org/presentationml/2006/main">
  <p:tag name="KSO_WM_DIAGRAM_VIRTUALLY_FRAME" val="{&quot;height&quot;:330,&quot;left&quot;:52,&quot;top&quot;:153,&quot;width&quot;:855.0005511811023}"/>
</p:tagLst>
</file>

<file path=ppt/tags/tag176.xml><?xml version="1.0" encoding="utf-8"?>
<p:tagLst xmlns:p="http://schemas.openxmlformats.org/presentationml/2006/main">
  <p:tag name="KSO_WM_DIAGRAM_VIRTUALLY_FRAME" val="{&quot;height&quot;:330,&quot;left&quot;:52,&quot;top&quot;:153,&quot;width&quot;:855.0005511811023}"/>
</p:tagLst>
</file>

<file path=ppt/tags/tag177.xml><?xml version="1.0" encoding="utf-8"?>
<p:tagLst xmlns:p="http://schemas.openxmlformats.org/presentationml/2006/main">
  <p:tag name="KSO_WM_DIAGRAM_VIRTUALLY_FRAME" val="{&quot;height&quot;:220,&quot;left&quot;:60,&quot;top&quot;:240,&quot;width&quot;:840}"/>
</p:tagLst>
</file>

<file path=ppt/tags/tag178.xml><?xml version="1.0" encoding="utf-8"?>
<p:tagLst xmlns:p="http://schemas.openxmlformats.org/presentationml/2006/main">
  <p:tag name="KSO_WM_DIAGRAM_VIRTUALLY_FRAME" val="{&quot;height&quot;:220,&quot;left&quot;:60,&quot;top&quot;:240,&quot;width&quot;:840}"/>
</p:tagLst>
</file>

<file path=ppt/tags/tag179.xml><?xml version="1.0" encoding="utf-8"?>
<p:tagLst xmlns:p="http://schemas.openxmlformats.org/presentationml/2006/main">
  <p:tag name="KSO_WM_DIAGRAM_VIRTUALLY_FRAME" val="{&quot;height&quot;:220,&quot;left&quot;:60,&quot;top&quot;:240,&quot;width&quot;:840}"/>
</p:tagLst>
</file>

<file path=ppt/tags/tag180.xml><?xml version="1.0" encoding="utf-8"?>
<p:tagLst xmlns:p="http://schemas.openxmlformats.org/presentationml/2006/main">
  <p:tag name="KSO_WM_DIAGRAM_VIRTUALLY_FRAME" val="{&quot;height&quot;:220,&quot;left&quot;:60,&quot;top&quot;:240,&quot;width&quot;:840}"/>
</p:tagLst>
</file>

<file path=ppt/tags/tag181.xml><?xml version="1.0" encoding="utf-8"?>
<p:tagLst xmlns:p="http://schemas.openxmlformats.org/presentationml/2006/main">
  <p:tag name="KSO_WM_DIAGRAM_VIRTUALLY_FRAME" val="{&quot;height&quot;:220,&quot;left&quot;:60,&quot;top&quot;:240,&quot;width&quot;:840}"/>
</p:tagLst>
</file>

<file path=ppt/tags/tag182.xml><?xml version="1.0" encoding="utf-8"?>
<p:tagLst xmlns:p="http://schemas.openxmlformats.org/presentationml/2006/main">
  <p:tag name="KSO_WM_DIAGRAM_VIRTUALLY_FRAME" val="{&quot;height&quot;:220,&quot;left&quot;:60,&quot;top&quot;:240,&quot;width&quot;:840}"/>
</p:tagLst>
</file>

<file path=ppt/tags/tag183.xml><?xml version="1.0" encoding="utf-8"?>
<p:tagLst xmlns:p="http://schemas.openxmlformats.org/presentationml/2006/main">
  <p:tag name="KSO_WM_DIAGRAM_VIRTUALLY_FRAME" val="{&quot;height&quot;:220,&quot;left&quot;:60,&quot;top&quot;:240,&quot;width&quot;:840}"/>
</p:tagLst>
</file>

<file path=ppt/tags/tag184.xml><?xml version="1.0" encoding="utf-8"?>
<p:tagLst xmlns:p="http://schemas.openxmlformats.org/presentationml/2006/main">
  <p:tag name="KSO_WM_DIAGRAM_VIRTUALLY_FRAME" val="{&quot;height&quot;:220,&quot;left&quot;:60,&quot;top&quot;:240,&quot;width&quot;:840}"/>
</p:tagLst>
</file>

<file path=ppt/tags/tag185.xml><?xml version="1.0" encoding="utf-8"?>
<p:tagLst xmlns:p="http://schemas.openxmlformats.org/presentationml/2006/main">
  <p:tag name="KSO_WM_DIAGRAM_VIRTUALLY_FRAME" val="{&quot;height&quot;:381,&quot;left&quot;:52,&quot;top&quot;:102,&quot;width&quot;:855}"/>
</p:tagLst>
</file>

<file path=ppt/tags/tag186.xml><?xml version="1.0" encoding="utf-8"?>
<p:tagLst xmlns:p="http://schemas.openxmlformats.org/presentationml/2006/main">
  <p:tag name="KSO_WM_DIAGRAM_VIRTUALLY_FRAME" val="{&quot;height&quot;:381,&quot;left&quot;:52,&quot;top&quot;:102,&quot;width&quot;:855}"/>
</p:tagLst>
</file>

<file path=ppt/tags/tag187.xml><?xml version="1.0" encoding="utf-8"?>
<p:tagLst xmlns:p="http://schemas.openxmlformats.org/presentationml/2006/main">
  <p:tag name="KSO_WM_DIAGRAM_VIRTUALLY_FRAME" val="{&quot;height&quot;:381,&quot;left&quot;:52,&quot;top&quot;:102,&quot;width&quot;:855}"/>
</p:tagLst>
</file>

<file path=ppt/tags/tag188.xml><?xml version="1.0" encoding="utf-8"?>
<p:tagLst xmlns:p="http://schemas.openxmlformats.org/presentationml/2006/main">
  <p:tag name="KSO_WM_DIAGRAM_VIRTUALLY_FRAME" val="{&quot;height&quot;:381,&quot;left&quot;:52,&quot;top&quot;:102,&quot;width&quot;:855}"/>
</p:tagLst>
</file>

<file path=ppt/tags/tag189.xml><?xml version="1.0" encoding="utf-8"?>
<p:tagLst xmlns:p="http://schemas.openxmlformats.org/presentationml/2006/main">
  <p:tag name="KSO_WM_DIAGRAM_VIRTUALLY_FRAME" val="{&quot;height&quot;:381,&quot;left&quot;:52,&quot;top&quot;:102,&quot;width&quot;:855}"/>
</p:tagLst>
</file>

<file path=ppt/tags/tag190.xml><?xml version="1.0" encoding="utf-8"?>
<p:tagLst xmlns:p="http://schemas.openxmlformats.org/presentationml/2006/main">
  <p:tag name="KSO_WM_DIAGRAM_VIRTUALLY_FRAME" val="{&quot;height&quot;:381,&quot;left&quot;:52,&quot;top&quot;:102,&quot;width&quot;:855}"/>
</p:tagLst>
</file>

<file path=ppt/tags/tag191.xml><?xml version="1.0" encoding="utf-8"?>
<p:tagLst xmlns:p="http://schemas.openxmlformats.org/presentationml/2006/main">
  <p:tag name="KSO_WM_DIAGRAM_VIRTUALLY_FRAME" val="{&quot;height&quot;:381,&quot;left&quot;:52,&quot;top&quot;:102,&quot;width&quot;:855}"/>
</p:tagLst>
</file>

<file path=ppt/tags/tag192.xml><?xml version="1.0" encoding="utf-8"?>
<p:tagLst xmlns:p="http://schemas.openxmlformats.org/presentationml/2006/main">
  <p:tag name="KSO_WM_DIAGRAM_VIRTUALLY_FRAME" val="{&quot;height&quot;:381,&quot;left&quot;:52,&quot;top&quot;:102,&quot;width&quot;:855}"/>
</p:tagLst>
</file>

<file path=ppt/tags/tag193.xml><?xml version="1.0" encoding="utf-8"?>
<p:tagLst xmlns:p="http://schemas.openxmlformats.org/presentationml/2006/main">
  <p:tag name="KSO_WM_DIAGRAM_VIRTUALLY_FRAME" val="{&quot;height&quot;:381,&quot;left&quot;:52,&quot;top&quot;:102,&quot;width&quot;:855}"/>
</p:tagLst>
</file>

<file path=ppt/tags/tag194.xml><?xml version="1.0" encoding="utf-8"?>
<p:tagLst xmlns:p="http://schemas.openxmlformats.org/presentationml/2006/main">
  <p:tag name="KSO_WM_DIAGRAM_VIRTUALLY_FRAME" val="{&quot;height&quot;:381,&quot;left&quot;:52,&quot;top&quot;:102,&quot;width&quot;:855}"/>
</p:tagLst>
</file>

<file path=ppt/tags/tag195.xml><?xml version="1.0" encoding="utf-8"?>
<p:tagLst xmlns:p="http://schemas.openxmlformats.org/presentationml/2006/main">
  <p:tag name="KSO_WM_DIAGRAM_VIRTUALLY_FRAME" val="{&quot;height&quot;:381,&quot;left&quot;:52,&quot;top&quot;:102,&quot;width&quot;:855}"/>
</p:tagLst>
</file>

<file path=ppt/tags/tag196.xml><?xml version="1.0" encoding="utf-8"?>
<p:tagLst xmlns:p="http://schemas.openxmlformats.org/presentationml/2006/main">
  <p:tag name="KSO_WM_DIAGRAM_VIRTUALLY_FRAME" val="{&quot;height&quot;:381,&quot;left&quot;:52,&quot;top&quot;:102,&quot;width&quot;:855}"/>
</p:tagLst>
</file>

<file path=ppt/tags/tag197.xml><?xml version="1.0" encoding="utf-8"?>
<p:tagLst xmlns:p="http://schemas.openxmlformats.org/presentationml/2006/main">
  <p:tag name="KSO_WM_DIAGRAM_VIRTUALLY_FRAME" val="{&quot;height&quot;:381,&quot;left&quot;:52,&quot;top&quot;:102,&quot;width&quot;:855}"/>
</p:tagLst>
</file>

<file path=ppt/tags/tag198.xml><?xml version="1.0" encoding="utf-8"?>
<p:tagLst xmlns:p="http://schemas.openxmlformats.org/presentationml/2006/main">
  <p:tag name="KSO_WM_DIAGRAM_VIRTUALLY_FRAME" val="{&quot;height&quot;:381,&quot;left&quot;:52,&quot;top&quot;:102,&quot;width&quot;:855}"/>
</p:tagLst>
</file>

<file path=ppt/tags/tag199.xml><?xml version="1.0" encoding="utf-8"?>
<p:tagLst xmlns:p="http://schemas.openxmlformats.org/presentationml/2006/main">
  <p:tag name="KSO_WM_DIAGRAM_VIRTUALLY_FRAME" val="{&quot;height&quot;:381,&quot;left&quot;:52,&quot;top&quot;:102,&quot;width&quot;:855}"/>
</p:tagLst>
</file>

<file path=ppt/tags/tag200.xml><?xml version="1.0" encoding="utf-8"?>
<p:tagLst xmlns:p="http://schemas.openxmlformats.org/presentationml/2006/main">
  <p:tag name="KSO_WM_DIAGRAM_VIRTUALLY_FRAME" val="{&quot;height&quot;:381,&quot;left&quot;:52,&quot;top&quot;:102,&quot;width&quot;:855}"/>
</p:tagLst>
</file>

<file path=ppt/tags/tag201.xml><?xml version="1.0" encoding="utf-8"?>
<p:tagLst xmlns:p="http://schemas.openxmlformats.org/presentationml/2006/main">
  <p:tag name="KSO_WM_DIAGRAM_VIRTUALLY_FRAME" val="{&quot;height&quot;:371.2,&quot;left&quot;:52,&quot;top&quot;:163,&quot;width&quot;:855}"/>
</p:tagLst>
</file>

<file path=ppt/tags/tag202.xml><?xml version="1.0" encoding="utf-8"?>
<p:tagLst xmlns:p="http://schemas.openxmlformats.org/presentationml/2006/main">
  <p:tag name="KSO_WM_DIAGRAM_VIRTUALLY_FRAME" val="{&quot;height&quot;:371.2,&quot;left&quot;:52,&quot;top&quot;:163,&quot;width&quot;:855}"/>
</p:tagLst>
</file>

<file path=ppt/tags/tag203.xml><?xml version="1.0" encoding="utf-8"?>
<p:tagLst xmlns:p="http://schemas.openxmlformats.org/presentationml/2006/main">
  <p:tag name="KSO_WM_DIAGRAM_VIRTUALLY_FRAME" val="{&quot;height&quot;:371.2,&quot;left&quot;:52,&quot;top&quot;:163,&quot;width&quot;:855}"/>
</p:tagLst>
</file>

<file path=ppt/tags/tag204.xml><?xml version="1.0" encoding="utf-8"?>
<p:tagLst xmlns:p="http://schemas.openxmlformats.org/presentationml/2006/main">
  <p:tag name="KSO_WM_DIAGRAM_VIRTUALLY_FRAME" val="{&quot;height&quot;:371.2,&quot;left&quot;:52,&quot;top&quot;:163,&quot;width&quot;:855}"/>
</p:tagLst>
</file>

<file path=ppt/tags/tag205.xml><?xml version="1.0" encoding="utf-8"?>
<p:tagLst xmlns:p="http://schemas.openxmlformats.org/presentationml/2006/main">
  <p:tag name="KSO_WM_DIAGRAM_VIRTUALLY_FRAME" val="{&quot;height&quot;:371.2,&quot;left&quot;:52,&quot;top&quot;:163,&quot;width&quot;:855}"/>
</p:tagLst>
</file>

<file path=ppt/tags/tag206.xml><?xml version="1.0" encoding="utf-8"?>
<p:tagLst xmlns:p="http://schemas.openxmlformats.org/presentationml/2006/main">
  <p:tag name="KSO_WM_DIAGRAM_VIRTUALLY_FRAME" val="{&quot;height&quot;:371.2,&quot;left&quot;:52,&quot;top&quot;:163,&quot;width&quot;:855}"/>
</p:tagLst>
</file>

<file path=ppt/tags/tag207.xml><?xml version="1.0" encoding="utf-8"?>
<p:tagLst xmlns:p="http://schemas.openxmlformats.org/presentationml/2006/main">
  <p:tag name="KSO_WM_DIAGRAM_VIRTUALLY_FRAME" val="{&quot;height&quot;:371.2,&quot;left&quot;:52,&quot;top&quot;:163,&quot;width&quot;:855}"/>
</p:tagLst>
</file>

<file path=ppt/tags/tag208.xml><?xml version="1.0" encoding="utf-8"?>
<p:tagLst xmlns:p="http://schemas.openxmlformats.org/presentationml/2006/main">
  <p:tag name="KSO_WM_DIAGRAM_VIRTUALLY_FRAME" val="{&quot;height&quot;:371.2,&quot;left&quot;:52,&quot;top&quot;:163,&quot;width&quot;:855}"/>
</p:tagLst>
</file>

<file path=ppt/tags/tag209.xml><?xml version="1.0" encoding="utf-8"?>
<p:tagLst xmlns:p="http://schemas.openxmlformats.org/presentationml/2006/main">
  <p:tag name="KSO_WM_DIAGRAM_VIRTUALLY_FRAME" val="{&quot;height&quot;:371.2,&quot;left&quot;:52,&quot;top&quot;:163,&quot;width&quot;:855}"/>
</p:tagLst>
</file>

<file path=ppt/tags/tag210.xml><?xml version="1.0" encoding="utf-8"?>
<p:tagLst xmlns:p="http://schemas.openxmlformats.org/presentationml/2006/main">
  <p:tag name="KSO_WM_DIAGRAM_VIRTUALLY_FRAME" val="{&quot;height&quot;:371.2,&quot;left&quot;:52,&quot;top&quot;:163,&quot;width&quot;:855}"/>
</p:tagLst>
</file>

<file path=ppt/tags/tag211.xml><?xml version="1.0" encoding="utf-8"?>
<p:tagLst xmlns:p="http://schemas.openxmlformats.org/presentationml/2006/main">
  <p:tag name="KSO_WM_DIAGRAM_VIRTUALLY_FRAME" val="{&quot;height&quot;:371.2,&quot;left&quot;:52,&quot;top&quot;:163,&quot;width&quot;:855}"/>
</p:tagLst>
</file>

<file path=ppt/tags/tag212.xml><?xml version="1.0" encoding="utf-8"?>
<p:tagLst xmlns:p="http://schemas.openxmlformats.org/presentationml/2006/main">
  <p:tag name="KSO_WM_DIAGRAM_VIRTUALLY_FRAME" val="{&quot;height&quot;:371.2,&quot;left&quot;:52,&quot;top&quot;:163,&quot;width&quot;:855}"/>
</p:tagLst>
</file>

<file path=ppt/tags/tag213.xml><?xml version="1.0" encoding="utf-8"?>
<p:tagLst xmlns:p="http://schemas.openxmlformats.org/presentationml/2006/main">
  <p:tag name="KSO_WM_DIAGRAM_VIRTUALLY_FRAME" val="{&quot;height&quot;:371.2,&quot;left&quot;:52,&quot;top&quot;:163,&quot;width&quot;:855}"/>
</p:tagLst>
</file>

<file path=ppt/tags/tag214.xml><?xml version="1.0" encoding="utf-8"?>
<p:tagLst xmlns:p="http://schemas.openxmlformats.org/presentationml/2006/main">
  <p:tag name="KSO_WM_DIAGRAM_VIRTUALLY_FRAME" val="{&quot;height&quot;:371.2,&quot;left&quot;:52,&quot;top&quot;:163,&quot;width&quot;:855}"/>
</p:tagLst>
</file>

<file path=ppt/tags/tag215.xml><?xml version="1.0" encoding="utf-8"?>
<p:tagLst xmlns:p="http://schemas.openxmlformats.org/presentationml/2006/main">
  <p:tag name="KSO_WM_DIAGRAM_VIRTUALLY_FRAME" val="{&quot;height&quot;:371.2,&quot;left&quot;:52,&quot;top&quot;:163,&quot;width&quot;:855}"/>
</p:tagLst>
</file>

<file path=ppt/tags/tag216.xml><?xml version="1.0" encoding="utf-8"?>
<p:tagLst xmlns:p="http://schemas.openxmlformats.org/presentationml/2006/main">
  <p:tag name="KSO_WM_DIAGRAM_VIRTUALLY_FRAME" val="{&quot;height&quot;:371.2,&quot;left&quot;:52,&quot;top&quot;:163,&quot;width&quot;:855}"/>
</p:tagLst>
</file>

<file path=ppt/tags/tag217.xml><?xml version="1.0" encoding="utf-8"?>
<p:tagLst xmlns:p="http://schemas.openxmlformats.org/presentationml/2006/main">
  <p:tag name="KSO_WM_DIAGRAM_VIRTUALLY_FRAME" val="{&quot;height&quot;:371.2,&quot;left&quot;:52,&quot;top&quot;:163,&quot;width&quot;:855}"/>
</p:tagLst>
</file>

<file path=ppt/tags/tag218.xml><?xml version="1.0" encoding="utf-8"?>
<p:tagLst xmlns:p="http://schemas.openxmlformats.org/presentationml/2006/main">
  <p:tag name="KSO_WM_DIAGRAM_VIRTUALLY_FRAME" val="{&quot;height&quot;:371.2,&quot;left&quot;:52,&quot;top&quot;:163,&quot;width&quot;:855}"/>
</p:tagLst>
</file>

<file path=ppt/tags/tag219.xml><?xml version="1.0" encoding="utf-8"?>
<p:tagLst xmlns:p="http://schemas.openxmlformats.org/presentationml/2006/main">
  <p:tag name="KSO_WM_DIAGRAM_VIRTUALLY_FRAME" val="{&quot;height&quot;:371.2,&quot;left&quot;:52,&quot;top&quot;:163,&quot;width&quot;:855}"/>
</p:tagLst>
</file>

<file path=ppt/tags/tag220.xml><?xml version="1.0" encoding="utf-8"?>
<p:tagLst xmlns:p="http://schemas.openxmlformats.org/presentationml/2006/main">
  <p:tag name="KSO_WM_DIAGRAM_VIRTUALLY_FRAME" val="{&quot;height&quot;:371.2,&quot;left&quot;:52,&quot;top&quot;:163,&quot;width&quot;:855}"/>
</p:tagLst>
</file>

<file path=ppt/tags/tag221.xml><?xml version="1.0" encoding="utf-8"?>
<p:tagLst xmlns:p="http://schemas.openxmlformats.org/presentationml/2006/main">
  <p:tag name="KSO_WM_DIAGRAM_VIRTUALLY_FRAME" val="{&quot;height&quot;:289,&quot;left&quot;:52,&quot;top&quot;:180,&quot;width&quot;:855}"/>
</p:tagLst>
</file>

<file path=ppt/tags/tag222.xml><?xml version="1.0" encoding="utf-8"?>
<p:tagLst xmlns:p="http://schemas.openxmlformats.org/presentationml/2006/main">
  <p:tag name="KSO_WM_DIAGRAM_VIRTUALLY_FRAME" val="{&quot;height&quot;:289,&quot;left&quot;:52,&quot;top&quot;:180,&quot;width&quot;:855}"/>
</p:tagLst>
</file>

<file path=ppt/tags/tag223.xml><?xml version="1.0" encoding="utf-8"?>
<p:tagLst xmlns:p="http://schemas.openxmlformats.org/presentationml/2006/main">
  <p:tag name="KSO_WM_DIAGRAM_VIRTUALLY_FRAME" val="{&quot;height&quot;:289,&quot;left&quot;:52,&quot;top&quot;:180,&quot;width&quot;:855}"/>
</p:tagLst>
</file>

<file path=ppt/tags/tag224.xml><?xml version="1.0" encoding="utf-8"?>
<p:tagLst xmlns:p="http://schemas.openxmlformats.org/presentationml/2006/main">
  <p:tag name="KSO_WM_DIAGRAM_VIRTUALLY_FRAME" val="{&quot;height&quot;:289,&quot;left&quot;:52,&quot;top&quot;:180,&quot;width&quot;:855}"/>
</p:tagLst>
</file>

<file path=ppt/tags/tag225.xml><?xml version="1.0" encoding="utf-8"?>
<p:tagLst xmlns:p="http://schemas.openxmlformats.org/presentationml/2006/main">
  <p:tag name="KSO_WM_DIAGRAM_VIRTUALLY_FRAME" val="{&quot;height&quot;:289,&quot;left&quot;:52,&quot;top&quot;:180,&quot;width&quot;:855}"/>
</p:tagLst>
</file>

<file path=ppt/tags/tag226.xml><?xml version="1.0" encoding="utf-8"?>
<p:tagLst xmlns:p="http://schemas.openxmlformats.org/presentationml/2006/main">
  <p:tag name="KSO_WM_DIAGRAM_VIRTUALLY_FRAME" val="{&quot;height&quot;:289,&quot;left&quot;:52,&quot;top&quot;:180,&quot;width&quot;:855}"/>
</p:tagLst>
</file>

<file path=ppt/tags/tag227.xml><?xml version="1.0" encoding="utf-8"?>
<p:tagLst xmlns:p="http://schemas.openxmlformats.org/presentationml/2006/main">
  <p:tag name="KSO_WM_DIAGRAM_VIRTUALLY_FRAME" val="{&quot;height&quot;:289,&quot;left&quot;:52,&quot;top&quot;:180,&quot;width&quot;:855}"/>
</p:tagLst>
</file>

<file path=ppt/tags/tag228.xml><?xml version="1.0" encoding="utf-8"?>
<p:tagLst xmlns:p="http://schemas.openxmlformats.org/presentationml/2006/main">
  <p:tag name="KSO_WM_DIAGRAM_VIRTUALLY_FRAME" val="{&quot;height&quot;:289,&quot;left&quot;:52,&quot;top&quot;:180,&quot;width&quot;:855}"/>
</p:tagLst>
</file>

<file path=ppt/tags/tag229.xml><?xml version="1.0" encoding="utf-8"?>
<p:tagLst xmlns:p="http://schemas.openxmlformats.org/presentationml/2006/main">
  <p:tag name="KSO_WM_DIAGRAM_VIRTUALLY_FRAME" val="{&quot;height&quot;:289,&quot;left&quot;:52,&quot;top&quot;:180,&quot;width&quot;:855}"/>
</p:tagLst>
</file>

<file path=ppt/tags/tag230.xml><?xml version="1.0" encoding="utf-8"?>
<p:tagLst xmlns:p="http://schemas.openxmlformats.org/presentationml/2006/main">
  <p:tag name="KSO_WM_DIAGRAM_VIRTUALLY_FRAME" val="{&quot;height&quot;:289,&quot;left&quot;:52,&quot;top&quot;:180,&quot;width&quot;:855}"/>
</p:tagLst>
</file>

<file path=ppt/tags/tag231.xml><?xml version="1.0" encoding="utf-8"?>
<p:tagLst xmlns:p="http://schemas.openxmlformats.org/presentationml/2006/main">
  <p:tag name="KSO_WM_DIAGRAM_VIRTUALLY_FRAME" val="{&quot;height&quot;:289,&quot;left&quot;:52,&quot;top&quot;:180,&quot;width&quot;:855}"/>
</p:tagLst>
</file>

<file path=ppt/tags/tag232.xml><?xml version="1.0" encoding="utf-8"?>
<p:tagLst xmlns:p="http://schemas.openxmlformats.org/presentationml/2006/main">
  <p:tag name="KSO_WM_DIAGRAM_VIRTUALLY_FRAME" val="{&quot;height&quot;:289,&quot;left&quot;:52,&quot;top&quot;:180,&quot;width&quot;:85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5426</Words>
  <Application>WPS 演示</Application>
  <PresentationFormat/>
  <Paragraphs>566</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27</vt:i4>
      </vt:variant>
    </vt:vector>
  </HeadingPairs>
  <TitlesOfParts>
    <vt:vector size="39" baseType="lpstr">
      <vt:lpstr>Arial</vt:lpstr>
      <vt:lpstr>宋体</vt:lpstr>
      <vt:lpstr>Wingdings</vt:lpstr>
      <vt:lpstr>Arial</vt:lpstr>
      <vt:lpstr>微软雅黑</vt:lpstr>
      <vt:lpstr>Noto Sans SC</vt:lpstr>
      <vt:lpstr>Arial Unicode MS</vt:lpstr>
      <vt:lpstr>Office 主题​​</vt:lpstr>
      <vt:lpstr>默认主题</vt:lpstr>
      <vt:lpstr>1_默认主题</vt:lpstr>
      <vt:lpstr>2_默认主题</vt:lpstr>
      <vt:lpstr>3_默认主题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北冰洋的小栗子</cp:lastModifiedBy>
  <cp:revision>3</cp:revision>
  <dcterms:created xsi:type="dcterms:W3CDTF">2026-05-17T11:41:00Z</dcterms:created>
  <dcterms:modified xsi:type="dcterms:W3CDTF">2026-05-18T03:45:48Z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E7ADEAB9A0D64C1D82789BD841F4E447_12</vt:lpwstr>
  </property>
</Properties>
</file>